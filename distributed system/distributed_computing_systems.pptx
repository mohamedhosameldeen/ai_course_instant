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371600" cy="6400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914400"/>
            <a:ext cx="822960" cy="12801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1554480"/>
            <a:ext cx="731520" cy="10972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869680" y="2194560"/>
            <a:ext cx="1463040" cy="4572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0" y="1554480"/>
            <a:ext cx="365760" cy="21031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2651760"/>
            <a:ext cx="731520" cy="15544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2194560"/>
            <a:ext cx="365760" cy="29260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3657600"/>
            <a:ext cx="1828800" cy="5486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4206240"/>
            <a:ext cx="1097280" cy="91440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4206240"/>
            <a:ext cx="100584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0" y="3657600"/>
            <a:ext cx="182880" cy="23774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5394960"/>
            <a:ext cx="1005840" cy="6400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5120640"/>
            <a:ext cx="2103120" cy="2743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46336" y="768096"/>
            <a:ext cx="292608" cy="29260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0" y="146304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0" y="256032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8723376" y="20482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38560" y="3566160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0" y="411480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357616" y="49743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0" y="530352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21440" y="5943600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MANSOURA NATIONAL UNIVERSITY  |  FACULTY OF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192024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and Architectures of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Computing Systems</a:t>
            </a:r>
            <a:endParaRPr lang="en-US" sz="4000" dirty="0"/>
          </a:p>
        </p:txBody>
      </p:sp>
      <p:sp>
        <p:nvSpPr>
          <p:cNvPr id="26" name="Shape 24"/>
          <p:cNvSpPr/>
          <p:nvPr/>
        </p:nvSpPr>
        <p:spPr>
          <a:xfrm>
            <a:off x="658368" y="3977640"/>
            <a:ext cx="2011680" cy="457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overview of the concepts, core principles, and architectural styles that power today's distributed systems.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Mohamed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Engineering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43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91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distributed systems and why they exist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2910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70" y="25456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3291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Principles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Concurrency, scalability, fault tolerance &amp; consistency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6374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10" y="254569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291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Styles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6520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Client-server, P2P, microservices &amp; event-driven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9838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350" y="254569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3291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3544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Trade-offs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81160" y="42976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theorem, latency, and real-world constraints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Distributed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independent computers that appears to its users as a single coherent system — working together, communicating only by passing messages.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47872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01568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memory — nodes communicate only via the network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68496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clock — each node has its own notion of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81728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35424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failures — one node can fail while others continue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2560320"/>
            <a:ext cx="1478398" cy="1074119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2560320"/>
            <a:ext cx="913700" cy="2812081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740" y="2560320"/>
            <a:ext cx="913700" cy="2812081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7042" y="2560320"/>
            <a:ext cx="1478398" cy="1074119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140" y="3634439"/>
            <a:ext cx="564698" cy="1737961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740" y="3634439"/>
            <a:ext cx="2392099" cy="1737961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7042" y="3634439"/>
            <a:ext cx="2956797" cy="9144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740" y="5372401"/>
            <a:ext cx="1827401" cy="9144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757042" y="3634439"/>
            <a:ext cx="2392099" cy="1737961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757042" y="3634439"/>
            <a:ext cx="564698" cy="1737961"/>
          </a:xfrm>
          <a:prstGeom prst="line">
            <a:avLst/>
          </a:prstGeom>
          <a:noFill/>
          <a:ln w="19050">
            <a:solidFill>
              <a:srgbClr val="D8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2267712"/>
            <a:ext cx="585216" cy="585216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3" name="Image 0" descr="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4988" y="2419868"/>
            <a:ext cx="280904" cy="28090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421230" y="3341831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1" descr="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386" y="3493987"/>
            <a:ext cx="280904" cy="28090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9856532" y="5079793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2" descr="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689" y="5231949"/>
            <a:ext cx="280904" cy="28090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8029132" y="5079793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288" y="5231949"/>
            <a:ext cx="280904" cy="28090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464434" y="3341831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590" y="3493987"/>
            <a:ext cx="280904" cy="2809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5989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appear as one system to the outside user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Distributed Systems?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37744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" name="Image 0" descr="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402" y="25795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work across many machines to finish faster than any single machine could.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01168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237744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1" name="Image 1" descr="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42" y="25795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Sharing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11880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storage, computing power, and data across an organization or the globe.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201168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0" y="237744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6" name="Image 2" descr="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82" y="25795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46520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 — the system tolerates individual node crashes.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201168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9921240" y="237744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1" name="Image 3" descr="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322" y="257952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81160" y="40690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capacity by adding more nodes instead of replacing hardware.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&amp; Scalability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processes execute and access shared resources at the same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coordination to avoid race conditions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436168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locks, semaphores &amp; transactions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49286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809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high throughput under heavy load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3271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49224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keeps performing well as load, users, or data grow.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7"/>
          <p:cNvSpPr/>
          <p:nvPr/>
        </p:nvSpPr>
        <p:spPr>
          <a:xfrm>
            <a:off x="6739128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scaling: add power to one node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92240" y="436168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19"/>
          <p:cNvSpPr/>
          <p:nvPr/>
        </p:nvSpPr>
        <p:spPr>
          <a:xfrm>
            <a:off x="6739128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scaling: add more nodes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92240" y="49286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1"/>
          <p:cNvSpPr/>
          <p:nvPr/>
        </p:nvSpPr>
        <p:spPr>
          <a:xfrm>
            <a:off x="6739128" y="4809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distributes demand evenly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 &amp; Consistency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keeps operating correctly even when components fail.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&amp; replication of data/services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436168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 and automatic recovery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49286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809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instead of full outage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3271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49224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see the same data at the same time — to varying degrees.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7"/>
          <p:cNvSpPr/>
          <p:nvPr/>
        </p:nvSpPr>
        <p:spPr>
          <a:xfrm>
            <a:off x="6739128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consistency: every read gets latest write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92240" y="436168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19"/>
          <p:cNvSpPr/>
          <p:nvPr/>
        </p:nvSpPr>
        <p:spPr>
          <a:xfrm>
            <a:off x="6739128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consistency: nodes converge over time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92240" y="49286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1"/>
          <p:cNvSpPr/>
          <p:nvPr/>
        </p:nvSpPr>
        <p:spPr>
          <a:xfrm>
            <a:off x="6739128" y="4809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central to the CAP theorem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&amp; Heterogeneity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distributed nature is hidden — the system looks unified to the user.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location &amp; replication transparency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436168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transparency masks node crashes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49286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809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transparency hides resource moves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3271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Heterogeneity &amp; Openness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49224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hardware, OSs, and networks interoperate through open standards.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37947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7"/>
          <p:cNvSpPr/>
          <p:nvPr/>
        </p:nvSpPr>
        <p:spPr>
          <a:xfrm>
            <a:off x="6739128" y="36758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protocols (HTTP, TCP/IP, gRPC)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92240" y="436168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19"/>
          <p:cNvSpPr/>
          <p:nvPr/>
        </p:nvSpPr>
        <p:spPr>
          <a:xfrm>
            <a:off x="6739128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APIs across vendors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92240" y="49286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1"/>
          <p:cNvSpPr/>
          <p:nvPr/>
        </p:nvSpPr>
        <p:spPr>
          <a:xfrm>
            <a:off x="6739128" y="4809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of components across platforms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Styles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3A5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289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7953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219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request, a central server responds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3A5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6289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7953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2219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9496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is both client and server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3A5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6289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7953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2219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0" y="2743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split into ordered tiers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3A56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8691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0356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462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645920" y="4983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services, each with one job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206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3A56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8691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50356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462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394960" y="4983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react asynchronously to events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206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3A5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8691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50356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462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Service-Oriented (SOA)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144000" y="4983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services exposed over a network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vs. Peer-to-Peer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6" name="Image 0" descr="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24612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3108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 holds data &amp; logic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7307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send requests, server replies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48970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3525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manage, but a bottleneck risk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11149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49743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web apps, email, databases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8745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8" name="Image 1" descr="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37286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(P2P)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492240" y="324612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7"/>
          <p:cNvSpPr/>
          <p:nvPr/>
        </p:nvSpPr>
        <p:spPr>
          <a:xfrm>
            <a:off x="6739128" y="3108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authority — peers are equal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92240" y="3867912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19"/>
          <p:cNvSpPr/>
          <p:nvPr/>
        </p:nvSpPr>
        <p:spPr>
          <a:xfrm>
            <a:off x="6739128" y="37307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peer can act as client and server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92240" y="448970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1"/>
          <p:cNvSpPr/>
          <p:nvPr/>
        </p:nvSpPr>
        <p:spPr>
          <a:xfrm>
            <a:off x="6739128" y="43525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resilient, harder to coordinate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92240" y="511149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7" name="Text 23"/>
          <p:cNvSpPr/>
          <p:nvPr/>
        </p:nvSpPr>
        <p:spPr>
          <a:xfrm>
            <a:off x="6739128" y="49743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BitTorrent, blockchain networks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vs. Layered Systems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6" name="Image 0" descr="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24612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3108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split into small, independent services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7307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data &amp; deploys separately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48970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3525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via lightweight APIs (REST, gRPC)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511149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49743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independent scaling of hot paths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8745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8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37286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/ Event-Driven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492240" y="324612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7"/>
          <p:cNvSpPr/>
          <p:nvPr/>
        </p:nvSpPr>
        <p:spPr>
          <a:xfrm>
            <a:off x="6739128" y="3108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presentation, logic, and data tiers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92240" y="3867912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19"/>
          <p:cNvSpPr/>
          <p:nvPr/>
        </p:nvSpPr>
        <p:spPr>
          <a:xfrm>
            <a:off x="6739128" y="37307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talks to the one below it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92240" y="448970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1"/>
          <p:cNvSpPr/>
          <p:nvPr/>
        </p:nvSpPr>
        <p:spPr>
          <a:xfrm>
            <a:off x="6739128" y="43525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Event-driven: producers publish, consumers react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92240" y="511149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7" name="Text 23"/>
          <p:cNvSpPr/>
          <p:nvPr/>
        </p:nvSpPr>
        <p:spPr>
          <a:xfrm>
            <a:off x="6739128" y="49743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decoupled, real-time workflows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Trade-offs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B2A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 Theorem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system can only guarantee two of the three at once: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320040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3182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0020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gets the latest write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005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00200" y="4297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 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84632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828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Tolerance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despite network splits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87452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13055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0" descr="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061" y="2296973"/>
            <a:ext cx="307238" cy="30723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086600" y="2011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Latency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086600" y="24048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delay affects responsiveness and coordination.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35040" y="320040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34564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1" descr="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3622853"/>
            <a:ext cx="307238" cy="30723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33375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7086600" y="37307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attack surface across many distributed nodes.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035040" y="452628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263640" y="478231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2" descr="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4948733"/>
            <a:ext cx="307238" cy="30723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86600" y="46634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Complexity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7086600" y="505663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can be intermittent and hard to reproduce.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04825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trade simplicity for scale, reliability, and reach.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82549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like consistency, fault tolerance, and transparency guide every design decision.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6027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architecture — client-server, P2P, microservices, or event-driven — depends on the problem, not fashion.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799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lives inside real trade-offs, most famously the CAP theorem.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5623560"/>
            <a:ext cx="2011680" cy="36576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|  Industrial Engineering  |  Mansoura National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2026-07-28T10:43:33Z</dcterms:created>
  <dcterms:modified xsi:type="dcterms:W3CDTF">2026-07-28T10:43:33Z</dcterms:modified>
</cp:coreProperties>
</file>