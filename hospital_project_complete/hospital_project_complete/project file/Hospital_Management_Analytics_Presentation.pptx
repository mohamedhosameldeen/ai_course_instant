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33e34c9-cee4-6000-b525-b5fd59779955}">
          <p14:sldIdLst>
            <p14:sldId id="256"/>
            <p14:sldId id="257"/>
            <p14:sldId id="258"/>
            <p14:sldId id="259"/>
          </p14:sldIdLst>
        </p14:section>
        <p14:section name="Method" id="{0eaa59f8-9ba3-c0c1-f3b2-157913ae6a71}">
          <p14:sldIdLst>
            <p14:sldId id="260"/>
            <p14:sldId id="261"/>
            <p14:sldId id="262"/>
            <p14:sldId id="263"/>
          </p14:sldIdLst>
        </p14:section>
        <p14:section name="System" id="{4c947075-2414-dda3-ee4e-8d44fce35765}">
          <p14:sldIdLst>
            <p14:sldId id="264"/>
            <p14:sldId id="265"/>
            <p14:sldId id="266"/>
            <p14:sldId id="267"/>
          </p14:sldIdLst>
        </p14:section>
        <p14:section name="Wrap-up" id="{1d897bb4-4403-8d19-659d-e79a2e718438}">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4F6C"/>
                </a:solidFill>
                <a:latin typeface="+mn-lt"/>
              </a:defRPr>
            </a:pPr>
            <a:r>
              <a:rPr sz="1200" b="0" i="0" u="none" strike="noStrike">
                <a:solidFill>
                  <a:srgbClr val="0B4F6C"/>
                </a:solidFill>
                <a:latin typeface="+mn-lt"/>
              </a:rPr>
              <a:t>Appointments by status</a:t>
            </a:r>
          </a:p>
        </c:rich>
      </c:tx>
      <c:layout/>
      <c:overlay val="0"/>
    </c:title>
    <c:autoTitleDeleted val="0"/>
    <c:plotArea>
      <c:layout/>
      <c:barChart>
        <c:barDir val="col"/>
        <c:grouping val="clustered"/>
        <c:varyColors val="0"/>
        <c:ser>
          <c:idx val="0"/>
          <c:order val="0"/>
          <c:tx>
            <c:strRef>
              <c:f>Sheet1!$B$1</c:f>
              <c:strCache>
                <c:ptCount val="1"/>
                <c:pt idx="0">
                  <c:v>Appointments</c:v>
                </c:pt>
              </c:strCache>
            </c:strRef>
          </c:tx>
          <c:spPr>
            <a:solidFill>
              <a:srgbClr val="0E8C99"/>
            </a:solidFill>
            <a:effectLst/>
          </c:spPr>
          <c:invertIfNegative val="0"/>
          <c:dLbls>
            <c:numFmt formatCode="#,##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cat>
            <c:multiLvlStrRef>
              <c:f>Sheet1!$A$2:$A$5</c:f>
              <c:multiLvlStrCache>
                <c:ptCount val="4"/>
                <c:lvl>
                  <c:pt idx="0">
                    <c:v>Completed</c:v>
                  </c:pt>
                  <c:pt idx="1">
                    <c:v>Scheduled</c:v>
                  </c:pt>
                  <c:pt idx="2">
                    <c:v>No Show</c:v>
                  </c:pt>
                  <c:pt idx="3">
                    <c:v>Cancelled</c:v>
                  </c:pt>
                </c:lvl>
              </c:multiLvlStrCache>
            </c:multiLvlStrRef>
          </c:cat>
          <c:val>
            <c:numRef>
              <c:f>Sheet1!$B$2:$B$5</c:f>
              <c:numCache>
                <c:formatCode>General</c:formatCode>
                <c:ptCount val="4"/>
                <c:pt idx="0">
                  <c:v>1312</c:v>
                </c:pt>
                <c:pt idx="1">
                  <c:v>575</c:v>
                </c:pt>
                <c:pt idx="2">
                  <c:v>262</c:v>
                </c:pt>
                <c:pt idx="3">
                  <c:v>227</c:v>
                </c:pt>
              </c:numCache>
            </c:numRef>
          </c:val>
        </c:ser>
        <c:dLbls>
          <c:numFmt formatCode="#,##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C8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4F6C"/>
                </a:solidFill>
                <a:latin typeface="+mn-lt"/>
              </a:defRPr>
            </a:pPr>
            <a:r>
              <a:rPr sz="1200" b="0" i="0" u="none" strike="noStrike">
                <a:solidFill>
                  <a:srgbClr val="0B4F6C"/>
                </a:solidFill>
                <a:latin typeface="+mn-lt"/>
              </a:rPr>
              <a:t>Employees by job title</a:t>
            </a:r>
          </a:p>
        </c:rich>
      </c:tx>
      <c:layout/>
      <c:overlay val="0"/>
    </c:title>
    <c:autoTitleDeleted val="0"/>
    <c:plotArea>
      <c:layout/>
      <c:barChart>
        <c:barDir val="bar"/>
        <c:grouping val="clustered"/>
        <c:varyColors val="0"/>
        <c:ser>
          <c:idx val="0"/>
          <c:order val="0"/>
          <c:tx>
            <c:strRef>
              <c:f>Sheet1!$B$1</c:f>
              <c:strCache>
                <c:ptCount val="1"/>
                <c:pt idx="0">
                  <c:v>Employees</c:v>
                </c:pt>
              </c:strCache>
            </c:strRef>
          </c:tx>
          <c:spPr>
            <a:solidFill>
              <a:srgbClr val="0B4F6C"/>
            </a:solidFill>
            <a:effectLst/>
          </c:spPr>
          <c:invertIfNegative val="0"/>
          <c:dLbls>
            <c:numFmt formatCode="#,##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cat>
            <c:multiLvlStrRef>
              <c:f>Sheet1!$A$2:$A$8</c:f>
              <c:multiLvlStrCache>
                <c:ptCount val="7"/>
                <c:lvl>
                  <c:pt idx="0">
                    <c:v>Nurse</c:v>
                  </c:pt>
                  <c:pt idx="1">
                    <c:v>Doctor</c:v>
                  </c:pt>
                  <c:pt idx="2">
                    <c:v>Manager</c:v>
                  </c:pt>
                  <c:pt idx="3">
                    <c:v>Receptionist</c:v>
                  </c:pt>
                  <c:pt idx="4">
                    <c:v>Technician</c:v>
                  </c:pt>
                  <c:pt idx="5">
                    <c:v>Pharmacist</c:v>
                  </c:pt>
                  <c:pt idx="6">
                    <c:v>Accountant</c:v>
                  </c:pt>
                </c:lvl>
              </c:multiLvlStrCache>
            </c:multiLvlStrRef>
          </c:cat>
          <c:val>
            <c:numRef>
              <c:f>Sheet1!$B$2:$B$8</c:f>
              <c:numCache>
                <c:formatCode>General</c:formatCode>
                <c:ptCount val="7"/>
                <c:pt idx="0">
                  <c:v>177</c:v>
                </c:pt>
                <c:pt idx="1">
                  <c:v>90</c:v>
                </c:pt>
                <c:pt idx="2">
                  <c:v>59</c:v>
                </c:pt>
                <c:pt idx="3">
                  <c:v>57</c:v>
                </c:pt>
                <c:pt idx="4">
                  <c:v>52</c:v>
                </c:pt>
                <c:pt idx="5">
                  <c:v>41</c:v>
                </c:pt>
                <c:pt idx="6">
                  <c:v>39</c:v>
                </c:pt>
              </c:numCache>
            </c:numRef>
          </c:val>
        </c:ser>
        <c:dLbls>
          <c:numFmt formatCode="#,##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C8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4F6C"/>
                </a:solidFill>
                <a:latin typeface="+mn-lt"/>
              </a:defRPr>
            </a:pPr>
            <a:r>
              <a:rPr sz="1200" b="0" i="0" u="none" strike="noStrike">
                <a:solidFill>
                  <a:srgbClr val="0B4F6C"/>
                </a:solidFill>
                <a:latin typeface="+mn-lt"/>
              </a:rPr>
              <a:t>Attendance status</a:t>
            </a:r>
          </a:p>
        </c:rich>
      </c:tx>
      <c:layout/>
      <c:overlay val="0"/>
    </c:title>
    <c:autoTitleDeleted val="0"/>
    <c:plotArea>
      <c:layout/>
      <c:barChart>
        <c:barDir val="col"/>
        <c:grouping val="clustered"/>
        <c:varyColors val="0"/>
        <c:ser>
          <c:idx val="0"/>
          <c:order val="0"/>
          <c:tx>
            <c:strRef>
              <c:f>Sheet1!$B$1</c:f>
              <c:strCache>
                <c:ptCount val="1"/>
                <c:pt idx="0">
                  <c:v>Attendance</c:v>
                </c:pt>
              </c:strCache>
            </c:strRef>
          </c:tx>
          <c:spPr>
            <a:solidFill>
              <a:srgbClr val="2F7FB8"/>
            </a:solidFill>
            <a:effectLst/>
          </c:spPr>
          <c:invertIfNegative val="0"/>
          <c:dLbls>
            <c:numFmt formatCode="#,##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cat>
            <c:multiLvlStrRef>
              <c:f>Sheet1!$A$2:$A$5</c:f>
              <c:multiLvlStrCache>
                <c:ptCount val="4"/>
                <c:lvl>
                  <c:pt idx="0">
                    <c:v>Present</c:v>
                  </c:pt>
                  <c:pt idx="1">
                    <c:v>Late</c:v>
                  </c:pt>
                  <c:pt idx="2">
                    <c:v>Absent</c:v>
                  </c:pt>
                  <c:pt idx="3">
                    <c:v>Leave</c:v>
                  </c:pt>
                </c:lvl>
              </c:multiLvlStrCache>
            </c:multiLvlStrRef>
          </c:cat>
          <c:val>
            <c:numRef>
              <c:f>Sheet1!$B$2:$B$5</c:f>
              <c:numCache>
                <c:formatCode>General</c:formatCode>
                <c:ptCount val="4"/>
                <c:pt idx="0">
                  <c:v>2625</c:v>
                </c:pt>
                <c:pt idx="1">
                  <c:v>385</c:v>
                </c:pt>
                <c:pt idx="2">
                  <c:v>277</c:v>
                </c:pt>
                <c:pt idx="3">
                  <c:v>179</c:v>
                </c:pt>
              </c:numCache>
            </c:numRef>
          </c:val>
        </c:ser>
        <c:dLbls>
          <c:numFmt formatCode="#,##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C8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4F6C"/>
                </a:solidFill>
                <a:latin typeface="+mn-lt"/>
              </a:defRPr>
            </a:pPr>
            <a:r>
              <a:rPr sz="1200" b="0" i="0" u="none" strike="noStrike">
                <a:solidFill>
                  <a:srgbClr val="0B4F6C"/>
                </a:solidFill>
                <a:latin typeface="+mn-lt"/>
              </a:rPr>
              <a:t>Admissions by status</a:t>
            </a:r>
          </a:p>
        </c:rich>
      </c:tx>
      <c:layout/>
      <c:overlay val="0"/>
    </c:title>
    <c:autoTitleDeleted val="0"/>
    <c:plotArea>
      <c:layout/>
      <c:barChart>
        <c:barDir val="col"/>
        <c:grouping val="clustered"/>
        <c:varyColors val="0"/>
        <c:ser>
          <c:idx val="0"/>
          <c:order val="0"/>
          <c:tx>
            <c:strRef>
              <c:f>Sheet1!$B$1</c:f>
              <c:strCache>
                <c:ptCount val="1"/>
                <c:pt idx="0">
                  <c:v>Admissions</c:v>
                </c:pt>
              </c:strCache>
            </c:strRef>
          </c:tx>
          <c:spPr>
            <a:solidFill>
              <a:srgbClr val="5FBFC8"/>
            </a:solidFill>
            <a:effectLst/>
          </c:spPr>
          <c:invertIfNegative val="0"/>
          <c:dLbls>
            <c:numFmt formatCode="#,##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cat>
            <c:multiLvlStrRef>
              <c:f>Sheet1!$A$2:$A$4</c:f>
              <c:multiLvlStrCache>
                <c:ptCount val="3"/>
                <c:lvl>
                  <c:pt idx="0">
                    <c:v>Discharged</c:v>
                  </c:pt>
                  <c:pt idx="1">
                    <c:v>Admitted</c:v>
                  </c:pt>
                  <c:pt idx="2">
                    <c:v>Transferred</c:v>
                  </c:pt>
                </c:lvl>
              </c:multiLvlStrCache>
            </c:multiLvlStrRef>
          </c:cat>
          <c:val>
            <c:numRef>
              <c:f>Sheet1!$B$2:$B$4</c:f>
              <c:numCache>
                <c:formatCode>General</c:formatCode>
                <c:ptCount val="3"/>
                <c:pt idx="0">
                  <c:v>446</c:v>
                </c:pt>
                <c:pt idx="1">
                  <c:v>131</c:v>
                </c:pt>
                <c:pt idx="2">
                  <c:v>67</c:v>
                </c:pt>
              </c:numCache>
            </c:numRef>
          </c:val>
        </c:ser>
        <c:dLbls>
          <c:numFmt formatCode="#,##0" sourceLinked="0"/>
          <c:txPr>
            <a:bodyPr/>
            <a:lstStyle/>
            <a:p>
              <a:pPr>
                <a:defRPr b="0" i="0" strike="noStrike" sz="1000" u="none">
                  <a:solidFill>
                    <a:srgbClr val="1226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C8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Mohamed, and today I will present my Hospital Management &amp; Analytics System. In short, I took 12 deliberately messy hospital CSV files and turned them into clean data, a SQL Server database and an interactive dashboard. I will walk you through the problem, the pipeline step by step, and what the system can show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five parts. First, hospital data management: 12 related tables. Second, data cleaning with Pandas. Third, exploratory analysis in a Jupyter notebook. Fourth, a SQL Server database with views and stored procedures. And fifth, a Streamlit dashboard. One important note: the data is synthetic, created for this project, so no real patient information is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hospital data is rarely ready to use. In our raw files there were 967 missing values and 148 duplicate rows across 15,241 rows. Text had extra spaces and mixed capitalization, dates were stored with spaces, and everything was split across 12 separate files. Analysing this by hand is slow and error-prone, and hospital decisions about staff, beds and billing need numbers we can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objectives, and they follow the pipeline in order: collect and organize the data, detect quality problems, clean and standardize, explore, store in a relational database, define KPIs, build the dashboard, and finally support data-driven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pipeline. Raw CSV files go through data-quality checks and Pandas cleaning, and become cleaned CSV files. Those cleaned files feed three things: the EDA notebook, the SQL Server database, and the Streamlit application, which reads the cleaned CSVs directly. Together they give us hospital analytics and KPIs.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12 tables, shown here with their cleaned row counts. People and structure: patients 1,200, employees 520, departments 12, rooms 220. Clinical activity: appointments 2,400, admissions 650, medical records 1,800 and prescriptions 1,800. Operations and money: medicines 240, attendance 3,501, invoices 1,100 and payments 1,650. Doctors and nurses are not separate tables; they are employees identified by job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is done with simple Pandas steps. For example, ' neurology ' with extra spaces becomes 'Neurology', ' doctor ' becomes 'Doctor', and a date stored with spaces becomes a real date. The steps are: check missing values, check and remove duplicates, strip and standardize text, convert dates, convert numbers, and save the cleaned files. The result: 15,241 rows became 15,093, and all 148 duplicate rows were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exploration I used simple Pandas tools - value_counts, describe and groupby - with Matplotlib charts. Here are four examples from the notebook. Completed is the largest appointment status. Nurses are the biggest employee group. Most attendance records are Present. And most admissions are Discharged. The notebook also covers diagnoses, medicine categories, invoice amounts, payment methods and room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is built in SQL Server using numbered scripts. There are 12 tables with primary keys and 15 foreign keys, four CHECK constraints that prevent negative amounts, four views, three stored procedures and eight analysis queries. The cleaned CSV files were loaded with the SQL Server Import Flat File wizard. On the right you can see the key relationships: for example, patients link to appointments, admissions, medical records, prescriptions and invoices.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Streamlit application has a sidebar with 13 pages, from Dashboard to Analytics. It loads the cleaned CSV files with Pandas, caches them for speed, and shows interactive tables and charts. The tables can be sorted and searched, and the Pharmacy page adds a low-stock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dashboard, the KPI cards show 1,200 patients, 520 employees, 90 doctors, 2,400 appointments, and total invoiced revenue of about 11.3 million. The Billing page adds billed, paid and remaining amounts. The Pharmacy page flags medicines at or below their minimum stock: 23 of 240.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the system can answer, with the answers from our data. For example: 1,200 patients are registered; 2,400 appointments, with Completed the largest group; 90 doctors and 177 nurses among 520 employees; 650 admissions, mostly discharged; and 12 departments. Payments are fairly evenly split between cash, card, bank transfer and insurance.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technologies actually used: Python with Pandas and NumPy for cleaning, Jupyter Notebook for cleaning and EDA, Matplotlib and Seaborn for charts, SQL Server for the database, and Streamlit for the application. CSV files carry the data between stages. There is also a one-page Power BI report. SQLAlchemy and pyodbc are listed in requirements.txt for future SQL Server connectivity, but the current app reads the cleaned CSVs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benefits are factual and measurable. 148 duplicate rows were removed. Hospital information is organized into 12 related tables with 15 foreign keys. Analysis is easier thanks to the notebook, eight SQL queries, four views and three stored procedures. And monitoring is interactive through a 13-page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started with dirty data, cleaned it with Pandas, explored it, organized it in SQL, presented it in a dashboard, and ended with analytics that support hospital decisions. Thank you for listening -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457200" y="4846320"/>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Hospital Management &amp; Analytics System</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6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3.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2.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2.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457200" y="822960"/>
            <a:ext cx="4937760" cy="1737360"/>
          </a:xfrm>
          <a:prstGeom prst="rect">
            <a:avLst/>
          </a:prstGeom>
          <a:noFill/>
          <a:ln/>
        </p:spPr>
        <p:txBody>
          <a:bodyPr wrap="square" lIns="0" tIns="0" rIns="0" bIns="0" rtlCol="0" anchor="t"/>
          <a:lstStyle/>
          <a:p>
            <a:pPr indent="0" marL="0">
              <a:buNone/>
            </a:pPr>
            <a:r>
              <a:rPr lang="en-US" sz="3800" b="1" dirty="0">
                <a:solidFill>
                  <a:schemeClr val="bg1"/>
                </a:solidFill>
                <a:latin typeface="Cambria" pitchFamily="34" charset="0"/>
                <a:ea typeface="Cambria" pitchFamily="34" charset="-122"/>
                <a:cs typeface="Cambria" pitchFamily="34" charset="-120"/>
              </a:rPr>
              <a:t>Hospital Management &amp; Analytics System</a:t>
            </a:r>
            <a:endParaRPr lang="en-US" sz="3800" dirty="0"/>
          </a:p>
        </p:txBody>
      </p:sp>
      <p:sp>
        <p:nvSpPr>
          <p:cNvPr id="4" name="Text 1"/>
          <p:cNvSpPr txBox="1"/>
          <p:nvPr/>
        </p:nvSpPr>
        <p:spPr>
          <a:xfrm>
            <a:off x="457200" y="2697480"/>
            <a:ext cx="4754880" cy="731520"/>
          </a:xfrm>
          <a:prstGeom prst="rect">
            <a:avLst/>
          </a:prstGeom>
          <a:noFill/>
          <a:ln/>
        </p:spPr>
        <p:txBody>
          <a:bodyPr wrap="square" lIns="0" tIns="0" rIns="0" bIns="0" rtlCol="0" anchor="t"/>
          <a:lstStyle/>
          <a:p>
            <a:pPr indent="0" marL="0">
              <a:buNone/>
            </a:pPr>
            <a:r>
              <a:rPr lang="en-US" sz="1600" dirty="0">
                <a:solidFill>
                  <a:schemeClr val="accent3"/>
                </a:solidFill>
              </a:rPr>
              <a:t>From dirty hospital CSV files to an interactive analytics dashboard</a:t>
            </a:r>
            <a:endParaRPr lang="en-US" sz="1600" dirty="0"/>
          </a:p>
        </p:txBody>
      </p:sp>
      <p:sp>
        <p:nvSpPr>
          <p:cNvPr id="5" name="Text 2"/>
          <p:cNvSpPr txBox="1"/>
          <p:nvPr/>
        </p:nvSpPr>
        <p:spPr>
          <a:xfrm>
            <a:off x="457200" y="3657600"/>
            <a:ext cx="4937760" cy="91440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Presented by Mohamed</a:t>
            </a:r>
            <a:endParaRPr lang="en-US" sz="1400" dirty="0"/>
          </a:p>
          <a:p>
            <a:pPr indent="0" marL="0">
              <a:spcAft>
                <a:spcPts val="300"/>
              </a:spcAft>
              <a:buNone/>
            </a:pPr>
            <a:r>
              <a:rPr lang="en-US" sz="1400" dirty="0">
                <a:solidFill>
                  <a:schemeClr val="bg1"/>
                </a:solidFill>
              </a:rPr>
              <a:t>Faculty of Engineering, Mansoura National University</a:t>
            </a:r>
            <a:endParaRPr lang="en-US" sz="1400" dirty="0"/>
          </a:p>
          <a:p>
            <a:pPr indent="0" marL="0">
              <a:spcAft>
                <a:spcPts val="300"/>
              </a:spcAft>
              <a:buNone/>
            </a:pPr>
            <a:r>
              <a:rPr lang="en-US" sz="1400" dirty="0">
                <a:solidFill>
                  <a:schemeClr val="bg1"/>
                </a:solidFill>
              </a:rPr>
              <a:t>October 2026</a:t>
            </a:r>
            <a:endParaRPr lang="en-US" sz="1400" dirty="0"/>
          </a:p>
        </p:txBody>
      </p:sp>
      <p:sp>
        <p:nvSpPr>
          <p:cNvPr id="6" name="Hero circle"/>
          <p:cNvSpPr/>
          <p:nvPr/>
        </p:nvSpPr>
        <p:spPr>
          <a:xfrm>
            <a:off x="5897880" y="1051560"/>
            <a:ext cx="2468880" cy="2468880"/>
          </a:xfrm>
          <a:prstGeom prst="ellipse">
            <a:avLst/>
          </a:prstGeom>
          <a:solidFill>
            <a:srgbClr val="0E8C99"/>
          </a:solidFill>
          <a:ln/>
        </p:spPr>
      </p:sp>
      <p:pic>
        <p:nvPicPr>
          <p:cNvPr id="7" name="Hero icon" descr="Hospital">    </p:cNvPr>
          <p:cNvPicPr>
            <a:picLocks noChangeAspect="1"/>
          </p:cNvPicPr>
          <p:nvPr/>
        </p:nvPicPr>
        <p:blipFill>
          <a:blip r:embed="rId1"/>
          <a:stretch>
            <a:fillRect/>
          </a:stretch>
        </p:blipFill>
        <p:spPr>
          <a:xfrm>
            <a:off x="6583680" y="1737360"/>
            <a:ext cx="1097280" cy="1097280"/>
          </a:xfrm>
          <a:prstGeom prst="rect">
            <a:avLst/>
          </a:prstGeom>
        </p:spPr>
      </p:pic>
      <p:sp>
        <p:nvSpPr>
          <p:cNvPr id="8" name="Database circle"/>
          <p:cNvSpPr/>
          <p:nvPr/>
        </p:nvSpPr>
        <p:spPr>
          <a:xfrm>
            <a:off x="5486400" y="3291840"/>
            <a:ext cx="731520" cy="731520"/>
          </a:xfrm>
          <a:prstGeom prst="ellipse">
            <a:avLst/>
          </a:prstGeom>
          <a:solidFill>
            <a:srgbClr val="5FBFC8"/>
          </a:solidFill>
          <a:ln/>
        </p:spPr>
      </p:sp>
      <p:pic>
        <p:nvPicPr>
          <p:cNvPr id="9" name="Database icon" descr="Database">    </p:cNvPr>
          <p:cNvPicPr>
            <a:picLocks noChangeAspect="1"/>
          </p:cNvPicPr>
          <p:nvPr/>
        </p:nvPicPr>
        <p:blipFill>
          <a:blip r:embed="rId2"/>
          <a:stretch>
            <a:fillRect/>
          </a:stretch>
        </p:blipFill>
        <p:spPr>
          <a:xfrm>
            <a:off x="5669280" y="3474720"/>
            <a:ext cx="365760" cy="365760"/>
          </a:xfrm>
          <a:prstGeom prst="rect">
            <a:avLst/>
          </a:prstGeom>
        </p:spPr>
      </p:pic>
      <p:sp>
        <p:nvSpPr>
          <p:cNvPr id="10" name="Chart circle"/>
          <p:cNvSpPr/>
          <p:nvPr/>
        </p:nvSpPr>
        <p:spPr>
          <a:xfrm>
            <a:off x="6766560" y="3749040"/>
            <a:ext cx="731520" cy="731520"/>
          </a:xfrm>
          <a:prstGeom prst="ellipse">
            <a:avLst/>
          </a:prstGeom>
          <a:solidFill>
            <a:srgbClr val="FFFFFF"/>
          </a:solidFill>
          <a:ln/>
        </p:spPr>
      </p:sp>
      <p:pic>
        <p:nvPicPr>
          <p:cNvPr id="11" name="Chart icon" descr="Chart">    </p:cNvPr>
          <p:cNvPicPr>
            <a:picLocks noChangeAspect="1"/>
          </p:cNvPicPr>
          <p:nvPr/>
        </p:nvPicPr>
        <p:blipFill>
          <a:blip r:embed="rId3"/>
          <a:stretch>
            <a:fillRect/>
          </a:stretch>
        </p:blipFill>
        <p:spPr>
          <a:xfrm>
            <a:off x="6949440" y="3931920"/>
            <a:ext cx="365760" cy="365760"/>
          </a:xfrm>
          <a:prstGeom prst="rect">
            <a:avLst/>
          </a:prstGeom>
        </p:spPr>
      </p:pic>
      <p:sp>
        <p:nvSpPr>
          <p:cNvPr id="12" name="Broom circle"/>
          <p:cNvSpPr/>
          <p:nvPr/>
        </p:nvSpPr>
        <p:spPr>
          <a:xfrm>
            <a:off x="7863840" y="3200400"/>
            <a:ext cx="731520" cy="731520"/>
          </a:xfrm>
          <a:prstGeom prst="ellipse">
            <a:avLst/>
          </a:prstGeom>
          <a:solidFill>
            <a:srgbClr val="2F7FB8"/>
          </a:solidFill>
          <a:ln/>
        </p:spPr>
      </p:sp>
      <p:pic>
        <p:nvPicPr>
          <p:cNvPr id="13" name="Broom icon" descr="Broom">    </p:cNvPr>
          <p:cNvPicPr>
            <a:picLocks noChangeAspect="1"/>
          </p:cNvPicPr>
          <p:nvPr/>
        </p:nvPicPr>
        <p:blipFill>
          <a:blip r:embed="rId4"/>
          <a:stretch>
            <a:fillRect/>
          </a:stretch>
        </p:blipFill>
        <p:spPr>
          <a:xfrm>
            <a:off x="8046720" y="3383280"/>
            <a:ext cx="365760" cy="365760"/>
          </a:xfrm>
          <a:prstGeom prst="rect">
            <a:avLst/>
          </a:prstGeom>
        </p:spPr>
      </p:pic>
      <p:sp>
        <p:nvSpPr>
          <p:cNvPr id="14" name="Desktop circle"/>
          <p:cNvSpPr/>
          <p:nvPr/>
        </p:nvSpPr>
        <p:spPr>
          <a:xfrm>
            <a:off x="8138160" y="731520"/>
            <a:ext cx="640080" cy="640080"/>
          </a:xfrm>
          <a:prstGeom prst="ellipse">
            <a:avLst/>
          </a:prstGeom>
          <a:solidFill>
            <a:srgbClr val="5FBFC8"/>
          </a:solidFill>
          <a:ln/>
        </p:spPr>
      </p:sp>
      <p:pic>
        <p:nvPicPr>
          <p:cNvPr id="15" name="Desktop icon" descr="Desktop">    </p:cNvPr>
          <p:cNvPicPr>
            <a:picLocks noChangeAspect="1"/>
          </p:cNvPicPr>
          <p:nvPr/>
        </p:nvPicPr>
        <p:blipFill>
          <a:blip r:embed="rId5"/>
          <a:stretch>
            <a:fillRect/>
          </a:stretch>
        </p:blipFill>
        <p:spPr>
          <a:xfrm>
            <a:off x="8298180" y="891540"/>
            <a:ext cx="320040" cy="320040"/>
          </a:xfrm>
          <a:prstGeom prst="rect">
            <a:avLst/>
          </a:prstGeom>
        </p:spPr>
      </p:pic>
      <p:sp>
        <p:nvSpPr>
          <p:cNvPr id="16"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Project Overview</a:t>
            </a:r>
            <a:endParaRPr lang="en-US" sz="3000" dirty="0"/>
          </a:p>
        </p:txBody>
      </p:sp>
      <p:sp>
        <p:nvSpPr>
          <p:cNvPr id="4" name="Text 1"/>
          <p:cNvSpPr txBox="1"/>
          <p:nvPr/>
        </p:nvSpPr>
        <p:spPr>
          <a:xfrm>
            <a:off x="457200" y="1097280"/>
            <a:ext cx="8229600" cy="822960"/>
          </a:xfrm>
          <a:prstGeom prst="rect">
            <a:avLst/>
          </a:prstGeom>
          <a:noFill/>
          <a:ln/>
        </p:spPr>
        <p:txBody>
          <a:bodyPr wrap="square" lIns="0" tIns="0" rIns="0" bIns="0" rtlCol="0" anchor="t"/>
          <a:lstStyle/>
          <a:p>
            <a:pPr indent="0" marL="0">
              <a:buNone/>
            </a:pPr>
            <a:r>
              <a:rPr lang="en-US" sz="1800" dirty="0">
                <a:solidFill>
                  <a:schemeClr val="tx1"/>
                </a:solidFill>
              </a:rPr>
              <a:t>A student-built system that turns dirty hospital CSV files into clean data, a relational database and an interactive dashboard.</a:t>
            </a:r>
            <a:endParaRPr lang="en-US" sz="1800" dirty="0"/>
          </a:p>
        </p:txBody>
      </p:sp>
      <p:sp>
        <p:nvSpPr>
          <p:cNvPr id="5" name="Pillar card 1"/>
          <p:cNvSpPr/>
          <p:nvPr/>
        </p:nvSpPr>
        <p:spPr>
          <a:xfrm>
            <a:off x="457200" y="2194560"/>
            <a:ext cx="1554480" cy="2286000"/>
          </a:xfrm>
          <a:prstGeom prst="roundRect">
            <a:avLst>
              <a:gd name="adj" fmla="val 4706"/>
            </a:avLst>
          </a:prstGeom>
          <a:solidFill>
            <a:schemeClr val="bg2"/>
          </a:solidFill>
          <a:ln/>
        </p:spPr>
      </p:sp>
      <p:sp>
        <p:nvSpPr>
          <p:cNvPr id="6" name="Data management circle"/>
          <p:cNvSpPr/>
          <p:nvPr/>
        </p:nvSpPr>
        <p:spPr>
          <a:xfrm>
            <a:off x="868680" y="2423160"/>
            <a:ext cx="731520" cy="731520"/>
          </a:xfrm>
          <a:prstGeom prst="ellipse">
            <a:avLst/>
          </a:prstGeom>
          <a:solidFill>
            <a:srgbClr val="0E8C99"/>
          </a:solidFill>
          <a:ln/>
        </p:spPr>
      </p:sp>
      <p:pic>
        <p:nvPicPr>
          <p:cNvPr id="7" name="Data management icon" descr="Data management">    </p:cNvPr>
          <p:cNvPicPr>
            <a:picLocks noChangeAspect="1"/>
          </p:cNvPicPr>
          <p:nvPr/>
        </p:nvPicPr>
        <p:blipFill>
          <a:blip r:embed="rId1"/>
          <a:stretch>
            <a:fillRect/>
          </a:stretch>
        </p:blipFill>
        <p:spPr>
          <a:xfrm>
            <a:off x="1051560" y="2606040"/>
            <a:ext cx="365760" cy="365760"/>
          </a:xfrm>
          <a:prstGeom prst="rect">
            <a:avLst/>
          </a:prstGeom>
        </p:spPr>
      </p:pic>
      <p:sp>
        <p:nvSpPr>
          <p:cNvPr id="8" name="Text 4"/>
          <p:cNvSpPr txBox="1"/>
          <p:nvPr/>
        </p:nvSpPr>
        <p:spPr>
          <a:xfrm>
            <a:off x="548640" y="3291840"/>
            <a:ext cx="1371600" cy="457200"/>
          </a:xfrm>
          <a:prstGeom prst="rect">
            <a:avLst/>
          </a:prstGeom>
          <a:noFill/>
          <a:ln/>
        </p:spPr>
        <p:txBody>
          <a:bodyPr wrap="square" lIns="0" tIns="0" rIns="0" bIns="0" rtlCol="0" anchor="ctr"/>
          <a:lstStyle/>
          <a:p>
            <a:pPr algn="ctr" indent="0" marL="0">
              <a:buNone/>
            </a:pPr>
            <a:r>
              <a:rPr lang="en-US" sz="1400" b="1" dirty="0">
                <a:solidFill>
                  <a:schemeClr val="tx2"/>
                </a:solidFill>
              </a:rPr>
              <a:t>Data management</a:t>
            </a:r>
            <a:endParaRPr lang="en-US" sz="1400" dirty="0"/>
          </a:p>
        </p:txBody>
      </p:sp>
      <p:sp>
        <p:nvSpPr>
          <p:cNvPr id="9" name="Text 5"/>
          <p:cNvSpPr txBox="1"/>
          <p:nvPr/>
        </p:nvSpPr>
        <p:spPr>
          <a:xfrm>
            <a:off x="566928" y="3794760"/>
            <a:ext cx="1335024" cy="594360"/>
          </a:xfrm>
          <a:prstGeom prst="rect">
            <a:avLst/>
          </a:prstGeom>
          <a:noFill/>
          <a:ln/>
        </p:spPr>
        <p:txBody>
          <a:bodyPr wrap="square" lIns="0" tIns="0" rIns="0" bIns="0" rtlCol="0" anchor="t"/>
          <a:lstStyle/>
          <a:p>
            <a:pPr algn="ctr" indent="0" marL="0">
              <a:buNone/>
            </a:pPr>
            <a:r>
              <a:rPr lang="en-US" sz="1200" dirty="0">
                <a:solidFill>
                  <a:schemeClr val="accent6"/>
                </a:solidFill>
              </a:rPr>
              <a:t>12 related hospital tables</a:t>
            </a:r>
            <a:endParaRPr lang="en-US" sz="1200" dirty="0"/>
          </a:p>
        </p:txBody>
      </p:sp>
      <p:sp>
        <p:nvSpPr>
          <p:cNvPr id="10" name="Pillar card 2"/>
          <p:cNvSpPr/>
          <p:nvPr/>
        </p:nvSpPr>
        <p:spPr>
          <a:xfrm>
            <a:off x="2139696" y="2194560"/>
            <a:ext cx="1554480" cy="2286000"/>
          </a:xfrm>
          <a:prstGeom prst="roundRect">
            <a:avLst>
              <a:gd name="adj" fmla="val 4706"/>
            </a:avLst>
          </a:prstGeom>
          <a:solidFill>
            <a:schemeClr val="bg2"/>
          </a:solidFill>
          <a:ln/>
        </p:spPr>
      </p:sp>
      <p:sp>
        <p:nvSpPr>
          <p:cNvPr id="11" name="Data cleaning circle"/>
          <p:cNvSpPr/>
          <p:nvPr/>
        </p:nvSpPr>
        <p:spPr>
          <a:xfrm>
            <a:off x="2551176" y="2423160"/>
            <a:ext cx="731520" cy="731520"/>
          </a:xfrm>
          <a:prstGeom prst="ellipse">
            <a:avLst/>
          </a:prstGeom>
          <a:solidFill>
            <a:srgbClr val="0E8C99"/>
          </a:solidFill>
          <a:ln/>
        </p:spPr>
      </p:sp>
      <p:pic>
        <p:nvPicPr>
          <p:cNvPr id="12" name="Data cleaning icon" descr="Data cleaning">    </p:cNvPr>
          <p:cNvPicPr>
            <a:picLocks noChangeAspect="1"/>
          </p:cNvPicPr>
          <p:nvPr/>
        </p:nvPicPr>
        <p:blipFill>
          <a:blip r:embed="rId2"/>
          <a:stretch>
            <a:fillRect/>
          </a:stretch>
        </p:blipFill>
        <p:spPr>
          <a:xfrm>
            <a:off x="2734056" y="2606040"/>
            <a:ext cx="365760" cy="365760"/>
          </a:xfrm>
          <a:prstGeom prst="rect">
            <a:avLst/>
          </a:prstGeom>
        </p:spPr>
      </p:pic>
      <p:sp>
        <p:nvSpPr>
          <p:cNvPr id="13" name="Text 8"/>
          <p:cNvSpPr txBox="1"/>
          <p:nvPr/>
        </p:nvSpPr>
        <p:spPr>
          <a:xfrm>
            <a:off x="2231136" y="3291840"/>
            <a:ext cx="1371600" cy="457200"/>
          </a:xfrm>
          <a:prstGeom prst="rect">
            <a:avLst/>
          </a:prstGeom>
          <a:noFill/>
          <a:ln/>
        </p:spPr>
        <p:txBody>
          <a:bodyPr wrap="square" lIns="0" tIns="0" rIns="0" bIns="0" rtlCol="0" anchor="ctr"/>
          <a:lstStyle/>
          <a:p>
            <a:pPr algn="ctr" indent="0" marL="0">
              <a:buNone/>
            </a:pPr>
            <a:r>
              <a:rPr lang="en-US" sz="1400" b="1" dirty="0">
                <a:solidFill>
                  <a:schemeClr val="tx2"/>
                </a:solidFill>
              </a:rPr>
              <a:t>Data cleaning</a:t>
            </a:r>
            <a:endParaRPr lang="en-US" sz="1400" dirty="0"/>
          </a:p>
        </p:txBody>
      </p:sp>
      <p:sp>
        <p:nvSpPr>
          <p:cNvPr id="14" name="Text 9"/>
          <p:cNvSpPr txBox="1"/>
          <p:nvPr/>
        </p:nvSpPr>
        <p:spPr>
          <a:xfrm>
            <a:off x="2249424" y="3794760"/>
            <a:ext cx="1335024" cy="594360"/>
          </a:xfrm>
          <a:prstGeom prst="rect">
            <a:avLst/>
          </a:prstGeom>
          <a:noFill/>
          <a:ln/>
        </p:spPr>
        <p:txBody>
          <a:bodyPr wrap="square" lIns="0" tIns="0" rIns="0" bIns="0" rtlCol="0" anchor="t"/>
          <a:lstStyle/>
          <a:p>
            <a:pPr algn="ctr" indent="0" marL="0">
              <a:buNone/>
            </a:pPr>
            <a:r>
              <a:rPr lang="en-US" sz="1200" dirty="0">
                <a:solidFill>
                  <a:schemeClr val="accent6"/>
                </a:solidFill>
              </a:rPr>
              <a:t>Pandas: duplicates, text, dates</a:t>
            </a:r>
            <a:endParaRPr lang="en-US" sz="1200" dirty="0"/>
          </a:p>
        </p:txBody>
      </p:sp>
      <p:sp>
        <p:nvSpPr>
          <p:cNvPr id="15" name="Pillar card 3"/>
          <p:cNvSpPr/>
          <p:nvPr/>
        </p:nvSpPr>
        <p:spPr>
          <a:xfrm>
            <a:off x="3822192" y="2194560"/>
            <a:ext cx="1554480" cy="2286000"/>
          </a:xfrm>
          <a:prstGeom prst="roundRect">
            <a:avLst>
              <a:gd name="adj" fmla="val 4706"/>
            </a:avLst>
          </a:prstGeom>
          <a:solidFill>
            <a:schemeClr val="bg2"/>
          </a:solidFill>
          <a:ln/>
        </p:spPr>
      </p:sp>
      <p:sp>
        <p:nvSpPr>
          <p:cNvPr id="16" name="Data analysis circle"/>
          <p:cNvSpPr/>
          <p:nvPr/>
        </p:nvSpPr>
        <p:spPr>
          <a:xfrm>
            <a:off x="4233672" y="2423160"/>
            <a:ext cx="731520" cy="731520"/>
          </a:xfrm>
          <a:prstGeom prst="ellipse">
            <a:avLst/>
          </a:prstGeom>
          <a:solidFill>
            <a:srgbClr val="0E8C99"/>
          </a:solidFill>
          <a:ln/>
        </p:spPr>
      </p:sp>
      <p:pic>
        <p:nvPicPr>
          <p:cNvPr id="17" name="Data analysis icon" descr="Data analysis">    </p:cNvPr>
          <p:cNvPicPr>
            <a:picLocks noChangeAspect="1"/>
          </p:cNvPicPr>
          <p:nvPr/>
        </p:nvPicPr>
        <p:blipFill>
          <a:blip r:embed="rId3"/>
          <a:stretch>
            <a:fillRect/>
          </a:stretch>
        </p:blipFill>
        <p:spPr>
          <a:xfrm>
            <a:off x="4416552" y="2606040"/>
            <a:ext cx="365760" cy="365760"/>
          </a:xfrm>
          <a:prstGeom prst="rect">
            <a:avLst/>
          </a:prstGeom>
        </p:spPr>
      </p:pic>
      <p:sp>
        <p:nvSpPr>
          <p:cNvPr id="18" name="Text 12"/>
          <p:cNvSpPr txBox="1"/>
          <p:nvPr/>
        </p:nvSpPr>
        <p:spPr>
          <a:xfrm>
            <a:off x="3913632" y="3291840"/>
            <a:ext cx="1371600" cy="457200"/>
          </a:xfrm>
          <a:prstGeom prst="rect">
            <a:avLst/>
          </a:prstGeom>
          <a:noFill/>
          <a:ln/>
        </p:spPr>
        <p:txBody>
          <a:bodyPr wrap="square" lIns="0" tIns="0" rIns="0" bIns="0" rtlCol="0" anchor="ctr"/>
          <a:lstStyle/>
          <a:p>
            <a:pPr algn="ctr" indent="0" marL="0">
              <a:buNone/>
            </a:pPr>
            <a:r>
              <a:rPr lang="en-US" sz="1400" b="1" dirty="0">
                <a:solidFill>
                  <a:schemeClr val="tx2"/>
                </a:solidFill>
              </a:rPr>
              <a:t>Data analysis</a:t>
            </a:r>
            <a:endParaRPr lang="en-US" sz="1400" dirty="0"/>
          </a:p>
        </p:txBody>
      </p:sp>
      <p:sp>
        <p:nvSpPr>
          <p:cNvPr id="19" name="Text 13"/>
          <p:cNvSpPr txBox="1"/>
          <p:nvPr/>
        </p:nvSpPr>
        <p:spPr>
          <a:xfrm>
            <a:off x="3931920" y="3794760"/>
            <a:ext cx="1335024" cy="594360"/>
          </a:xfrm>
          <a:prstGeom prst="rect">
            <a:avLst/>
          </a:prstGeom>
          <a:noFill/>
          <a:ln/>
        </p:spPr>
        <p:txBody>
          <a:bodyPr wrap="square" lIns="0" tIns="0" rIns="0" bIns="0" rtlCol="0" anchor="t"/>
          <a:lstStyle/>
          <a:p>
            <a:pPr algn="ctr" indent="0" marL="0">
              <a:buNone/>
            </a:pPr>
            <a:r>
              <a:rPr lang="en-US" sz="1200" dirty="0">
                <a:solidFill>
                  <a:schemeClr val="accent6"/>
                </a:solidFill>
              </a:rPr>
              <a:t>EDA in a Jupyter notebook</a:t>
            </a:r>
            <a:endParaRPr lang="en-US" sz="1200" dirty="0"/>
          </a:p>
        </p:txBody>
      </p:sp>
      <p:sp>
        <p:nvSpPr>
          <p:cNvPr id="20" name="Pillar card 4"/>
          <p:cNvSpPr/>
          <p:nvPr/>
        </p:nvSpPr>
        <p:spPr>
          <a:xfrm>
            <a:off x="5504688" y="2194560"/>
            <a:ext cx="1554480" cy="2286000"/>
          </a:xfrm>
          <a:prstGeom prst="roundRect">
            <a:avLst>
              <a:gd name="adj" fmla="val 4706"/>
            </a:avLst>
          </a:prstGeom>
          <a:solidFill>
            <a:schemeClr val="bg2"/>
          </a:solidFill>
          <a:ln/>
        </p:spPr>
      </p:sp>
      <p:sp>
        <p:nvSpPr>
          <p:cNvPr id="21" name="SQL database circle"/>
          <p:cNvSpPr/>
          <p:nvPr/>
        </p:nvSpPr>
        <p:spPr>
          <a:xfrm>
            <a:off x="5916168" y="2423160"/>
            <a:ext cx="731520" cy="731520"/>
          </a:xfrm>
          <a:prstGeom prst="ellipse">
            <a:avLst/>
          </a:prstGeom>
          <a:solidFill>
            <a:srgbClr val="0E8C99"/>
          </a:solidFill>
          <a:ln/>
        </p:spPr>
      </p:sp>
      <p:pic>
        <p:nvPicPr>
          <p:cNvPr id="22" name="SQL database icon" descr="SQL database">    </p:cNvPr>
          <p:cNvPicPr>
            <a:picLocks noChangeAspect="1"/>
          </p:cNvPicPr>
          <p:nvPr/>
        </p:nvPicPr>
        <p:blipFill>
          <a:blip r:embed="rId4"/>
          <a:stretch>
            <a:fillRect/>
          </a:stretch>
        </p:blipFill>
        <p:spPr>
          <a:xfrm>
            <a:off x="6099048" y="2606040"/>
            <a:ext cx="365760" cy="365760"/>
          </a:xfrm>
          <a:prstGeom prst="rect">
            <a:avLst/>
          </a:prstGeom>
        </p:spPr>
      </p:pic>
      <p:sp>
        <p:nvSpPr>
          <p:cNvPr id="23" name="Text 16"/>
          <p:cNvSpPr txBox="1"/>
          <p:nvPr/>
        </p:nvSpPr>
        <p:spPr>
          <a:xfrm>
            <a:off x="5596128" y="3291840"/>
            <a:ext cx="1371600" cy="457200"/>
          </a:xfrm>
          <a:prstGeom prst="rect">
            <a:avLst/>
          </a:prstGeom>
          <a:noFill/>
          <a:ln/>
        </p:spPr>
        <p:txBody>
          <a:bodyPr wrap="square" lIns="0" tIns="0" rIns="0" bIns="0" rtlCol="0" anchor="ctr"/>
          <a:lstStyle/>
          <a:p>
            <a:pPr algn="ctr" indent="0" marL="0">
              <a:buNone/>
            </a:pPr>
            <a:r>
              <a:rPr lang="en-US" sz="1400" b="1" dirty="0">
                <a:solidFill>
                  <a:schemeClr val="tx2"/>
                </a:solidFill>
              </a:rPr>
              <a:t>SQL database</a:t>
            </a:r>
            <a:endParaRPr lang="en-US" sz="1400" dirty="0"/>
          </a:p>
        </p:txBody>
      </p:sp>
      <p:sp>
        <p:nvSpPr>
          <p:cNvPr id="24" name="Text 17"/>
          <p:cNvSpPr txBox="1"/>
          <p:nvPr/>
        </p:nvSpPr>
        <p:spPr>
          <a:xfrm>
            <a:off x="5614416" y="3794760"/>
            <a:ext cx="1335024" cy="594360"/>
          </a:xfrm>
          <a:prstGeom prst="rect">
            <a:avLst/>
          </a:prstGeom>
          <a:noFill/>
          <a:ln/>
        </p:spPr>
        <p:txBody>
          <a:bodyPr wrap="square" lIns="0" tIns="0" rIns="0" bIns="0" rtlCol="0" anchor="t"/>
          <a:lstStyle/>
          <a:p>
            <a:pPr algn="ctr" indent="0" marL="0">
              <a:buNone/>
            </a:pPr>
            <a:r>
              <a:rPr lang="en-US" sz="1200" dirty="0">
                <a:solidFill>
                  <a:schemeClr val="accent6"/>
                </a:solidFill>
              </a:rPr>
              <a:t>Tables, views, procedures</a:t>
            </a:r>
            <a:endParaRPr lang="en-US" sz="1200" dirty="0"/>
          </a:p>
        </p:txBody>
      </p:sp>
      <p:sp>
        <p:nvSpPr>
          <p:cNvPr id="25" name="Pillar card 5"/>
          <p:cNvSpPr/>
          <p:nvPr/>
        </p:nvSpPr>
        <p:spPr>
          <a:xfrm>
            <a:off x="7187184" y="2194560"/>
            <a:ext cx="1554480" cy="2286000"/>
          </a:xfrm>
          <a:prstGeom prst="roundRect">
            <a:avLst>
              <a:gd name="adj" fmla="val 4706"/>
            </a:avLst>
          </a:prstGeom>
          <a:solidFill>
            <a:schemeClr val="bg2"/>
          </a:solidFill>
          <a:ln/>
        </p:spPr>
      </p:sp>
      <p:sp>
        <p:nvSpPr>
          <p:cNvPr id="26" name="Dashboard circle"/>
          <p:cNvSpPr/>
          <p:nvPr/>
        </p:nvSpPr>
        <p:spPr>
          <a:xfrm>
            <a:off x="7598664" y="2423160"/>
            <a:ext cx="731520" cy="731520"/>
          </a:xfrm>
          <a:prstGeom prst="ellipse">
            <a:avLst/>
          </a:prstGeom>
          <a:solidFill>
            <a:srgbClr val="0E8C99"/>
          </a:solidFill>
          <a:ln/>
        </p:spPr>
      </p:sp>
      <p:pic>
        <p:nvPicPr>
          <p:cNvPr id="27" name="Dashboard icon" descr="Dashboard">    </p:cNvPr>
          <p:cNvPicPr>
            <a:picLocks noChangeAspect="1"/>
          </p:cNvPicPr>
          <p:nvPr/>
        </p:nvPicPr>
        <p:blipFill>
          <a:blip r:embed="rId5"/>
          <a:stretch>
            <a:fillRect/>
          </a:stretch>
        </p:blipFill>
        <p:spPr>
          <a:xfrm>
            <a:off x="7781544" y="2606040"/>
            <a:ext cx="365760" cy="365760"/>
          </a:xfrm>
          <a:prstGeom prst="rect">
            <a:avLst/>
          </a:prstGeom>
        </p:spPr>
      </p:pic>
      <p:sp>
        <p:nvSpPr>
          <p:cNvPr id="28" name="Text 20"/>
          <p:cNvSpPr txBox="1"/>
          <p:nvPr/>
        </p:nvSpPr>
        <p:spPr>
          <a:xfrm>
            <a:off x="7278624" y="3291840"/>
            <a:ext cx="1371600" cy="457200"/>
          </a:xfrm>
          <a:prstGeom prst="rect">
            <a:avLst/>
          </a:prstGeom>
          <a:noFill/>
          <a:ln/>
        </p:spPr>
        <p:txBody>
          <a:bodyPr wrap="square" lIns="0" tIns="0" rIns="0" bIns="0" rtlCol="0" anchor="ctr"/>
          <a:lstStyle/>
          <a:p>
            <a:pPr algn="ctr" indent="0" marL="0">
              <a:buNone/>
            </a:pPr>
            <a:r>
              <a:rPr lang="en-US" sz="1400" b="1" dirty="0">
                <a:solidFill>
                  <a:schemeClr val="tx2"/>
                </a:solidFill>
              </a:rPr>
              <a:t>Dashboard</a:t>
            </a:r>
            <a:endParaRPr lang="en-US" sz="1400" dirty="0"/>
          </a:p>
        </p:txBody>
      </p:sp>
      <p:sp>
        <p:nvSpPr>
          <p:cNvPr id="29" name="Text 21"/>
          <p:cNvSpPr txBox="1"/>
          <p:nvPr/>
        </p:nvSpPr>
        <p:spPr>
          <a:xfrm>
            <a:off x="7296912" y="3794760"/>
            <a:ext cx="1335024" cy="594360"/>
          </a:xfrm>
          <a:prstGeom prst="rect">
            <a:avLst/>
          </a:prstGeom>
          <a:noFill/>
          <a:ln/>
        </p:spPr>
        <p:txBody>
          <a:bodyPr wrap="square" lIns="0" tIns="0" rIns="0" bIns="0" rtlCol="0" anchor="t"/>
          <a:lstStyle/>
          <a:p>
            <a:pPr algn="ctr" indent="0" marL="0">
              <a:buNone/>
            </a:pPr>
            <a:r>
              <a:rPr lang="en-US" sz="1200" dirty="0">
                <a:solidFill>
                  <a:schemeClr val="accent6"/>
                </a:solidFill>
              </a:rPr>
              <a:t>Streamlit app, 13 pages</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The Problem with Raw Hospital Data</a:t>
            </a:r>
            <a:endParaRPr lang="en-US" sz="3000" dirty="0"/>
          </a:p>
        </p:txBody>
      </p:sp>
      <p:sp>
        <p:nvSpPr>
          <p:cNvPr id="4" name="Missing values circle"/>
          <p:cNvSpPr/>
          <p:nvPr/>
        </p:nvSpPr>
        <p:spPr>
          <a:xfrm>
            <a:off x="457200" y="1143000"/>
            <a:ext cx="457200" cy="457200"/>
          </a:xfrm>
          <a:prstGeom prst="ellipse">
            <a:avLst/>
          </a:prstGeom>
          <a:solidFill>
            <a:srgbClr val="C8553D"/>
          </a:solidFill>
          <a:ln/>
        </p:spPr>
      </p:sp>
      <p:pic>
        <p:nvPicPr>
          <p:cNvPr id="5" name="Missing values icon" descr="Missing values">    </p:cNvPr>
          <p:cNvPicPr>
            <a:picLocks noChangeAspect="1"/>
          </p:cNvPicPr>
          <p:nvPr/>
        </p:nvPicPr>
        <p:blipFill>
          <a:blip r:embed="rId1"/>
          <a:stretch>
            <a:fillRect/>
          </a:stretch>
        </p:blipFill>
        <p:spPr>
          <a:xfrm>
            <a:off x="571500" y="1257300"/>
            <a:ext cx="228600" cy="228600"/>
          </a:xfrm>
          <a:prstGeom prst="rect">
            <a:avLst/>
          </a:prstGeom>
        </p:spPr>
      </p:pic>
      <p:sp>
        <p:nvSpPr>
          <p:cNvPr id="6" name="Text 2"/>
          <p:cNvSpPr txBox="1"/>
          <p:nvPr/>
        </p:nvSpPr>
        <p:spPr>
          <a:xfrm>
            <a:off x="1097280" y="1143000"/>
            <a:ext cx="3931920" cy="457200"/>
          </a:xfrm>
          <a:prstGeom prst="rect">
            <a:avLst/>
          </a:prstGeom>
          <a:noFill/>
          <a:ln/>
        </p:spPr>
        <p:txBody>
          <a:bodyPr wrap="square" lIns="0" tIns="0" rIns="0" bIns="0" rtlCol="0" anchor="ctr"/>
          <a:lstStyle/>
          <a:p>
            <a:pPr indent="0" marL="0">
              <a:buNone/>
            </a:pPr>
            <a:r>
              <a:rPr lang="en-US" sz="1600" dirty="0">
                <a:solidFill>
                  <a:schemeClr val="tx1"/>
                </a:solidFill>
              </a:rPr>
              <a:t>Missing values</a:t>
            </a:r>
            <a:endParaRPr lang="en-US" sz="1600" dirty="0"/>
          </a:p>
        </p:txBody>
      </p:sp>
      <p:sp>
        <p:nvSpPr>
          <p:cNvPr id="7" name="Duplicate records circle"/>
          <p:cNvSpPr/>
          <p:nvPr/>
        </p:nvSpPr>
        <p:spPr>
          <a:xfrm>
            <a:off x="457200" y="1728216"/>
            <a:ext cx="457200" cy="457200"/>
          </a:xfrm>
          <a:prstGeom prst="ellipse">
            <a:avLst/>
          </a:prstGeom>
          <a:solidFill>
            <a:srgbClr val="C8553D"/>
          </a:solidFill>
          <a:ln/>
        </p:spPr>
      </p:sp>
      <p:pic>
        <p:nvPicPr>
          <p:cNvPr id="8" name="Duplicate records icon" descr="Duplicate records">    </p:cNvPr>
          <p:cNvPicPr>
            <a:picLocks noChangeAspect="1"/>
          </p:cNvPicPr>
          <p:nvPr/>
        </p:nvPicPr>
        <p:blipFill>
          <a:blip r:embed="rId2"/>
          <a:stretch>
            <a:fillRect/>
          </a:stretch>
        </p:blipFill>
        <p:spPr>
          <a:xfrm>
            <a:off x="571500" y="1842516"/>
            <a:ext cx="228600" cy="228600"/>
          </a:xfrm>
          <a:prstGeom prst="rect">
            <a:avLst/>
          </a:prstGeom>
        </p:spPr>
      </p:pic>
      <p:sp>
        <p:nvSpPr>
          <p:cNvPr id="9" name="Text 4"/>
          <p:cNvSpPr txBox="1"/>
          <p:nvPr/>
        </p:nvSpPr>
        <p:spPr>
          <a:xfrm>
            <a:off x="1097280" y="1728216"/>
            <a:ext cx="3931920" cy="457200"/>
          </a:xfrm>
          <a:prstGeom prst="rect">
            <a:avLst/>
          </a:prstGeom>
          <a:noFill/>
          <a:ln/>
        </p:spPr>
        <p:txBody>
          <a:bodyPr wrap="square" lIns="0" tIns="0" rIns="0" bIns="0" rtlCol="0" anchor="ctr"/>
          <a:lstStyle/>
          <a:p>
            <a:pPr indent="0" marL="0">
              <a:buNone/>
            </a:pPr>
            <a:r>
              <a:rPr lang="en-US" sz="1600" dirty="0">
                <a:solidFill>
                  <a:schemeClr val="tx1"/>
                </a:solidFill>
              </a:rPr>
              <a:t>Duplicate records</a:t>
            </a:r>
            <a:endParaRPr lang="en-US" sz="1600" dirty="0"/>
          </a:p>
        </p:txBody>
      </p:sp>
      <p:sp>
        <p:nvSpPr>
          <p:cNvPr id="10" name="Inconsistent text and capitalization circle"/>
          <p:cNvSpPr/>
          <p:nvPr/>
        </p:nvSpPr>
        <p:spPr>
          <a:xfrm>
            <a:off x="457200" y="2313432"/>
            <a:ext cx="457200" cy="457200"/>
          </a:xfrm>
          <a:prstGeom prst="ellipse">
            <a:avLst/>
          </a:prstGeom>
          <a:solidFill>
            <a:srgbClr val="C8553D"/>
          </a:solidFill>
          <a:ln/>
        </p:spPr>
      </p:sp>
      <p:pic>
        <p:nvPicPr>
          <p:cNvPr id="11" name="Inconsistent text and capitalization icon" descr="Inconsistent text and capitalization">    </p:cNvPr>
          <p:cNvPicPr>
            <a:picLocks noChangeAspect="1"/>
          </p:cNvPicPr>
          <p:nvPr/>
        </p:nvPicPr>
        <p:blipFill>
          <a:blip r:embed="rId3"/>
          <a:stretch>
            <a:fillRect/>
          </a:stretch>
        </p:blipFill>
        <p:spPr>
          <a:xfrm>
            <a:off x="571500" y="2427732"/>
            <a:ext cx="228600" cy="228600"/>
          </a:xfrm>
          <a:prstGeom prst="rect">
            <a:avLst/>
          </a:prstGeom>
        </p:spPr>
      </p:pic>
      <p:sp>
        <p:nvSpPr>
          <p:cNvPr id="12" name="Text 6"/>
          <p:cNvSpPr txBox="1"/>
          <p:nvPr/>
        </p:nvSpPr>
        <p:spPr>
          <a:xfrm>
            <a:off x="1097280" y="2313432"/>
            <a:ext cx="3931920" cy="457200"/>
          </a:xfrm>
          <a:prstGeom prst="rect">
            <a:avLst/>
          </a:prstGeom>
          <a:noFill/>
          <a:ln/>
        </p:spPr>
        <p:txBody>
          <a:bodyPr wrap="square" lIns="0" tIns="0" rIns="0" bIns="0" rtlCol="0" anchor="ctr"/>
          <a:lstStyle/>
          <a:p>
            <a:pPr indent="0" marL="0">
              <a:buNone/>
            </a:pPr>
            <a:r>
              <a:rPr lang="en-US" sz="1600" dirty="0">
                <a:solidFill>
                  <a:schemeClr val="tx1"/>
                </a:solidFill>
              </a:rPr>
              <a:t>Inconsistent text and capitalization</a:t>
            </a:r>
            <a:endParaRPr lang="en-US" sz="1600" dirty="0"/>
          </a:p>
        </p:txBody>
      </p:sp>
      <p:sp>
        <p:nvSpPr>
          <p:cNvPr id="13" name="Dates stored with extra spaces circle"/>
          <p:cNvSpPr/>
          <p:nvPr/>
        </p:nvSpPr>
        <p:spPr>
          <a:xfrm>
            <a:off x="457200" y="2898648"/>
            <a:ext cx="457200" cy="457200"/>
          </a:xfrm>
          <a:prstGeom prst="ellipse">
            <a:avLst/>
          </a:prstGeom>
          <a:solidFill>
            <a:srgbClr val="C8553D"/>
          </a:solidFill>
          <a:ln/>
        </p:spPr>
      </p:sp>
      <p:pic>
        <p:nvPicPr>
          <p:cNvPr id="14" name="Dates stored with extra spaces icon" descr="Dates stored with extra spaces">    </p:cNvPr>
          <p:cNvPicPr>
            <a:picLocks noChangeAspect="1"/>
          </p:cNvPicPr>
          <p:nvPr/>
        </p:nvPicPr>
        <p:blipFill>
          <a:blip r:embed="rId4"/>
          <a:stretch>
            <a:fillRect/>
          </a:stretch>
        </p:blipFill>
        <p:spPr>
          <a:xfrm>
            <a:off x="571500" y="3012948"/>
            <a:ext cx="228600" cy="228600"/>
          </a:xfrm>
          <a:prstGeom prst="rect">
            <a:avLst/>
          </a:prstGeom>
        </p:spPr>
      </p:pic>
      <p:sp>
        <p:nvSpPr>
          <p:cNvPr id="15" name="Text 8"/>
          <p:cNvSpPr txBox="1"/>
          <p:nvPr/>
        </p:nvSpPr>
        <p:spPr>
          <a:xfrm>
            <a:off x="1097280" y="2898648"/>
            <a:ext cx="3931920" cy="457200"/>
          </a:xfrm>
          <a:prstGeom prst="rect">
            <a:avLst/>
          </a:prstGeom>
          <a:noFill/>
          <a:ln/>
        </p:spPr>
        <p:txBody>
          <a:bodyPr wrap="square" lIns="0" tIns="0" rIns="0" bIns="0" rtlCol="0" anchor="ctr"/>
          <a:lstStyle/>
          <a:p>
            <a:pPr indent="0" marL="0">
              <a:buNone/>
            </a:pPr>
            <a:r>
              <a:rPr lang="en-US" sz="1600" dirty="0">
                <a:solidFill>
                  <a:schemeClr val="tx1"/>
                </a:solidFill>
              </a:rPr>
              <a:t>Dates stored with extra spaces</a:t>
            </a:r>
            <a:endParaRPr lang="en-US" sz="1600" dirty="0"/>
          </a:p>
        </p:txBody>
      </p:sp>
      <p:sp>
        <p:nvSpPr>
          <p:cNvPr id="16" name="Data spread across 12 files circle"/>
          <p:cNvSpPr/>
          <p:nvPr/>
        </p:nvSpPr>
        <p:spPr>
          <a:xfrm>
            <a:off x="457200" y="3483864"/>
            <a:ext cx="457200" cy="457200"/>
          </a:xfrm>
          <a:prstGeom prst="ellipse">
            <a:avLst/>
          </a:prstGeom>
          <a:solidFill>
            <a:srgbClr val="C8553D"/>
          </a:solidFill>
          <a:ln/>
        </p:spPr>
      </p:sp>
      <p:pic>
        <p:nvPicPr>
          <p:cNvPr id="17" name="Data spread across 12 files icon" descr="Data spread across 12 files">    </p:cNvPr>
          <p:cNvPicPr>
            <a:picLocks noChangeAspect="1"/>
          </p:cNvPicPr>
          <p:nvPr/>
        </p:nvPicPr>
        <p:blipFill>
          <a:blip r:embed="rId5"/>
          <a:stretch>
            <a:fillRect/>
          </a:stretch>
        </p:blipFill>
        <p:spPr>
          <a:xfrm>
            <a:off x="571500" y="3598164"/>
            <a:ext cx="228600" cy="228600"/>
          </a:xfrm>
          <a:prstGeom prst="rect">
            <a:avLst/>
          </a:prstGeom>
        </p:spPr>
      </p:pic>
      <p:sp>
        <p:nvSpPr>
          <p:cNvPr id="18" name="Text 10"/>
          <p:cNvSpPr txBox="1"/>
          <p:nvPr/>
        </p:nvSpPr>
        <p:spPr>
          <a:xfrm>
            <a:off x="1097280" y="3483864"/>
            <a:ext cx="3931920" cy="457200"/>
          </a:xfrm>
          <a:prstGeom prst="rect">
            <a:avLst/>
          </a:prstGeom>
          <a:noFill/>
          <a:ln/>
        </p:spPr>
        <p:txBody>
          <a:bodyPr wrap="square" lIns="0" tIns="0" rIns="0" bIns="0" rtlCol="0" anchor="ctr"/>
          <a:lstStyle/>
          <a:p>
            <a:pPr indent="0" marL="0">
              <a:buNone/>
            </a:pPr>
            <a:r>
              <a:rPr lang="en-US" sz="1600" dirty="0">
                <a:solidFill>
                  <a:schemeClr val="tx1"/>
                </a:solidFill>
              </a:rPr>
              <a:t>Data spread across 12 files</a:t>
            </a:r>
            <a:endParaRPr lang="en-US" sz="1600" dirty="0"/>
          </a:p>
        </p:txBody>
      </p:sp>
      <p:sp>
        <p:nvSpPr>
          <p:cNvPr id="19" name="Manual analysis is slow circle"/>
          <p:cNvSpPr/>
          <p:nvPr/>
        </p:nvSpPr>
        <p:spPr>
          <a:xfrm>
            <a:off x="457200" y="4069080"/>
            <a:ext cx="457200" cy="457200"/>
          </a:xfrm>
          <a:prstGeom prst="ellipse">
            <a:avLst/>
          </a:prstGeom>
          <a:solidFill>
            <a:srgbClr val="C8553D"/>
          </a:solidFill>
          <a:ln/>
        </p:spPr>
      </p:sp>
      <p:pic>
        <p:nvPicPr>
          <p:cNvPr id="20" name="Manual analysis is slow icon" descr="Manual analysis is slow">    </p:cNvPr>
          <p:cNvPicPr>
            <a:picLocks noChangeAspect="1"/>
          </p:cNvPicPr>
          <p:nvPr/>
        </p:nvPicPr>
        <p:blipFill>
          <a:blip r:embed="rId6"/>
          <a:stretch>
            <a:fillRect/>
          </a:stretch>
        </p:blipFill>
        <p:spPr>
          <a:xfrm>
            <a:off x="571500" y="4183380"/>
            <a:ext cx="228600" cy="228600"/>
          </a:xfrm>
          <a:prstGeom prst="rect">
            <a:avLst/>
          </a:prstGeom>
        </p:spPr>
      </p:pic>
      <p:sp>
        <p:nvSpPr>
          <p:cNvPr id="21" name="Text 12"/>
          <p:cNvSpPr txBox="1"/>
          <p:nvPr/>
        </p:nvSpPr>
        <p:spPr>
          <a:xfrm>
            <a:off x="1097280" y="4069080"/>
            <a:ext cx="3931920" cy="457200"/>
          </a:xfrm>
          <a:prstGeom prst="rect">
            <a:avLst/>
          </a:prstGeom>
          <a:noFill/>
          <a:ln/>
        </p:spPr>
        <p:txBody>
          <a:bodyPr wrap="square" lIns="0" tIns="0" rIns="0" bIns="0" rtlCol="0" anchor="ctr"/>
          <a:lstStyle/>
          <a:p>
            <a:pPr indent="0" marL="0">
              <a:buNone/>
            </a:pPr>
            <a:r>
              <a:rPr lang="en-US" sz="1600" dirty="0">
                <a:solidFill>
                  <a:schemeClr val="tx1"/>
                </a:solidFill>
              </a:rPr>
              <a:t>Manual analysis is slow</a:t>
            </a:r>
            <a:endParaRPr lang="en-US" sz="1600" dirty="0"/>
          </a:p>
        </p:txBody>
      </p:sp>
      <p:sp>
        <p:nvSpPr>
          <p:cNvPr id="22" name="Problem stat 1"/>
          <p:cNvSpPr/>
          <p:nvPr/>
        </p:nvSpPr>
        <p:spPr>
          <a:xfrm>
            <a:off x="5486400" y="1143000"/>
            <a:ext cx="3200400" cy="822960"/>
          </a:xfrm>
          <a:prstGeom prst="roundRect">
            <a:avLst>
              <a:gd name="adj" fmla="val 8889"/>
            </a:avLst>
          </a:prstGeom>
          <a:solidFill>
            <a:srgbClr val="FBECE8"/>
          </a:solidFill>
          <a:ln/>
        </p:spPr>
      </p:sp>
      <p:sp>
        <p:nvSpPr>
          <p:cNvPr id="23" name="Text 14"/>
          <p:cNvSpPr txBox="1"/>
          <p:nvPr/>
        </p:nvSpPr>
        <p:spPr>
          <a:xfrm>
            <a:off x="5669280" y="1143000"/>
            <a:ext cx="1371600" cy="82296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967</a:t>
            </a:r>
            <a:endParaRPr lang="en-US" sz="3000" dirty="0"/>
          </a:p>
        </p:txBody>
      </p:sp>
      <p:sp>
        <p:nvSpPr>
          <p:cNvPr id="24" name="Text 15"/>
          <p:cNvSpPr txBox="1"/>
          <p:nvPr/>
        </p:nvSpPr>
        <p:spPr>
          <a:xfrm>
            <a:off x="7040880" y="1143000"/>
            <a:ext cx="1554480" cy="822960"/>
          </a:xfrm>
          <a:prstGeom prst="rect">
            <a:avLst/>
          </a:prstGeom>
          <a:noFill/>
          <a:ln/>
        </p:spPr>
        <p:txBody>
          <a:bodyPr wrap="square" lIns="0" tIns="0" rIns="0" bIns="0" rtlCol="0" anchor="ctr"/>
          <a:lstStyle/>
          <a:p>
            <a:pPr indent="0" marL="0">
              <a:buNone/>
            </a:pPr>
            <a:r>
              <a:rPr lang="en-US" sz="1400" dirty="0">
                <a:solidFill>
                  <a:schemeClr val="tx1"/>
                </a:solidFill>
              </a:rPr>
              <a:t>missing values</a:t>
            </a:r>
            <a:endParaRPr lang="en-US" sz="1400" dirty="0"/>
          </a:p>
        </p:txBody>
      </p:sp>
      <p:sp>
        <p:nvSpPr>
          <p:cNvPr id="25" name="Problem stat 2"/>
          <p:cNvSpPr/>
          <p:nvPr/>
        </p:nvSpPr>
        <p:spPr>
          <a:xfrm>
            <a:off x="5486400" y="2103120"/>
            <a:ext cx="3200400" cy="822960"/>
          </a:xfrm>
          <a:prstGeom prst="roundRect">
            <a:avLst>
              <a:gd name="adj" fmla="val 8889"/>
            </a:avLst>
          </a:prstGeom>
          <a:solidFill>
            <a:srgbClr val="FBECE8"/>
          </a:solidFill>
          <a:ln/>
        </p:spPr>
      </p:sp>
      <p:sp>
        <p:nvSpPr>
          <p:cNvPr id="26" name="Text 17"/>
          <p:cNvSpPr txBox="1"/>
          <p:nvPr/>
        </p:nvSpPr>
        <p:spPr>
          <a:xfrm>
            <a:off x="5669280" y="2103120"/>
            <a:ext cx="1371600" cy="82296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148</a:t>
            </a:r>
            <a:endParaRPr lang="en-US" sz="3000" dirty="0"/>
          </a:p>
        </p:txBody>
      </p:sp>
      <p:sp>
        <p:nvSpPr>
          <p:cNvPr id="27" name="Text 18"/>
          <p:cNvSpPr txBox="1"/>
          <p:nvPr/>
        </p:nvSpPr>
        <p:spPr>
          <a:xfrm>
            <a:off x="7040880" y="2103120"/>
            <a:ext cx="1554480" cy="822960"/>
          </a:xfrm>
          <a:prstGeom prst="rect">
            <a:avLst/>
          </a:prstGeom>
          <a:noFill/>
          <a:ln/>
        </p:spPr>
        <p:txBody>
          <a:bodyPr wrap="square" lIns="0" tIns="0" rIns="0" bIns="0" rtlCol="0" anchor="ctr"/>
          <a:lstStyle/>
          <a:p>
            <a:pPr indent="0" marL="0">
              <a:buNone/>
            </a:pPr>
            <a:r>
              <a:rPr lang="en-US" sz="1400" dirty="0">
                <a:solidFill>
                  <a:schemeClr val="tx1"/>
                </a:solidFill>
              </a:rPr>
              <a:t>duplicate rows</a:t>
            </a:r>
            <a:endParaRPr lang="en-US" sz="1400" dirty="0"/>
          </a:p>
        </p:txBody>
      </p:sp>
      <p:sp>
        <p:nvSpPr>
          <p:cNvPr id="28" name="Problem stat 3"/>
          <p:cNvSpPr/>
          <p:nvPr/>
        </p:nvSpPr>
        <p:spPr>
          <a:xfrm>
            <a:off x="5486400" y="3063240"/>
            <a:ext cx="3200400" cy="822960"/>
          </a:xfrm>
          <a:prstGeom prst="roundRect">
            <a:avLst>
              <a:gd name="adj" fmla="val 8889"/>
            </a:avLst>
          </a:prstGeom>
          <a:solidFill>
            <a:srgbClr val="FBECE8"/>
          </a:solidFill>
          <a:ln/>
        </p:spPr>
      </p:sp>
      <p:sp>
        <p:nvSpPr>
          <p:cNvPr id="29" name="Text 20"/>
          <p:cNvSpPr txBox="1"/>
          <p:nvPr/>
        </p:nvSpPr>
        <p:spPr>
          <a:xfrm>
            <a:off x="5669280" y="3063240"/>
            <a:ext cx="1371600" cy="82296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15,241</a:t>
            </a:r>
            <a:endParaRPr lang="en-US" sz="3000" dirty="0"/>
          </a:p>
        </p:txBody>
      </p:sp>
      <p:sp>
        <p:nvSpPr>
          <p:cNvPr id="30" name="Text 21"/>
          <p:cNvSpPr txBox="1"/>
          <p:nvPr/>
        </p:nvSpPr>
        <p:spPr>
          <a:xfrm>
            <a:off x="7040880" y="3063240"/>
            <a:ext cx="1554480" cy="822960"/>
          </a:xfrm>
          <a:prstGeom prst="rect">
            <a:avLst/>
          </a:prstGeom>
          <a:noFill/>
          <a:ln/>
        </p:spPr>
        <p:txBody>
          <a:bodyPr wrap="square" lIns="0" tIns="0" rIns="0" bIns="0" rtlCol="0" anchor="ctr"/>
          <a:lstStyle/>
          <a:p>
            <a:pPr indent="0" marL="0">
              <a:buNone/>
            </a:pPr>
            <a:r>
              <a:rPr lang="en-US" sz="1400" dirty="0">
                <a:solidFill>
                  <a:schemeClr val="tx1"/>
                </a:solidFill>
              </a:rPr>
              <a:t>raw rows in 12 files</a:t>
            </a:r>
            <a:endParaRPr lang="en-US" sz="1400" dirty="0"/>
          </a:p>
        </p:txBody>
      </p:sp>
      <p:sp>
        <p:nvSpPr>
          <p:cNvPr id="31" name="Text 22"/>
          <p:cNvSpPr txBox="1"/>
          <p:nvPr/>
        </p:nvSpPr>
        <p:spPr>
          <a:xfrm>
            <a:off x="5486400" y="4114800"/>
            <a:ext cx="3200400" cy="548640"/>
          </a:xfrm>
          <a:prstGeom prst="rect">
            <a:avLst/>
          </a:prstGeom>
          <a:noFill/>
          <a:ln/>
        </p:spPr>
        <p:txBody>
          <a:bodyPr wrap="square" lIns="0" tIns="0" rIns="0" bIns="0" rtlCol="0" anchor="t"/>
          <a:lstStyle/>
          <a:p>
            <a:pPr indent="0" marL="0">
              <a:buNone/>
            </a:pPr>
            <a:r>
              <a:rPr lang="en-US" sz="1600" i="1" dirty="0">
                <a:solidFill>
                  <a:schemeClr val="accent1"/>
                </a:solidFill>
              </a:rPr>
              <a:t>Hospital decisions need data we can trust.</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Project Objectives</a:t>
            </a:r>
            <a:endParaRPr lang="en-US" sz="3000" dirty="0"/>
          </a:p>
        </p:txBody>
      </p:sp>
      <p:sp>
        <p:nvSpPr>
          <p:cNvPr id="4" name="Objective card 1"/>
          <p:cNvSpPr/>
          <p:nvPr/>
        </p:nvSpPr>
        <p:spPr>
          <a:xfrm>
            <a:off x="457200" y="1188720"/>
            <a:ext cx="4023360" cy="731520"/>
          </a:xfrm>
          <a:prstGeom prst="roundRect">
            <a:avLst>
              <a:gd name="adj" fmla="val 10000"/>
            </a:avLst>
          </a:prstGeom>
          <a:solidFill>
            <a:schemeClr val="bg2"/>
          </a:solidFill>
          <a:ln/>
        </p:spPr>
      </p:sp>
      <p:sp>
        <p:nvSpPr>
          <p:cNvPr id="5" name="Objective number 1"/>
          <p:cNvSpPr/>
          <p:nvPr/>
        </p:nvSpPr>
        <p:spPr>
          <a:xfrm>
            <a:off x="594360" y="1325880"/>
            <a:ext cx="457200" cy="457200"/>
          </a:xfrm>
          <a:prstGeom prst="ellipse">
            <a:avLst/>
          </a:prstGeom>
          <a:solidFill>
            <a:srgbClr val="0E8C99"/>
          </a:solidFill>
          <a:ln/>
        </p:spPr>
      </p:sp>
      <p:sp>
        <p:nvSpPr>
          <p:cNvPr id="6"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188720" y="1188720"/>
            <a:ext cx="3200400" cy="731520"/>
          </a:xfrm>
          <a:prstGeom prst="rect">
            <a:avLst/>
          </a:prstGeom>
          <a:noFill/>
          <a:ln/>
        </p:spPr>
        <p:txBody>
          <a:bodyPr wrap="square" lIns="0" tIns="0" rIns="0" bIns="0" rtlCol="0" anchor="ctr"/>
          <a:lstStyle/>
          <a:p>
            <a:pPr indent="0" marL="0">
              <a:buNone/>
            </a:pPr>
            <a:r>
              <a:rPr lang="en-US" sz="1400" dirty="0">
                <a:solidFill>
                  <a:schemeClr val="tx1"/>
                </a:solidFill>
              </a:rPr>
              <a:t>Collect and organize hospital data</a:t>
            </a:r>
            <a:endParaRPr lang="en-US" sz="1400" dirty="0"/>
          </a:p>
        </p:txBody>
      </p:sp>
      <p:sp>
        <p:nvSpPr>
          <p:cNvPr id="8" name="Objective card 2"/>
          <p:cNvSpPr/>
          <p:nvPr/>
        </p:nvSpPr>
        <p:spPr>
          <a:xfrm>
            <a:off x="457200" y="2057400"/>
            <a:ext cx="4023360" cy="731520"/>
          </a:xfrm>
          <a:prstGeom prst="roundRect">
            <a:avLst>
              <a:gd name="adj" fmla="val 10000"/>
            </a:avLst>
          </a:prstGeom>
          <a:solidFill>
            <a:schemeClr val="bg2"/>
          </a:solidFill>
          <a:ln/>
        </p:spPr>
      </p:sp>
      <p:sp>
        <p:nvSpPr>
          <p:cNvPr id="9" name="Objective number 2"/>
          <p:cNvSpPr/>
          <p:nvPr/>
        </p:nvSpPr>
        <p:spPr>
          <a:xfrm>
            <a:off x="594360" y="2194560"/>
            <a:ext cx="457200" cy="457200"/>
          </a:xfrm>
          <a:prstGeom prst="ellipse">
            <a:avLst/>
          </a:prstGeom>
          <a:solidFill>
            <a:srgbClr val="0E8C99"/>
          </a:solidFill>
          <a:ln/>
        </p:spPr>
      </p:sp>
      <p:sp>
        <p:nvSpPr>
          <p:cNvPr id="10" name="Text 7"/>
          <p:cNvSpPr txBox="1"/>
          <p:nvPr/>
        </p:nvSpPr>
        <p:spPr>
          <a:xfrm>
            <a:off x="594360" y="2194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1188720" y="2057400"/>
            <a:ext cx="3200400" cy="731520"/>
          </a:xfrm>
          <a:prstGeom prst="rect">
            <a:avLst/>
          </a:prstGeom>
          <a:noFill/>
          <a:ln/>
        </p:spPr>
        <p:txBody>
          <a:bodyPr wrap="square" lIns="0" tIns="0" rIns="0" bIns="0" rtlCol="0" anchor="ctr"/>
          <a:lstStyle/>
          <a:p>
            <a:pPr indent="0" marL="0">
              <a:buNone/>
            </a:pPr>
            <a:r>
              <a:rPr lang="en-US" sz="1400" dirty="0">
                <a:solidFill>
                  <a:schemeClr val="tx1"/>
                </a:solidFill>
              </a:rPr>
              <a:t>Detect data-quality problems</a:t>
            </a:r>
            <a:endParaRPr lang="en-US" sz="1400" dirty="0"/>
          </a:p>
        </p:txBody>
      </p:sp>
      <p:sp>
        <p:nvSpPr>
          <p:cNvPr id="12" name="Objective card 3"/>
          <p:cNvSpPr/>
          <p:nvPr/>
        </p:nvSpPr>
        <p:spPr>
          <a:xfrm>
            <a:off x="457200" y="2926080"/>
            <a:ext cx="4023360" cy="731520"/>
          </a:xfrm>
          <a:prstGeom prst="roundRect">
            <a:avLst>
              <a:gd name="adj" fmla="val 10000"/>
            </a:avLst>
          </a:prstGeom>
          <a:solidFill>
            <a:schemeClr val="bg2"/>
          </a:solidFill>
          <a:ln/>
        </p:spPr>
      </p:sp>
      <p:sp>
        <p:nvSpPr>
          <p:cNvPr id="13" name="Objective number 3"/>
          <p:cNvSpPr/>
          <p:nvPr/>
        </p:nvSpPr>
        <p:spPr>
          <a:xfrm>
            <a:off x="594360" y="3063240"/>
            <a:ext cx="457200" cy="457200"/>
          </a:xfrm>
          <a:prstGeom prst="ellipse">
            <a:avLst/>
          </a:prstGeom>
          <a:solidFill>
            <a:srgbClr val="0E8C99"/>
          </a:solidFill>
          <a:ln/>
        </p:spPr>
      </p:sp>
      <p:sp>
        <p:nvSpPr>
          <p:cNvPr id="14" name="Text 11"/>
          <p:cNvSpPr txBox="1"/>
          <p:nvPr/>
        </p:nvSpPr>
        <p:spPr>
          <a:xfrm>
            <a:off x="59436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188720" y="2926080"/>
            <a:ext cx="3200400" cy="731520"/>
          </a:xfrm>
          <a:prstGeom prst="rect">
            <a:avLst/>
          </a:prstGeom>
          <a:noFill/>
          <a:ln/>
        </p:spPr>
        <p:txBody>
          <a:bodyPr wrap="square" lIns="0" tIns="0" rIns="0" bIns="0" rtlCol="0" anchor="ctr"/>
          <a:lstStyle/>
          <a:p>
            <a:pPr indent="0" marL="0">
              <a:buNone/>
            </a:pPr>
            <a:r>
              <a:rPr lang="en-US" sz="1400" dirty="0">
                <a:solidFill>
                  <a:schemeClr val="tx1"/>
                </a:solidFill>
              </a:rPr>
              <a:t>Clean and standardize the data</a:t>
            </a:r>
            <a:endParaRPr lang="en-US" sz="1400" dirty="0"/>
          </a:p>
        </p:txBody>
      </p:sp>
      <p:sp>
        <p:nvSpPr>
          <p:cNvPr id="16" name="Objective card 4"/>
          <p:cNvSpPr/>
          <p:nvPr/>
        </p:nvSpPr>
        <p:spPr>
          <a:xfrm>
            <a:off x="457200" y="3794760"/>
            <a:ext cx="4023360" cy="731520"/>
          </a:xfrm>
          <a:prstGeom prst="roundRect">
            <a:avLst>
              <a:gd name="adj" fmla="val 10000"/>
            </a:avLst>
          </a:prstGeom>
          <a:solidFill>
            <a:schemeClr val="bg2"/>
          </a:solidFill>
          <a:ln/>
        </p:spPr>
      </p:sp>
      <p:sp>
        <p:nvSpPr>
          <p:cNvPr id="17" name="Objective number 4"/>
          <p:cNvSpPr/>
          <p:nvPr/>
        </p:nvSpPr>
        <p:spPr>
          <a:xfrm>
            <a:off x="594360" y="3931920"/>
            <a:ext cx="457200" cy="457200"/>
          </a:xfrm>
          <a:prstGeom prst="ellipse">
            <a:avLst/>
          </a:prstGeom>
          <a:solidFill>
            <a:srgbClr val="0E8C99"/>
          </a:solidFill>
          <a:ln/>
        </p:spPr>
      </p:sp>
      <p:sp>
        <p:nvSpPr>
          <p:cNvPr id="18" name="Text 15"/>
          <p:cNvSpPr txBox="1"/>
          <p:nvPr/>
        </p:nvSpPr>
        <p:spPr>
          <a:xfrm>
            <a:off x="59436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188720" y="3794760"/>
            <a:ext cx="3200400" cy="731520"/>
          </a:xfrm>
          <a:prstGeom prst="rect">
            <a:avLst/>
          </a:prstGeom>
          <a:noFill/>
          <a:ln/>
        </p:spPr>
        <p:txBody>
          <a:bodyPr wrap="square" lIns="0" tIns="0" rIns="0" bIns="0" rtlCol="0" anchor="ctr"/>
          <a:lstStyle/>
          <a:p>
            <a:pPr indent="0" marL="0">
              <a:buNone/>
            </a:pPr>
            <a:r>
              <a:rPr lang="en-US" sz="1400" dirty="0">
                <a:solidFill>
                  <a:schemeClr val="tx1"/>
                </a:solidFill>
              </a:rPr>
              <a:t>Perform exploratory data analysis</a:t>
            </a:r>
            <a:endParaRPr lang="en-US" sz="1400" dirty="0"/>
          </a:p>
        </p:txBody>
      </p:sp>
      <p:sp>
        <p:nvSpPr>
          <p:cNvPr id="20" name="Objective card 5"/>
          <p:cNvSpPr/>
          <p:nvPr/>
        </p:nvSpPr>
        <p:spPr>
          <a:xfrm>
            <a:off x="4663440" y="1188720"/>
            <a:ext cx="4023360" cy="731520"/>
          </a:xfrm>
          <a:prstGeom prst="roundRect">
            <a:avLst>
              <a:gd name="adj" fmla="val 10000"/>
            </a:avLst>
          </a:prstGeom>
          <a:solidFill>
            <a:schemeClr val="bg2"/>
          </a:solidFill>
          <a:ln/>
        </p:spPr>
      </p:sp>
      <p:sp>
        <p:nvSpPr>
          <p:cNvPr id="21" name="Objective number 5"/>
          <p:cNvSpPr/>
          <p:nvPr/>
        </p:nvSpPr>
        <p:spPr>
          <a:xfrm>
            <a:off x="4800600" y="1325880"/>
            <a:ext cx="457200" cy="457200"/>
          </a:xfrm>
          <a:prstGeom prst="ellipse">
            <a:avLst/>
          </a:prstGeom>
          <a:solidFill>
            <a:srgbClr val="0E8C99"/>
          </a:solidFill>
          <a:ln/>
        </p:spPr>
      </p:sp>
      <p:sp>
        <p:nvSpPr>
          <p:cNvPr id="22" name="Text 19"/>
          <p:cNvSpPr txBox="1"/>
          <p:nvPr/>
        </p:nvSpPr>
        <p:spPr>
          <a:xfrm>
            <a:off x="4800600" y="1325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Text 20"/>
          <p:cNvSpPr txBox="1"/>
          <p:nvPr/>
        </p:nvSpPr>
        <p:spPr>
          <a:xfrm>
            <a:off x="5394960" y="1188720"/>
            <a:ext cx="3200400" cy="731520"/>
          </a:xfrm>
          <a:prstGeom prst="rect">
            <a:avLst/>
          </a:prstGeom>
          <a:noFill/>
          <a:ln/>
        </p:spPr>
        <p:txBody>
          <a:bodyPr wrap="square" lIns="0" tIns="0" rIns="0" bIns="0" rtlCol="0" anchor="ctr"/>
          <a:lstStyle/>
          <a:p>
            <a:pPr indent="0" marL="0">
              <a:buNone/>
            </a:pPr>
            <a:r>
              <a:rPr lang="en-US" sz="1400" dirty="0">
                <a:solidFill>
                  <a:schemeClr val="tx1"/>
                </a:solidFill>
              </a:rPr>
              <a:t>Store data in a relational database</a:t>
            </a:r>
            <a:endParaRPr lang="en-US" sz="1400" dirty="0"/>
          </a:p>
        </p:txBody>
      </p:sp>
      <p:sp>
        <p:nvSpPr>
          <p:cNvPr id="24" name="Objective card 6"/>
          <p:cNvSpPr/>
          <p:nvPr/>
        </p:nvSpPr>
        <p:spPr>
          <a:xfrm>
            <a:off x="4663440" y="2057400"/>
            <a:ext cx="4023360" cy="731520"/>
          </a:xfrm>
          <a:prstGeom prst="roundRect">
            <a:avLst>
              <a:gd name="adj" fmla="val 10000"/>
            </a:avLst>
          </a:prstGeom>
          <a:solidFill>
            <a:schemeClr val="bg2"/>
          </a:solidFill>
          <a:ln/>
        </p:spPr>
      </p:sp>
      <p:sp>
        <p:nvSpPr>
          <p:cNvPr id="25" name="Objective number 6"/>
          <p:cNvSpPr/>
          <p:nvPr/>
        </p:nvSpPr>
        <p:spPr>
          <a:xfrm>
            <a:off x="4800600" y="2194560"/>
            <a:ext cx="457200" cy="457200"/>
          </a:xfrm>
          <a:prstGeom prst="ellipse">
            <a:avLst/>
          </a:prstGeom>
          <a:solidFill>
            <a:srgbClr val="0E8C99"/>
          </a:solidFill>
          <a:ln/>
        </p:spPr>
      </p:sp>
      <p:sp>
        <p:nvSpPr>
          <p:cNvPr id="26" name="Text 23"/>
          <p:cNvSpPr txBox="1"/>
          <p:nvPr/>
        </p:nvSpPr>
        <p:spPr>
          <a:xfrm>
            <a:off x="4800600" y="2194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7" name="Text 24"/>
          <p:cNvSpPr txBox="1"/>
          <p:nvPr/>
        </p:nvSpPr>
        <p:spPr>
          <a:xfrm>
            <a:off x="5394960" y="2057400"/>
            <a:ext cx="3200400" cy="731520"/>
          </a:xfrm>
          <a:prstGeom prst="rect">
            <a:avLst/>
          </a:prstGeom>
          <a:noFill/>
          <a:ln/>
        </p:spPr>
        <p:txBody>
          <a:bodyPr wrap="square" lIns="0" tIns="0" rIns="0" bIns="0" rtlCol="0" anchor="ctr"/>
          <a:lstStyle/>
          <a:p>
            <a:pPr indent="0" marL="0">
              <a:buNone/>
            </a:pPr>
            <a:r>
              <a:rPr lang="en-US" sz="1400" dirty="0">
                <a:solidFill>
                  <a:schemeClr val="tx1"/>
                </a:solidFill>
              </a:rPr>
              <a:t>Create useful hospital KPIs</a:t>
            </a:r>
            <a:endParaRPr lang="en-US" sz="1400" dirty="0"/>
          </a:p>
        </p:txBody>
      </p:sp>
      <p:sp>
        <p:nvSpPr>
          <p:cNvPr id="28" name="Objective card 7"/>
          <p:cNvSpPr/>
          <p:nvPr/>
        </p:nvSpPr>
        <p:spPr>
          <a:xfrm>
            <a:off x="4663440" y="2926080"/>
            <a:ext cx="4023360" cy="731520"/>
          </a:xfrm>
          <a:prstGeom prst="roundRect">
            <a:avLst>
              <a:gd name="adj" fmla="val 10000"/>
            </a:avLst>
          </a:prstGeom>
          <a:solidFill>
            <a:schemeClr val="bg2"/>
          </a:solidFill>
          <a:ln/>
        </p:spPr>
      </p:sp>
      <p:sp>
        <p:nvSpPr>
          <p:cNvPr id="29" name="Objective number 7"/>
          <p:cNvSpPr/>
          <p:nvPr/>
        </p:nvSpPr>
        <p:spPr>
          <a:xfrm>
            <a:off x="4800600" y="3063240"/>
            <a:ext cx="457200" cy="457200"/>
          </a:xfrm>
          <a:prstGeom prst="ellipse">
            <a:avLst/>
          </a:prstGeom>
          <a:solidFill>
            <a:srgbClr val="0E8C99"/>
          </a:solidFill>
          <a:ln/>
        </p:spPr>
      </p:sp>
      <p:sp>
        <p:nvSpPr>
          <p:cNvPr id="30" name="Text 27"/>
          <p:cNvSpPr txBox="1"/>
          <p:nvPr/>
        </p:nvSpPr>
        <p:spPr>
          <a:xfrm>
            <a:off x="4800600" y="3063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1" name="Text 28"/>
          <p:cNvSpPr txBox="1"/>
          <p:nvPr/>
        </p:nvSpPr>
        <p:spPr>
          <a:xfrm>
            <a:off x="5394960" y="2926080"/>
            <a:ext cx="3200400" cy="731520"/>
          </a:xfrm>
          <a:prstGeom prst="rect">
            <a:avLst/>
          </a:prstGeom>
          <a:noFill/>
          <a:ln/>
        </p:spPr>
        <p:txBody>
          <a:bodyPr wrap="square" lIns="0" tIns="0" rIns="0" bIns="0" rtlCol="0" anchor="ctr"/>
          <a:lstStyle/>
          <a:p>
            <a:pPr indent="0" marL="0">
              <a:buNone/>
            </a:pPr>
            <a:r>
              <a:rPr lang="en-US" sz="1400" dirty="0">
                <a:solidFill>
                  <a:schemeClr val="tx1"/>
                </a:solidFill>
              </a:rPr>
              <a:t>Build an interactive dashboard</a:t>
            </a:r>
            <a:endParaRPr lang="en-US" sz="1400" dirty="0"/>
          </a:p>
        </p:txBody>
      </p:sp>
      <p:sp>
        <p:nvSpPr>
          <p:cNvPr id="32" name="Objective card 8"/>
          <p:cNvSpPr/>
          <p:nvPr/>
        </p:nvSpPr>
        <p:spPr>
          <a:xfrm>
            <a:off x="4663440" y="3794760"/>
            <a:ext cx="4023360" cy="731520"/>
          </a:xfrm>
          <a:prstGeom prst="roundRect">
            <a:avLst>
              <a:gd name="adj" fmla="val 10000"/>
            </a:avLst>
          </a:prstGeom>
          <a:solidFill>
            <a:schemeClr val="bg2"/>
          </a:solidFill>
          <a:ln/>
        </p:spPr>
      </p:sp>
      <p:sp>
        <p:nvSpPr>
          <p:cNvPr id="33" name="Objective number 8"/>
          <p:cNvSpPr/>
          <p:nvPr/>
        </p:nvSpPr>
        <p:spPr>
          <a:xfrm>
            <a:off x="4800600" y="3931920"/>
            <a:ext cx="457200" cy="457200"/>
          </a:xfrm>
          <a:prstGeom prst="ellipse">
            <a:avLst/>
          </a:prstGeom>
          <a:solidFill>
            <a:srgbClr val="0E8C99"/>
          </a:solidFill>
          <a:ln/>
        </p:spPr>
      </p:sp>
      <p:sp>
        <p:nvSpPr>
          <p:cNvPr id="34" name="Text 31"/>
          <p:cNvSpPr txBox="1"/>
          <p:nvPr/>
        </p:nvSpPr>
        <p:spPr>
          <a:xfrm>
            <a:off x="480060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35" name="Text 32"/>
          <p:cNvSpPr txBox="1"/>
          <p:nvPr/>
        </p:nvSpPr>
        <p:spPr>
          <a:xfrm>
            <a:off x="5394960" y="3794760"/>
            <a:ext cx="3200400" cy="731520"/>
          </a:xfrm>
          <a:prstGeom prst="rect">
            <a:avLst/>
          </a:prstGeom>
          <a:noFill/>
          <a:ln/>
        </p:spPr>
        <p:txBody>
          <a:bodyPr wrap="square" lIns="0" tIns="0" rIns="0" bIns="0" rtlCol="0" anchor="ctr"/>
          <a:lstStyle/>
          <a:p>
            <a:pPr indent="0" marL="0">
              <a:buNone/>
            </a:pPr>
            <a:r>
              <a:rPr lang="en-US" sz="1400" dirty="0">
                <a:solidFill>
                  <a:schemeClr val="tx1"/>
                </a:solidFill>
              </a:rPr>
              <a:t>Support data-driven decisions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System Architecture</a:t>
            </a:r>
            <a:endParaRPr lang="en-US" sz="3000" dirty="0"/>
          </a:p>
        </p:txBody>
      </p:sp>
      <p:sp>
        <p:nvSpPr>
          <p:cNvPr id="4" name="Stage 1"/>
          <p:cNvSpPr/>
          <p:nvPr/>
        </p:nvSpPr>
        <p:spPr>
          <a:xfrm>
            <a:off x="457200" y="1188720"/>
            <a:ext cx="1737360" cy="822960"/>
          </a:xfrm>
          <a:prstGeom prst="roundRect">
            <a:avLst>
              <a:gd name="adj" fmla="val 8889"/>
            </a:avLst>
          </a:prstGeom>
          <a:solidFill>
            <a:schemeClr val="bg2"/>
          </a:solidFill>
          <a:ln/>
        </p:spPr>
      </p:sp>
      <p:sp>
        <p:nvSpPr>
          <p:cNvPr id="5" name="Text 2"/>
          <p:cNvSpPr txBox="1"/>
          <p:nvPr/>
        </p:nvSpPr>
        <p:spPr>
          <a:xfrm>
            <a:off x="548640" y="1188720"/>
            <a:ext cx="1554480" cy="822960"/>
          </a:xfrm>
          <a:prstGeom prst="rect">
            <a:avLst/>
          </a:prstGeom>
          <a:noFill/>
          <a:ln/>
        </p:spPr>
        <p:txBody>
          <a:bodyPr wrap="square" lIns="0" tIns="0" rIns="0" bIns="0" rtlCol="0" anchor="ctr"/>
          <a:lstStyle/>
          <a:p>
            <a:pPr algn="ctr" indent="0" marL="0">
              <a:buNone/>
            </a:pPr>
            <a:r>
              <a:rPr lang="en-US" sz="1400" b="1" dirty="0">
                <a:solidFill>
                  <a:schemeClr val="tx2"/>
                </a:solidFill>
              </a:rPr>
              <a:t>Raw CSV files</a:t>
            </a:r>
            <a:endParaRPr lang="en-US" sz="1400" dirty="0"/>
          </a:p>
        </p:txBody>
      </p:sp>
      <p:sp>
        <p:nvSpPr>
          <p:cNvPr id="6" name="Arrow 1"/>
          <p:cNvSpPr/>
          <p:nvPr/>
        </p:nvSpPr>
        <p:spPr>
          <a:xfrm>
            <a:off x="2221992" y="1600200"/>
            <a:ext cx="356616" cy="0"/>
          </a:xfrm>
          <a:prstGeom prst="line">
            <a:avLst/>
          </a:prstGeom>
          <a:noFill/>
          <a:ln w="25400">
            <a:solidFill>
              <a:srgbClr val="0E8C99"/>
            </a:solidFill>
            <a:prstDash val="solid"/>
            <a:tailEnd type="triangle"/>
          </a:ln>
        </p:spPr>
      </p:sp>
      <p:sp>
        <p:nvSpPr>
          <p:cNvPr id="7" name="Stage 2"/>
          <p:cNvSpPr/>
          <p:nvPr/>
        </p:nvSpPr>
        <p:spPr>
          <a:xfrm>
            <a:off x="2606040" y="1188720"/>
            <a:ext cx="1737360" cy="822960"/>
          </a:xfrm>
          <a:prstGeom prst="roundRect">
            <a:avLst>
              <a:gd name="adj" fmla="val 8889"/>
            </a:avLst>
          </a:prstGeom>
          <a:solidFill>
            <a:schemeClr val="bg2"/>
          </a:solidFill>
          <a:ln/>
        </p:spPr>
      </p:sp>
      <p:sp>
        <p:nvSpPr>
          <p:cNvPr id="8" name="Text 5"/>
          <p:cNvSpPr txBox="1"/>
          <p:nvPr/>
        </p:nvSpPr>
        <p:spPr>
          <a:xfrm>
            <a:off x="2697480" y="1188720"/>
            <a:ext cx="1554480" cy="822960"/>
          </a:xfrm>
          <a:prstGeom prst="rect">
            <a:avLst/>
          </a:prstGeom>
          <a:noFill/>
          <a:ln/>
        </p:spPr>
        <p:txBody>
          <a:bodyPr wrap="square" lIns="0" tIns="0" rIns="0" bIns="0" rtlCol="0" anchor="ctr"/>
          <a:lstStyle/>
          <a:p>
            <a:pPr algn="ctr" indent="0" marL="0">
              <a:buNone/>
            </a:pPr>
            <a:r>
              <a:rPr lang="en-US" sz="1400" b="1" dirty="0">
                <a:solidFill>
                  <a:schemeClr val="tx2"/>
                </a:solidFill>
              </a:rPr>
              <a:t>Data-quality checks</a:t>
            </a:r>
            <a:endParaRPr lang="en-US" sz="1400" dirty="0"/>
          </a:p>
        </p:txBody>
      </p:sp>
      <p:sp>
        <p:nvSpPr>
          <p:cNvPr id="9" name="Arrow 2"/>
          <p:cNvSpPr/>
          <p:nvPr/>
        </p:nvSpPr>
        <p:spPr>
          <a:xfrm>
            <a:off x="4370832" y="1600200"/>
            <a:ext cx="356616" cy="0"/>
          </a:xfrm>
          <a:prstGeom prst="line">
            <a:avLst/>
          </a:prstGeom>
          <a:noFill/>
          <a:ln w="25400">
            <a:solidFill>
              <a:srgbClr val="0E8C99"/>
            </a:solidFill>
            <a:prstDash val="solid"/>
            <a:tailEnd type="triangle"/>
          </a:ln>
        </p:spPr>
      </p:sp>
      <p:sp>
        <p:nvSpPr>
          <p:cNvPr id="10" name="Stage 3"/>
          <p:cNvSpPr/>
          <p:nvPr/>
        </p:nvSpPr>
        <p:spPr>
          <a:xfrm>
            <a:off x="4754880" y="1188720"/>
            <a:ext cx="1737360" cy="822960"/>
          </a:xfrm>
          <a:prstGeom prst="roundRect">
            <a:avLst>
              <a:gd name="adj" fmla="val 8889"/>
            </a:avLst>
          </a:prstGeom>
          <a:solidFill>
            <a:schemeClr val="bg2"/>
          </a:solidFill>
          <a:ln/>
        </p:spPr>
      </p:sp>
      <p:sp>
        <p:nvSpPr>
          <p:cNvPr id="11" name="Text 8"/>
          <p:cNvSpPr txBox="1"/>
          <p:nvPr/>
        </p:nvSpPr>
        <p:spPr>
          <a:xfrm>
            <a:off x="4846320" y="1188720"/>
            <a:ext cx="1554480" cy="822960"/>
          </a:xfrm>
          <a:prstGeom prst="rect">
            <a:avLst/>
          </a:prstGeom>
          <a:noFill/>
          <a:ln/>
        </p:spPr>
        <p:txBody>
          <a:bodyPr wrap="square" lIns="0" tIns="0" rIns="0" bIns="0" rtlCol="0" anchor="ctr"/>
          <a:lstStyle/>
          <a:p>
            <a:pPr algn="ctr" indent="0" marL="0">
              <a:buNone/>
            </a:pPr>
            <a:r>
              <a:rPr lang="en-US" sz="1400" b="1" dirty="0">
                <a:solidFill>
                  <a:schemeClr val="tx2"/>
                </a:solidFill>
              </a:rPr>
              <a:t>Pandas cleaning</a:t>
            </a:r>
            <a:endParaRPr lang="en-US" sz="1400" dirty="0"/>
          </a:p>
        </p:txBody>
      </p:sp>
      <p:sp>
        <p:nvSpPr>
          <p:cNvPr id="12" name="Arrow 3"/>
          <p:cNvSpPr/>
          <p:nvPr/>
        </p:nvSpPr>
        <p:spPr>
          <a:xfrm>
            <a:off x="6519672" y="1600200"/>
            <a:ext cx="356616" cy="0"/>
          </a:xfrm>
          <a:prstGeom prst="line">
            <a:avLst/>
          </a:prstGeom>
          <a:noFill/>
          <a:ln w="25400">
            <a:solidFill>
              <a:srgbClr val="0E8C99"/>
            </a:solidFill>
            <a:prstDash val="solid"/>
            <a:tailEnd type="triangle"/>
          </a:ln>
        </p:spPr>
      </p:sp>
      <p:sp>
        <p:nvSpPr>
          <p:cNvPr id="13" name="Stage 4"/>
          <p:cNvSpPr/>
          <p:nvPr/>
        </p:nvSpPr>
        <p:spPr>
          <a:xfrm>
            <a:off x="6903720" y="1188720"/>
            <a:ext cx="1737360" cy="822960"/>
          </a:xfrm>
          <a:prstGeom prst="roundRect">
            <a:avLst>
              <a:gd name="adj" fmla="val 8889"/>
            </a:avLst>
          </a:prstGeom>
          <a:solidFill>
            <a:srgbClr val="0E8C99"/>
          </a:solidFill>
          <a:ln/>
        </p:spPr>
      </p:sp>
      <p:sp>
        <p:nvSpPr>
          <p:cNvPr id="14" name="Text 11"/>
          <p:cNvSpPr txBox="1"/>
          <p:nvPr/>
        </p:nvSpPr>
        <p:spPr>
          <a:xfrm>
            <a:off x="6995160" y="1188720"/>
            <a:ext cx="1554480" cy="822960"/>
          </a:xfrm>
          <a:prstGeom prst="rect">
            <a:avLst/>
          </a:prstGeom>
          <a:noFill/>
          <a:ln/>
        </p:spPr>
        <p:txBody>
          <a:bodyPr wrap="square" lIns="0" tIns="0" rIns="0" bIns="0" rtlCol="0" anchor="ctr"/>
          <a:lstStyle/>
          <a:p>
            <a:pPr algn="ctr" indent="0" marL="0">
              <a:buNone/>
            </a:pPr>
            <a:r>
              <a:rPr lang="en-US" sz="1400" b="1" dirty="0">
                <a:solidFill>
                  <a:schemeClr val="bg1"/>
                </a:solidFill>
              </a:rPr>
              <a:t>Cleaned CSV files</a:t>
            </a:r>
            <a:endParaRPr lang="en-US" sz="1400" dirty="0"/>
          </a:p>
        </p:txBody>
      </p:sp>
      <p:sp>
        <p:nvSpPr>
          <p:cNvPr id="15" name="Bus drop"/>
          <p:cNvSpPr/>
          <p:nvPr/>
        </p:nvSpPr>
        <p:spPr>
          <a:xfrm>
            <a:off x="7772400" y="2011680"/>
            <a:ext cx="0" cy="365760"/>
          </a:xfrm>
          <a:prstGeom prst="line">
            <a:avLst/>
          </a:prstGeom>
          <a:noFill/>
          <a:ln w="25400">
            <a:solidFill>
              <a:srgbClr val="0E8C99"/>
            </a:solidFill>
            <a:prstDash val="solid"/>
          </a:ln>
        </p:spPr>
      </p:sp>
      <p:sp>
        <p:nvSpPr>
          <p:cNvPr id="16" name="Bus line"/>
          <p:cNvSpPr/>
          <p:nvPr/>
        </p:nvSpPr>
        <p:spPr>
          <a:xfrm>
            <a:off x="2011680" y="2377440"/>
            <a:ext cx="5760720" cy="0"/>
          </a:xfrm>
          <a:prstGeom prst="line">
            <a:avLst/>
          </a:prstGeom>
          <a:noFill/>
          <a:ln w="25400">
            <a:solidFill>
              <a:srgbClr val="0E8C99"/>
            </a:solidFill>
            <a:prstDash val="solid"/>
          </a:ln>
        </p:spPr>
      </p:sp>
      <p:sp>
        <p:nvSpPr>
          <p:cNvPr id="17" name="Bus arrow 1"/>
          <p:cNvSpPr/>
          <p:nvPr/>
        </p:nvSpPr>
        <p:spPr>
          <a:xfrm>
            <a:off x="2011680" y="2377440"/>
            <a:ext cx="0" cy="365760"/>
          </a:xfrm>
          <a:prstGeom prst="line">
            <a:avLst/>
          </a:prstGeom>
          <a:noFill/>
          <a:ln w="25400">
            <a:solidFill>
              <a:srgbClr val="0E8C99"/>
            </a:solidFill>
            <a:prstDash val="solid"/>
            <a:tailEnd type="triangle"/>
          </a:ln>
        </p:spPr>
      </p:sp>
      <p:sp>
        <p:nvSpPr>
          <p:cNvPr id="18" name="Output 1"/>
          <p:cNvSpPr/>
          <p:nvPr/>
        </p:nvSpPr>
        <p:spPr>
          <a:xfrm>
            <a:off x="1005840" y="2743200"/>
            <a:ext cx="2011680" cy="1143000"/>
          </a:xfrm>
          <a:prstGeom prst="roundRect">
            <a:avLst>
              <a:gd name="adj" fmla="val 6400"/>
            </a:avLst>
          </a:prstGeom>
          <a:solidFill>
            <a:schemeClr val="bg2"/>
          </a:solidFill>
          <a:ln/>
        </p:spPr>
      </p:sp>
      <p:sp>
        <p:nvSpPr>
          <p:cNvPr id="19" name="Text 16"/>
          <p:cNvSpPr txBox="1"/>
          <p:nvPr/>
        </p:nvSpPr>
        <p:spPr>
          <a:xfrm>
            <a:off x="1097280" y="2788920"/>
            <a:ext cx="1828800" cy="411480"/>
          </a:xfrm>
          <a:prstGeom prst="rect">
            <a:avLst/>
          </a:prstGeom>
          <a:noFill/>
          <a:ln/>
        </p:spPr>
        <p:txBody>
          <a:bodyPr wrap="square" lIns="0" tIns="0" rIns="0" bIns="0" rtlCol="0" anchor="ctr"/>
          <a:lstStyle/>
          <a:p>
            <a:pPr algn="ctr" indent="0" marL="0">
              <a:buNone/>
            </a:pPr>
            <a:r>
              <a:rPr lang="en-US" sz="1400" b="1" dirty="0">
                <a:solidFill>
                  <a:schemeClr val="tx2"/>
                </a:solidFill>
              </a:rPr>
              <a:t>EDA notebook</a:t>
            </a:r>
            <a:endParaRPr lang="en-US" sz="1400" dirty="0"/>
          </a:p>
        </p:txBody>
      </p:sp>
      <p:sp>
        <p:nvSpPr>
          <p:cNvPr id="20" name="Text 17"/>
          <p:cNvSpPr txBox="1"/>
          <p:nvPr/>
        </p:nvSpPr>
        <p:spPr>
          <a:xfrm>
            <a:off x="1115568" y="3200400"/>
            <a:ext cx="1792224" cy="640080"/>
          </a:xfrm>
          <a:prstGeom prst="rect">
            <a:avLst/>
          </a:prstGeom>
          <a:noFill/>
          <a:ln/>
        </p:spPr>
        <p:txBody>
          <a:bodyPr wrap="square" lIns="0" tIns="0" rIns="0" bIns="0" rtlCol="0" anchor="t"/>
          <a:lstStyle/>
          <a:p>
            <a:pPr algn="ctr" indent="0" marL="0">
              <a:buNone/>
            </a:pPr>
            <a:r>
              <a:rPr lang="en-US" sz="1200" dirty="0">
                <a:solidFill>
                  <a:schemeClr val="tx1"/>
                </a:solidFill>
              </a:rPr>
              <a:t>Pandas + Matplotlib charts</a:t>
            </a:r>
            <a:endParaRPr lang="en-US" sz="1200" dirty="0"/>
          </a:p>
        </p:txBody>
      </p:sp>
      <p:sp>
        <p:nvSpPr>
          <p:cNvPr id="21" name="Bus arrow 2"/>
          <p:cNvSpPr/>
          <p:nvPr/>
        </p:nvSpPr>
        <p:spPr>
          <a:xfrm>
            <a:off x="4846320" y="2377440"/>
            <a:ext cx="0" cy="365760"/>
          </a:xfrm>
          <a:prstGeom prst="line">
            <a:avLst/>
          </a:prstGeom>
          <a:noFill/>
          <a:ln w="25400">
            <a:solidFill>
              <a:srgbClr val="0E8C99"/>
            </a:solidFill>
            <a:prstDash val="solid"/>
            <a:tailEnd type="triangle"/>
          </a:ln>
        </p:spPr>
      </p:sp>
      <p:sp>
        <p:nvSpPr>
          <p:cNvPr id="22" name="Output 2"/>
          <p:cNvSpPr/>
          <p:nvPr/>
        </p:nvSpPr>
        <p:spPr>
          <a:xfrm>
            <a:off x="3840480" y="2743200"/>
            <a:ext cx="2011680" cy="1143000"/>
          </a:xfrm>
          <a:prstGeom prst="roundRect">
            <a:avLst>
              <a:gd name="adj" fmla="val 6400"/>
            </a:avLst>
          </a:prstGeom>
          <a:solidFill>
            <a:schemeClr val="bg2"/>
          </a:solidFill>
          <a:ln/>
        </p:spPr>
      </p:sp>
      <p:sp>
        <p:nvSpPr>
          <p:cNvPr id="23" name="Text 20"/>
          <p:cNvSpPr txBox="1"/>
          <p:nvPr/>
        </p:nvSpPr>
        <p:spPr>
          <a:xfrm>
            <a:off x="3931920" y="2788920"/>
            <a:ext cx="1828800" cy="411480"/>
          </a:xfrm>
          <a:prstGeom prst="rect">
            <a:avLst/>
          </a:prstGeom>
          <a:noFill/>
          <a:ln/>
        </p:spPr>
        <p:txBody>
          <a:bodyPr wrap="square" lIns="0" tIns="0" rIns="0" bIns="0" rtlCol="0" anchor="ctr"/>
          <a:lstStyle/>
          <a:p>
            <a:pPr algn="ctr" indent="0" marL="0">
              <a:buNone/>
            </a:pPr>
            <a:r>
              <a:rPr lang="en-US" sz="1400" b="1" dirty="0">
                <a:solidFill>
                  <a:schemeClr val="tx2"/>
                </a:solidFill>
              </a:rPr>
              <a:t>SQL Server database</a:t>
            </a:r>
            <a:endParaRPr lang="en-US" sz="1400" dirty="0"/>
          </a:p>
        </p:txBody>
      </p:sp>
      <p:sp>
        <p:nvSpPr>
          <p:cNvPr id="24" name="Text 21"/>
          <p:cNvSpPr txBox="1"/>
          <p:nvPr/>
        </p:nvSpPr>
        <p:spPr>
          <a:xfrm>
            <a:off x="3950208" y="3200400"/>
            <a:ext cx="1792224" cy="640080"/>
          </a:xfrm>
          <a:prstGeom prst="rect">
            <a:avLst/>
          </a:prstGeom>
          <a:noFill/>
          <a:ln/>
        </p:spPr>
        <p:txBody>
          <a:bodyPr wrap="square" lIns="0" tIns="0" rIns="0" bIns="0" rtlCol="0" anchor="t"/>
          <a:lstStyle/>
          <a:p>
            <a:pPr algn="ctr" indent="0" marL="0">
              <a:buNone/>
            </a:pPr>
            <a:r>
              <a:rPr lang="en-US" sz="1200" dirty="0">
                <a:solidFill>
                  <a:schemeClr val="tx1"/>
                </a:solidFill>
              </a:rPr>
              <a:t>12 tables, 4 views, 3 procedures, 8 queries</a:t>
            </a:r>
            <a:endParaRPr lang="en-US" sz="1200" dirty="0"/>
          </a:p>
        </p:txBody>
      </p:sp>
      <p:sp>
        <p:nvSpPr>
          <p:cNvPr id="25" name="Bus arrow 3"/>
          <p:cNvSpPr/>
          <p:nvPr/>
        </p:nvSpPr>
        <p:spPr>
          <a:xfrm>
            <a:off x="7772400" y="2377440"/>
            <a:ext cx="0" cy="365760"/>
          </a:xfrm>
          <a:prstGeom prst="line">
            <a:avLst/>
          </a:prstGeom>
          <a:noFill/>
          <a:ln w="25400">
            <a:solidFill>
              <a:srgbClr val="0E8C99"/>
            </a:solidFill>
            <a:prstDash val="solid"/>
            <a:tailEnd type="triangle"/>
          </a:ln>
        </p:spPr>
      </p:sp>
      <p:sp>
        <p:nvSpPr>
          <p:cNvPr id="26" name="Output 3"/>
          <p:cNvSpPr/>
          <p:nvPr/>
        </p:nvSpPr>
        <p:spPr>
          <a:xfrm>
            <a:off x="6766560" y="2743200"/>
            <a:ext cx="2011680" cy="1143000"/>
          </a:xfrm>
          <a:prstGeom prst="roundRect">
            <a:avLst>
              <a:gd name="adj" fmla="val 6400"/>
            </a:avLst>
          </a:prstGeom>
          <a:solidFill>
            <a:schemeClr val="bg2"/>
          </a:solidFill>
          <a:ln/>
        </p:spPr>
      </p:sp>
      <p:sp>
        <p:nvSpPr>
          <p:cNvPr id="27" name="Text 24"/>
          <p:cNvSpPr txBox="1"/>
          <p:nvPr/>
        </p:nvSpPr>
        <p:spPr>
          <a:xfrm>
            <a:off x="6858000" y="2788920"/>
            <a:ext cx="1828800" cy="411480"/>
          </a:xfrm>
          <a:prstGeom prst="rect">
            <a:avLst/>
          </a:prstGeom>
          <a:noFill/>
          <a:ln/>
        </p:spPr>
        <p:txBody>
          <a:bodyPr wrap="square" lIns="0" tIns="0" rIns="0" bIns="0" rtlCol="0" anchor="ctr"/>
          <a:lstStyle/>
          <a:p>
            <a:pPr algn="ctr" indent="0" marL="0">
              <a:buNone/>
            </a:pPr>
            <a:r>
              <a:rPr lang="en-US" sz="1400" b="1" dirty="0">
                <a:solidFill>
                  <a:schemeClr val="tx2"/>
                </a:solidFill>
              </a:rPr>
              <a:t>Streamlit app</a:t>
            </a:r>
            <a:endParaRPr lang="en-US" sz="1400" dirty="0"/>
          </a:p>
        </p:txBody>
      </p:sp>
      <p:sp>
        <p:nvSpPr>
          <p:cNvPr id="28" name="Text 25"/>
          <p:cNvSpPr txBox="1"/>
          <p:nvPr/>
        </p:nvSpPr>
        <p:spPr>
          <a:xfrm>
            <a:off x="6876288" y="3200400"/>
            <a:ext cx="1792224" cy="640080"/>
          </a:xfrm>
          <a:prstGeom prst="rect">
            <a:avLst/>
          </a:prstGeom>
          <a:noFill/>
          <a:ln/>
        </p:spPr>
        <p:txBody>
          <a:bodyPr wrap="square" lIns="0" tIns="0" rIns="0" bIns="0" rtlCol="0" anchor="t"/>
          <a:lstStyle/>
          <a:p>
            <a:pPr algn="ctr" indent="0" marL="0">
              <a:buNone/>
            </a:pPr>
            <a:r>
              <a:rPr lang="en-US" sz="1200" dirty="0">
                <a:solidFill>
                  <a:schemeClr val="tx1"/>
                </a:solidFill>
              </a:rPr>
              <a:t>13 pages with KPIs and charts</a:t>
            </a:r>
            <a:endParaRPr lang="en-US" sz="1200" dirty="0"/>
          </a:p>
        </p:txBody>
      </p:sp>
      <p:sp>
        <p:nvSpPr>
          <p:cNvPr id="29" name="Final result banner"/>
          <p:cNvSpPr/>
          <p:nvPr/>
        </p:nvSpPr>
        <p:spPr>
          <a:xfrm>
            <a:off x="457200" y="4160520"/>
            <a:ext cx="8229600" cy="502920"/>
          </a:xfrm>
          <a:prstGeom prst="roundRect">
            <a:avLst>
              <a:gd name="adj" fmla="val 14545"/>
            </a:avLst>
          </a:prstGeom>
          <a:solidFill>
            <a:srgbClr val="0B4F6C"/>
          </a:solidFill>
          <a:ln/>
        </p:spPr>
      </p:sp>
      <p:sp>
        <p:nvSpPr>
          <p:cNvPr id="30" name="Text 27"/>
          <p:cNvSpPr txBox="1"/>
          <p:nvPr/>
        </p:nvSpPr>
        <p:spPr>
          <a:xfrm>
            <a:off x="457200" y="4160520"/>
            <a:ext cx="8229600" cy="502920"/>
          </a:xfrm>
          <a:prstGeom prst="rect">
            <a:avLst/>
          </a:prstGeom>
          <a:noFill/>
          <a:ln/>
        </p:spPr>
        <p:txBody>
          <a:bodyPr wrap="square" lIns="0" tIns="0" rIns="0" bIns="0" rtlCol="0" anchor="ctr"/>
          <a:lstStyle/>
          <a:p>
            <a:pPr algn="ctr" indent="0" marL="0">
              <a:buNone/>
            </a:pPr>
            <a:r>
              <a:rPr lang="en-US" sz="1600" b="1" dirty="0">
                <a:solidFill>
                  <a:schemeClr val="bg1"/>
                </a:solidFill>
              </a:rPr>
              <a:t>Hospital analytics and KPIs</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Dataset: 12 Hospital Tables</a:t>
            </a:r>
            <a:endParaRPr lang="en-US" sz="3000" dirty="0"/>
          </a:p>
        </p:txBody>
      </p:sp>
      <p:sp>
        <p:nvSpPr>
          <p:cNvPr id="4" name="Table card Patients"/>
          <p:cNvSpPr/>
          <p:nvPr/>
        </p:nvSpPr>
        <p:spPr>
          <a:xfrm>
            <a:off x="457200" y="1143000"/>
            <a:ext cx="1920240" cy="960120"/>
          </a:xfrm>
          <a:prstGeom prst="roundRect">
            <a:avLst>
              <a:gd name="adj" fmla="val 7619"/>
            </a:avLst>
          </a:prstGeom>
          <a:solidFill>
            <a:schemeClr val="bg2"/>
          </a:solidFill>
          <a:ln/>
        </p:spPr>
      </p:sp>
      <p:sp>
        <p:nvSpPr>
          <p:cNvPr id="5" name="Patients circle"/>
          <p:cNvSpPr/>
          <p:nvPr/>
        </p:nvSpPr>
        <p:spPr>
          <a:xfrm>
            <a:off x="594360" y="1399032"/>
            <a:ext cx="457200" cy="457200"/>
          </a:xfrm>
          <a:prstGeom prst="ellipse">
            <a:avLst/>
          </a:prstGeom>
          <a:solidFill>
            <a:srgbClr val="0E8C99"/>
          </a:solidFill>
          <a:ln/>
        </p:spPr>
      </p:sp>
      <p:pic>
        <p:nvPicPr>
          <p:cNvPr id="6" name="Patients icon" descr="Patients">    </p:cNvPr>
          <p:cNvPicPr>
            <a:picLocks noChangeAspect="1"/>
          </p:cNvPicPr>
          <p:nvPr/>
        </p:nvPicPr>
        <p:blipFill>
          <a:blip r:embed="rId1"/>
          <a:stretch>
            <a:fillRect/>
          </a:stretch>
        </p:blipFill>
        <p:spPr>
          <a:xfrm>
            <a:off x="708660" y="1513332"/>
            <a:ext cx="228600" cy="228600"/>
          </a:xfrm>
          <a:prstGeom prst="rect">
            <a:avLst/>
          </a:prstGeom>
        </p:spPr>
      </p:pic>
      <p:sp>
        <p:nvSpPr>
          <p:cNvPr id="7" name="Text 3"/>
          <p:cNvSpPr txBox="1"/>
          <p:nvPr/>
        </p:nvSpPr>
        <p:spPr>
          <a:xfrm>
            <a:off x="1143000" y="128016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Patients</a:t>
            </a:r>
            <a:endParaRPr lang="en-US" sz="1400" dirty="0"/>
          </a:p>
        </p:txBody>
      </p:sp>
      <p:sp>
        <p:nvSpPr>
          <p:cNvPr id="8" name="Text 4"/>
          <p:cNvSpPr txBox="1"/>
          <p:nvPr/>
        </p:nvSpPr>
        <p:spPr>
          <a:xfrm>
            <a:off x="1143000" y="167335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1,200 rows</a:t>
            </a:r>
            <a:endParaRPr lang="en-US" sz="1200" dirty="0"/>
          </a:p>
        </p:txBody>
      </p:sp>
      <p:sp>
        <p:nvSpPr>
          <p:cNvPr id="9" name="Table card Employees"/>
          <p:cNvSpPr/>
          <p:nvPr/>
        </p:nvSpPr>
        <p:spPr>
          <a:xfrm>
            <a:off x="2560320" y="1143000"/>
            <a:ext cx="1920240" cy="960120"/>
          </a:xfrm>
          <a:prstGeom prst="roundRect">
            <a:avLst>
              <a:gd name="adj" fmla="val 7619"/>
            </a:avLst>
          </a:prstGeom>
          <a:solidFill>
            <a:schemeClr val="bg2"/>
          </a:solidFill>
          <a:ln/>
        </p:spPr>
      </p:sp>
      <p:sp>
        <p:nvSpPr>
          <p:cNvPr id="10" name="Employees circle"/>
          <p:cNvSpPr/>
          <p:nvPr/>
        </p:nvSpPr>
        <p:spPr>
          <a:xfrm>
            <a:off x="2697480" y="1399032"/>
            <a:ext cx="457200" cy="457200"/>
          </a:xfrm>
          <a:prstGeom prst="ellipse">
            <a:avLst/>
          </a:prstGeom>
          <a:solidFill>
            <a:srgbClr val="0E8C99"/>
          </a:solidFill>
          <a:ln/>
        </p:spPr>
      </p:sp>
      <p:pic>
        <p:nvPicPr>
          <p:cNvPr id="11" name="Employees icon" descr="Employees">    </p:cNvPr>
          <p:cNvPicPr>
            <a:picLocks noChangeAspect="1"/>
          </p:cNvPicPr>
          <p:nvPr/>
        </p:nvPicPr>
        <p:blipFill>
          <a:blip r:embed="rId2"/>
          <a:stretch>
            <a:fillRect/>
          </a:stretch>
        </p:blipFill>
        <p:spPr>
          <a:xfrm>
            <a:off x="2811780" y="1513332"/>
            <a:ext cx="228600" cy="228600"/>
          </a:xfrm>
          <a:prstGeom prst="rect">
            <a:avLst/>
          </a:prstGeom>
        </p:spPr>
      </p:pic>
      <p:sp>
        <p:nvSpPr>
          <p:cNvPr id="12" name="Text 7"/>
          <p:cNvSpPr txBox="1"/>
          <p:nvPr/>
        </p:nvSpPr>
        <p:spPr>
          <a:xfrm>
            <a:off x="3246120" y="128016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Employees</a:t>
            </a:r>
            <a:endParaRPr lang="en-US" sz="1400" dirty="0"/>
          </a:p>
        </p:txBody>
      </p:sp>
      <p:sp>
        <p:nvSpPr>
          <p:cNvPr id="13" name="Text 8"/>
          <p:cNvSpPr txBox="1"/>
          <p:nvPr/>
        </p:nvSpPr>
        <p:spPr>
          <a:xfrm>
            <a:off x="3246120" y="167335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520 rows</a:t>
            </a:r>
            <a:endParaRPr lang="en-US" sz="1200" dirty="0"/>
          </a:p>
        </p:txBody>
      </p:sp>
      <p:sp>
        <p:nvSpPr>
          <p:cNvPr id="14" name="Table card Departments"/>
          <p:cNvSpPr/>
          <p:nvPr/>
        </p:nvSpPr>
        <p:spPr>
          <a:xfrm>
            <a:off x="4663440" y="1143000"/>
            <a:ext cx="1920240" cy="960120"/>
          </a:xfrm>
          <a:prstGeom prst="roundRect">
            <a:avLst>
              <a:gd name="adj" fmla="val 7619"/>
            </a:avLst>
          </a:prstGeom>
          <a:solidFill>
            <a:schemeClr val="bg2"/>
          </a:solidFill>
          <a:ln/>
        </p:spPr>
      </p:sp>
      <p:sp>
        <p:nvSpPr>
          <p:cNvPr id="15" name="Departments circle"/>
          <p:cNvSpPr/>
          <p:nvPr/>
        </p:nvSpPr>
        <p:spPr>
          <a:xfrm>
            <a:off x="4800600" y="1399032"/>
            <a:ext cx="457200" cy="457200"/>
          </a:xfrm>
          <a:prstGeom prst="ellipse">
            <a:avLst/>
          </a:prstGeom>
          <a:solidFill>
            <a:srgbClr val="0E8C99"/>
          </a:solidFill>
          <a:ln/>
        </p:spPr>
      </p:sp>
      <p:pic>
        <p:nvPicPr>
          <p:cNvPr id="16" name="Departments icon" descr="Departments">    </p:cNvPr>
          <p:cNvPicPr>
            <a:picLocks noChangeAspect="1"/>
          </p:cNvPicPr>
          <p:nvPr/>
        </p:nvPicPr>
        <p:blipFill>
          <a:blip r:embed="rId3"/>
          <a:stretch>
            <a:fillRect/>
          </a:stretch>
        </p:blipFill>
        <p:spPr>
          <a:xfrm>
            <a:off x="4914900" y="1513332"/>
            <a:ext cx="228600" cy="228600"/>
          </a:xfrm>
          <a:prstGeom prst="rect">
            <a:avLst/>
          </a:prstGeom>
        </p:spPr>
      </p:pic>
      <p:sp>
        <p:nvSpPr>
          <p:cNvPr id="17" name="Text 11"/>
          <p:cNvSpPr txBox="1"/>
          <p:nvPr/>
        </p:nvSpPr>
        <p:spPr>
          <a:xfrm>
            <a:off x="5349240" y="128016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Departments</a:t>
            </a:r>
            <a:endParaRPr lang="en-US" sz="1400" dirty="0"/>
          </a:p>
        </p:txBody>
      </p:sp>
      <p:sp>
        <p:nvSpPr>
          <p:cNvPr id="18" name="Text 12"/>
          <p:cNvSpPr txBox="1"/>
          <p:nvPr/>
        </p:nvSpPr>
        <p:spPr>
          <a:xfrm>
            <a:off x="5349240" y="167335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12 rows</a:t>
            </a:r>
            <a:endParaRPr lang="en-US" sz="1200" dirty="0"/>
          </a:p>
        </p:txBody>
      </p:sp>
      <p:sp>
        <p:nvSpPr>
          <p:cNvPr id="19" name="Table card Rooms"/>
          <p:cNvSpPr/>
          <p:nvPr/>
        </p:nvSpPr>
        <p:spPr>
          <a:xfrm>
            <a:off x="6766560" y="1143000"/>
            <a:ext cx="1920240" cy="960120"/>
          </a:xfrm>
          <a:prstGeom prst="roundRect">
            <a:avLst>
              <a:gd name="adj" fmla="val 7619"/>
            </a:avLst>
          </a:prstGeom>
          <a:solidFill>
            <a:schemeClr val="bg2"/>
          </a:solidFill>
          <a:ln/>
        </p:spPr>
      </p:sp>
      <p:sp>
        <p:nvSpPr>
          <p:cNvPr id="20" name="Rooms circle"/>
          <p:cNvSpPr/>
          <p:nvPr/>
        </p:nvSpPr>
        <p:spPr>
          <a:xfrm>
            <a:off x="6903720" y="1399032"/>
            <a:ext cx="457200" cy="457200"/>
          </a:xfrm>
          <a:prstGeom prst="ellipse">
            <a:avLst/>
          </a:prstGeom>
          <a:solidFill>
            <a:srgbClr val="0E8C99"/>
          </a:solidFill>
          <a:ln/>
        </p:spPr>
      </p:sp>
      <p:pic>
        <p:nvPicPr>
          <p:cNvPr id="21" name="Rooms icon" descr="Rooms">    </p:cNvPr>
          <p:cNvPicPr>
            <a:picLocks noChangeAspect="1"/>
          </p:cNvPicPr>
          <p:nvPr/>
        </p:nvPicPr>
        <p:blipFill>
          <a:blip r:embed="rId4"/>
          <a:stretch>
            <a:fillRect/>
          </a:stretch>
        </p:blipFill>
        <p:spPr>
          <a:xfrm>
            <a:off x="7018020" y="1513332"/>
            <a:ext cx="228600" cy="228600"/>
          </a:xfrm>
          <a:prstGeom prst="rect">
            <a:avLst/>
          </a:prstGeom>
        </p:spPr>
      </p:pic>
      <p:sp>
        <p:nvSpPr>
          <p:cNvPr id="22" name="Text 15"/>
          <p:cNvSpPr txBox="1"/>
          <p:nvPr/>
        </p:nvSpPr>
        <p:spPr>
          <a:xfrm>
            <a:off x="7452360" y="128016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Rooms</a:t>
            </a:r>
            <a:endParaRPr lang="en-US" sz="1400" dirty="0"/>
          </a:p>
        </p:txBody>
      </p:sp>
      <p:sp>
        <p:nvSpPr>
          <p:cNvPr id="23" name="Text 16"/>
          <p:cNvSpPr txBox="1"/>
          <p:nvPr/>
        </p:nvSpPr>
        <p:spPr>
          <a:xfrm>
            <a:off x="7452360" y="167335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220 rows</a:t>
            </a:r>
            <a:endParaRPr lang="en-US" sz="1200" dirty="0"/>
          </a:p>
        </p:txBody>
      </p:sp>
      <p:sp>
        <p:nvSpPr>
          <p:cNvPr id="24" name="Table card Appointments"/>
          <p:cNvSpPr/>
          <p:nvPr/>
        </p:nvSpPr>
        <p:spPr>
          <a:xfrm>
            <a:off x="457200" y="2240280"/>
            <a:ext cx="1920240" cy="960120"/>
          </a:xfrm>
          <a:prstGeom prst="roundRect">
            <a:avLst>
              <a:gd name="adj" fmla="val 7619"/>
            </a:avLst>
          </a:prstGeom>
          <a:solidFill>
            <a:schemeClr val="bg2"/>
          </a:solidFill>
          <a:ln/>
        </p:spPr>
      </p:sp>
      <p:sp>
        <p:nvSpPr>
          <p:cNvPr id="25" name="Appointments circle"/>
          <p:cNvSpPr/>
          <p:nvPr/>
        </p:nvSpPr>
        <p:spPr>
          <a:xfrm>
            <a:off x="594360" y="2496312"/>
            <a:ext cx="457200" cy="457200"/>
          </a:xfrm>
          <a:prstGeom prst="ellipse">
            <a:avLst/>
          </a:prstGeom>
          <a:solidFill>
            <a:srgbClr val="0E8C99"/>
          </a:solidFill>
          <a:ln/>
        </p:spPr>
      </p:sp>
      <p:pic>
        <p:nvPicPr>
          <p:cNvPr id="26" name="Appointments icon" descr="Appointments">    </p:cNvPr>
          <p:cNvPicPr>
            <a:picLocks noChangeAspect="1"/>
          </p:cNvPicPr>
          <p:nvPr/>
        </p:nvPicPr>
        <p:blipFill>
          <a:blip r:embed="rId5"/>
          <a:stretch>
            <a:fillRect/>
          </a:stretch>
        </p:blipFill>
        <p:spPr>
          <a:xfrm>
            <a:off x="708660" y="2610612"/>
            <a:ext cx="228600" cy="228600"/>
          </a:xfrm>
          <a:prstGeom prst="rect">
            <a:avLst/>
          </a:prstGeom>
        </p:spPr>
      </p:pic>
      <p:sp>
        <p:nvSpPr>
          <p:cNvPr id="27" name="Text 19"/>
          <p:cNvSpPr txBox="1"/>
          <p:nvPr/>
        </p:nvSpPr>
        <p:spPr>
          <a:xfrm>
            <a:off x="1143000" y="237744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Appointments</a:t>
            </a:r>
            <a:endParaRPr lang="en-US" sz="1400" dirty="0"/>
          </a:p>
        </p:txBody>
      </p:sp>
      <p:sp>
        <p:nvSpPr>
          <p:cNvPr id="28" name="Text 20"/>
          <p:cNvSpPr txBox="1"/>
          <p:nvPr/>
        </p:nvSpPr>
        <p:spPr>
          <a:xfrm>
            <a:off x="1143000" y="277063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2,400 rows</a:t>
            </a:r>
            <a:endParaRPr lang="en-US" sz="1200" dirty="0"/>
          </a:p>
        </p:txBody>
      </p:sp>
      <p:sp>
        <p:nvSpPr>
          <p:cNvPr id="29" name="Table card Admissions"/>
          <p:cNvSpPr/>
          <p:nvPr/>
        </p:nvSpPr>
        <p:spPr>
          <a:xfrm>
            <a:off x="2560320" y="2240280"/>
            <a:ext cx="1920240" cy="960120"/>
          </a:xfrm>
          <a:prstGeom prst="roundRect">
            <a:avLst>
              <a:gd name="adj" fmla="val 7619"/>
            </a:avLst>
          </a:prstGeom>
          <a:solidFill>
            <a:schemeClr val="bg2"/>
          </a:solidFill>
          <a:ln/>
        </p:spPr>
      </p:sp>
      <p:sp>
        <p:nvSpPr>
          <p:cNvPr id="30" name="Admissions circle"/>
          <p:cNvSpPr/>
          <p:nvPr/>
        </p:nvSpPr>
        <p:spPr>
          <a:xfrm>
            <a:off x="2697480" y="2496312"/>
            <a:ext cx="457200" cy="457200"/>
          </a:xfrm>
          <a:prstGeom prst="ellipse">
            <a:avLst/>
          </a:prstGeom>
          <a:solidFill>
            <a:srgbClr val="0E8C99"/>
          </a:solidFill>
          <a:ln/>
        </p:spPr>
      </p:sp>
      <p:pic>
        <p:nvPicPr>
          <p:cNvPr id="31" name="Admissions icon" descr="Admissions">    </p:cNvPr>
          <p:cNvPicPr>
            <a:picLocks noChangeAspect="1"/>
          </p:cNvPicPr>
          <p:nvPr/>
        </p:nvPicPr>
        <p:blipFill>
          <a:blip r:embed="rId6"/>
          <a:stretch>
            <a:fillRect/>
          </a:stretch>
        </p:blipFill>
        <p:spPr>
          <a:xfrm>
            <a:off x="2811780" y="2610612"/>
            <a:ext cx="228600" cy="228600"/>
          </a:xfrm>
          <a:prstGeom prst="rect">
            <a:avLst/>
          </a:prstGeom>
        </p:spPr>
      </p:pic>
      <p:sp>
        <p:nvSpPr>
          <p:cNvPr id="32" name="Text 23"/>
          <p:cNvSpPr txBox="1"/>
          <p:nvPr/>
        </p:nvSpPr>
        <p:spPr>
          <a:xfrm>
            <a:off x="3246120" y="237744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Admissions</a:t>
            </a:r>
            <a:endParaRPr lang="en-US" sz="1400" dirty="0"/>
          </a:p>
        </p:txBody>
      </p:sp>
      <p:sp>
        <p:nvSpPr>
          <p:cNvPr id="33" name="Text 24"/>
          <p:cNvSpPr txBox="1"/>
          <p:nvPr/>
        </p:nvSpPr>
        <p:spPr>
          <a:xfrm>
            <a:off x="3246120" y="277063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650 rows</a:t>
            </a:r>
            <a:endParaRPr lang="en-US" sz="1200" dirty="0"/>
          </a:p>
        </p:txBody>
      </p:sp>
      <p:sp>
        <p:nvSpPr>
          <p:cNvPr id="34" name="Table card Medical Records"/>
          <p:cNvSpPr/>
          <p:nvPr/>
        </p:nvSpPr>
        <p:spPr>
          <a:xfrm>
            <a:off x="4663440" y="2240280"/>
            <a:ext cx="1920240" cy="960120"/>
          </a:xfrm>
          <a:prstGeom prst="roundRect">
            <a:avLst>
              <a:gd name="adj" fmla="val 7619"/>
            </a:avLst>
          </a:prstGeom>
          <a:solidFill>
            <a:schemeClr val="bg2"/>
          </a:solidFill>
          <a:ln/>
        </p:spPr>
      </p:sp>
      <p:sp>
        <p:nvSpPr>
          <p:cNvPr id="35" name="Medical Records circle"/>
          <p:cNvSpPr/>
          <p:nvPr/>
        </p:nvSpPr>
        <p:spPr>
          <a:xfrm>
            <a:off x="4800600" y="2496312"/>
            <a:ext cx="457200" cy="457200"/>
          </a:xfrm>
          <a:prstGeom prst="ellipse">
            <a:avLst/>
          </a:prstGeom>
          <a:solidFill>
            <a:srgbClr val="0E8C99"/>
          </a:solidFill>
          <a:ln/>
        </p:spPr>
      </p:sp>
      <p:pic>
        <p:nvPicPr>
          <p:cNvPr id="36" name="Medical Records icon" descr="Medical Records">    </p:cNvPr>
          <p:cNvPicPr>
            <a:picLocks noChangeAspect="1"/>
          </p:cNvPicPr>
          <p:nvPr/>
        </p:nvPicPr>
        <p:blipFill>
          <a:blip r:embed="rId7"/>
          <a:stretch>
            <a:fillRect/>
          </a:stretch>
        </p:blipFill>
        <p:spPr>
          <a:xfrm>
            <a:off x="4914900" y="2610612"/>
            <a:ext cx="228600" cy="228600"/>
          </a:xfrm>
          <a:prstGeom prst="rect">
            <a:avLst/>
          </a:prstGeom>
        </p:spPr>
      </p:pic>
      <p:sp>
        <p:nvSpPr>
          <p:cNvPr id="37" name="Text 27"/>
          <p:cNvSpPr txBox="1"/>
          <p:nvPr/>
        </p:nvSpPr>
        <p:spPr>
          <a:xfrm>
            <a:off x="5349240" y="237744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Medical Records</a:t>
            </a:r>
            <a:endParaRPr lang="en-US" sz="1400" dirty="0"/>
          </a:p>
        </p:txBody>
      </p:sp>
      <p:sp>
        <p:nvSpPr>
          <p:cNvPr id="38" name="Text 28"/>
          <p:cNvSpPr txBox="1"/>
          <p:nvPr/>
        </p:nvSpPr>
        <p:spPr>
          <a:xfrm>
            <a:off x="5349240" y="277063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1,800 rows</a:t>
            </a:r>
            <a:endParaRPr lang="en-US" sz="1200" dirty="0"/>
          </a:p>
        </p:txBody>
      </p:sp>
      <p:sp>
        <p:nvSpPr>
          <p:cNvPr id="39" name="Table card Prescriptions"/>
          <p:cNvSpPr/>
          <p:nvPr/>
        </p:nvSpPr>
        <p:spPr>
          <a:xfrm>
            <a:off x="6766560" y="2240280"/>
            <a:ext cx="1920240" cy="960120"/>
          </a:xfrm>
          <a:prstGeom prst="roundRect">
            <a:avLst>
              <a:gd name="adj" fmla="val 7619"/>
            </a:avLst>
          </a:prstGeom>
          <a:solidFill>
            <a:schemeClr val="bg2"/>
          </a:solidFill>
          <a:ln/>
        </p:spPr>
      </p:sp>
      <p:sp>
        <p:nvSpPr>
          <p:cNvPr id="40" name="Prescriptions circle"/>
          <p:cNvSpPr/>
          <p:nvPr/>
        </p:nvSpPr>
        <p:spPr>
          <a:xfrm>
            <a:off x="6903720" y="2496312"/>
            <a:ext cx="457200" cy="457200"/>
          </a:xfrm>
          <a:prstGeom prst="ellipse">
            <a:avLst/>
          </a:prstGeom>
          <a:solidFill>
            <a:srgbClr val="0E8C99"/>
          </a:solidFill>
          <a:ln/>
        </p:spPr>
      </p:sp>
      <p:pic>
        <p:nvPicPr>
          <p:cNvPr id="41" name="Prescriptions icon" descr="Prescriptions">    </p:cNvPr>
          <p:cNvPicPr>
            <a:picLocks noChangeAspect="1"/>
          </p:cNvPicPr>
          <p:nvPr/>
        </p:nvPicPr>
        <p:blipFill>
          <a:blip r:embed="rId8"/>
          <a:stretch>
            <a:fillRect/>
          </a:stretch>
        </p:blipFill>
        <p:spPr>
          <a:xfrm>
            <a:off x="7018020" y="2610612"/>
            <a:ext cx="228600" cy="228600"/>
          </a:xfrm>
          <a:prstGeom prst="rect">
            <a:avLst/>
          </a:prstGeom>
        </p:spPr>
      </p:pic>
      <p:sp>
        <p:nvSpPr>
          <p:cNvPr id="42" name="Text 31"/>
          <p:cNvSpPr txBox="1"/>
          <p:nvPr/>
        </p:nvSpPr>
        <p:spPr>
          <a:xfrm>
            <a:off x="7452360" y="237744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Prescriptions</a:t>
            </a:r>
            <a:endParaRPr lang="en-US" sz="1400" dirty="0"/>
          </a:p>
        </p:txBody>
      </p:sp>
      <p:sp>
        <p:nvSpPr>
          <p:cNvPr id="43" name="Text 32"/>
          <p:cNvSpPr txBox="1"/>
          <p:nvPr/>
        </p:nvSpPr>
        <p:spPr>
          <a:xfrm>
            <a:off x="7452360" y="277063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1,800 rows</a:t>
            </a:r>
            <a:endParaRPr lang="en-US" sz="1200" dirty="0"/>
          </a:p>
        </p:txBody>
      </p:sp>
      <p:sp>
        <p:nvSpPr>
          <p:cNvPr id="44" name="Table card Medicines"/>
          <p:cNvSpPr/>
          <p:nvPr/>
        </p:nvSpPr>
        <p:spPr>
          <a:xfrm>
            <a:off x="457200" y="3337560"/>
            <a:ext cx="1920240" cy="960120"/>
          </a:xfrm>
          <a:prstGeom prst="roundRect">
            <a:avLst>
              <a:gd name="adj" fmla="val 7619"/>
            </a:avLst>
          </a:prstGeom>
          <a:solidFill>
            <a:schemeClr val="bg2"/>
          </a:solidFill>
          <a:ln/>
        </p:spPr>
      </p:sp>
      <p:sp>
        <p:nvSpPr>
          <p:cNvPr id="45" name="Medicines circle"/>
          <p:cNvSpPr/>
          <p:nvPr/>
        </p:nvSpPr>
        <p:spPr>
          <a:xfrm>
            <a:off x="594360" y="3593592"/>
            <a:ext cx="457200" cy="457200"/>
          </a:xfrm>
          <a:prstGeom prst="ellipse">
            <a:avLst/>
          </a:prstGeom>
          <a:solidFill>
            <a:srgbClr val="0E8C99"/>
          </a:solidFill>
          <a:ln/>
        </p:spPr>
      </p:sp>
      <p:pic>
        <p:nvPicPr>
          <p:cNvPr id="46" name="Medicines icon" descr="Medicines">    </p:cNvPr>
          <p:cNvPicPr>
            <a:picLocks noChangeAspect="1"/>
          </p:cNvPicPr>
          <p:nvPr/>
        </p:nvPicPr>
        <p:blipFill>
          <a:blip r:embed="rId9"/>
          <a:stretch>
            <a:fillRect/>
          </a:stretch>
        </p:blipFill>
        <p:spPr>
          <a:xfrm>
            <a:off x="708660" y="3707892"/>
            <a:ext cx="228600" cy="228600"/>
          </a:xfrm>
          <a:prstGeom prst="rect">
            <a:avLst/>
          </a:prstGeom>
        </p:spPr>
      </p:pic>
      <p:sp>
        <p:nvSpPr>
          <p:cNvPr id="47" name="Text 35"/>
          <p:cNvSpPr txBox="1"/>
          <p:nvPr/>
        </p:nvSpPr>
        <p:spPr>
          <a:xfrm>
            <a:off x="1143000" y="347472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Medicines</a:t>
            </a:r>
            <a:endParaRPr lang="en-US" sz="1400" dirty="0"/>
          </a:p>
        </p:txBody>
      </p:sp>
      <p:sp>
        <p:nvSpPr>
          <p:cNvPr id="48" name="Text 36"/>
          <p:cNvSpPr txBox="1"/>
          <p:nvPr/>
        </p:nvSpPr>
        <p:spPr>
          <a:xfrm>
            <a:off x="1143000" y="386791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240 rows</a:t>
            </a:r>
            <a:endParaRPr lang="en-US" sz="1200" dirty="0"/>
          </a:p>
        </p:txBody>
      </p:sp>
      <p:sp>
        <p:nvSpPr>
          <p:cNvPr id="49" name="Table card Attendance"/>
          <p:cNvSpPr/>
          <p:nvPr/>
        </p:nvSpPr>
        <p:spPr>
          <a:xfrm>
            <a:off x="2560320" y="3337560"/>
            <a:ext cx="1920240" cy="960120"/>
          </a:xfrm>
          <a:prstGeom prst="roundRect">
            <a:avLst>
              <a:gd name="adj" fmla="val 7619"/>
            </a:avLst>
          </a:prstGeom>
          <a:solidFill>
            <a:schemeClr val="bg2"/>
          </a:solidFill>
          <a:ln/>
        </p:spPr>
      </p:sp>
      <p:sp>
        <p:nvSpPr>
          <p:cNvPr id="50" name="Attendance circle"/>
          <p:cNvSpPr/>
          <p:nvPr/>
        </p:nvSpPr>
        <p:spPr>
          <a:xfrm>
            <a:off x="2697480" y="3593592"/>
            <a:ext cx="457200" cy="457200"/>
          </a:xfrm>
          <a:prstGeom prst="ellipse">
            <a:avLst/>
          </a:prstGeom>
          <a:solidFill>
            <a:srgbClr val="0E8C99"/>
          </a:solidFill>
          <a:ln/>
        </p:spPr>
      </p:sp>
      <p:pic>
        <p:nvPicPr>
          <p:cNvPr id="51" name="Attendance icon" descr="Attendance">    </p:cNvPr>
          <p:cNvPicPr>
            <a:picLocks noChangeAspect="1"/>
          </p:cNvPicPr>
          <p:nvPr/>
        </p:nvPicPr>
        <p:blipFill>
          <a:blip r:embed="rId10"/>
          <a:stretch>
            <a:fillRect/>
          </a:stretch>
        </p:blipFill>
        <p:spPr>
          <a:xfrm>
            <a:off x="2811780" y="3707892"/>
            <a:ext cx="228600" cy="228600"/>
          </a:xfrm>
          <a:prstGeom prst="rect">
            <a:avLst/>
          </a:prstGeom>
        </p:spPr>
      </p:pic>
      <p:sp>
        <p:nvSpPr>
          <p:cNvPr id="52" name="Text 39"/>
          <p:cNvSpPr txBox="1"/>
          <p:nvPr/>
        </p:nvSpPr>
        <p:spPr>
          <a:xfrm>
            <a:off x="3246120" y="347472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Attendance</a:t>
            </a:r>
            <a:endParaRPr lang="en-US" sz="1400" dirty="0"/>
          </a:p>
        </p:txBody>
      </p:sp>
      <p:sp>
        <p:nvSpPr>
          <p:cNvPr id="53" name="Text 40"/>
          <p:cNvSpPr txBox="1"/>
          <p:nvPr/>
        </p:nvSpPr>
        <p:spPr>
          <a:xfrm>
            <a:off x="3246120" y="386791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3,501 rows</a:t>
            </a:r>
            <a:endParaRPr lang="en-US" sz="1200" dirty="0"/>
          </a:p>
        </p:txBody>
      </p:sp>
      <p:sp>
        <p:nvSpPr>
          <p:cNvPr id="54" name="Table card Invoices"/>
          <p:cNvSpPr/>
          <p:nvPr/>
        </p:nvSpPr>
        <p:spPr>
          <a:xfrm>
            <a:off x="4663440" y="3337560"/>
            <a:ext cx="1920240" cy="960120"/>
          </a:xfrm>
          <a:prstGeom prst="roundRect">
            <a:avLst>
              <a:gd name="adj" fmla="val 7619"/>
            </a:avLst>
          </a:prstGeom>
          <a:solidFill>
            <a:schemeClr val="bg2"/>
          </a:solidFill>
          <a:ln/>
        </p:spPr>
      </p:sp>
      <p:sp>
        <p:nvSpPr>
          <p:cNvPr id="55" name="Invoices circle"/>
          <p:cNvSpPr/>
          <p:nvPr/>
        </p:nvSpPr>
        <p:spPr>
          <a:xfrm>
            <a:off x="4800600" y="3593592"/>
            <a:ext cx="457200" cy="457200"/>
          </a:xfrm>
          <a:prstGeom prst="ellipse">
            <a:avLst/>
          </a:prstGeom>
          <a:solidFill>
            <a:srgbClr val="0E8C99"/>
          </a:solidFill>
          <a:ln/>
        </p:spPr>
      </p:sp>
      <p:pic>
        <p:nvPicPr>
          <p:cNvPr id="56" name="Invoices icon" descr="Invoices">    </p:cNvPr>
          <p:cNvPicPr>
            <a:picLocks noChangeAspect="1"/>
          </p:cNvPicPr>
          <p:nvPr/>
        </p:nvPicPr>
        <p:blipFill>
          <a:blip r:embed="rId11"/>
          <a:stretch>
            <a:fillRect/>
          </a:stretch>
        </p:blipFill>
        <p:spPr>
          <a:xfrm>
            <a:off x="4914900" y="3707892"/>
            <a:ext cx="228600" cy="228600"/>
          </a:xfrm>
          <a:prstGeom prst="rect">
            <a:avLst/>
          </a:prstGeom>
        </p:spPr>
      </p:pic>
      <p:sp>
        <p:nvSpPr>
          <p:cNvPr id="57" name="Text 43"/>
          <p:cNvSpPr txBox="1"/>
          <p:nvPr/>
        </p:nvSpPr>
        <p:spPr>
          <a:xfrm>
            <a:off x="5349240" y="347472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Invoices</a:t>
            </a:r>
            <a:endParaRPr lang="en-US" sz="1400" dirty="0"/>
          </a:p>
        </p:txBody>
      </p:sp>
      <p:sp>
        <p:nvSpPr>
          <p:cNvPr id="58" name="Text 44"/>
          <p:cNvSpPr txBox="1"/>
          <p:nvPr/>
        </p:nvSpPr>
        <p:spPr>
          <a:xfrm>
            <a:off x="5349240" y="386791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1,100 rows</a:t>
            </a:r>
            <a:endParaRPr lang="en-US" sz="1200" dirty="0"/>
          </a:p>
        </p:txBody>
      </p:sp>
      <p:sp>
        <p:nvSpPr>
          <p:cNvPr id="59" name="Table card Payments"/>
          <p:cNvSpPr/>
          <p:nvPr/>
        </p:nvSpPr>
        <p:spPr>
          <a:xfrm>
            <a:off x="6766560" y="3337560"/>
            <a:ext cx="1920240" cy="960120"/>
          </a:xfrm>
          <a:prstGeom prst="roundRect">
            <a:avLst>
              <a:gd name="adj" fmla="val 7619"/>
            </a:avLst>
          </a:prstGeom>
          <a:solidFill>
            <a:schemeClr val="bg2"/>
          </a:solidFill>
          <a:ln/>
        </p:spPr>
      </p:sp>
      <p:sp>
        <p:nvSpPr>
          <p:cNvPr id="60" name="Payments circle"/>
          <p:cNvSpPr/>
          <p:nvPr/>
        </p:nvSpPr>
        <p:spPr>
          <a:xfrm>
            <a:off x="6903720" y="3593592"/>
            <a:ext cx="457200" cy="457200"/>
          </a:xfrm>
          <a:prstGeom prst="ellipse">
            <a:avLst/>
          </a:prstGeom>
          <a:solidFill>
            <a:srgbClr val="0E8C99"/>
          </a:solidFill>
          <a:ln/>
        </p:spPr>
      </p:sp>
      <p:pic>
        <p:nvPicPr>
          <p:cNvPr id="61" name="Payments icon" descr="Payments">    </p:cNvPr>
          <p:cNvPicPr>
            <a:picLocks noChangeAspect="1"/>
          </p:cNvPicPr>
          <p:nvPr/>
        </p:nvPicPr>
        <p:blipFill>
          <a:blip r:embed="rId12"/>
          <a:stretch>
            <a:fillRect/>
          </a:stretch>
        </p:blipFill>
        <p:spPr>
          <a:xfrm>
            <a:off x="7018020" y="3707892"/>
            <a:ext cx="228600" cy="228600"/>
          </a:xfrm>
          <a:prstGeom prst="rect">
            <a:avLst/>
          </a:prstGeom>
        </p:spPr>
      </p:pic>
      <p:sp>
        <p:nvSpPr>
          <p:cNvPr id="62" name="Text 47"/>
          <p:cNvSpPr txBox="1"/>
          <p:nvPr/>
        </p:nvSpPr>
        <p:spPr>
          <a:xfrm>
            <a:off x="7452360" y="3474720"/>
            <a:ext cx="1188720" cy="411480"/>
          </a:xfrm>
          <a:prstGeom prst="rect">
            <a:avLst/>
          </a:prstGeom>
          <a:noFill/>
          <a:ln/>
        </p:spPr>
        <p:txBody>
          <a:bodyPr wrap="square" lIns="0" tIns="0" rIns="0" bIns="0" rtlCol="0" anchor="ctr"/>
          <a:lstStyle/>
          <a:p>
            <a:pPr indent="0" marL="0">
              <a:buNone/>
            </a:pPr>
            <a:r>
              <a:rPr lang="en-US" sz="1400" b="1" dirty="0">
                <a:solidFill>
                  <a:schemeClr val="tx2"/>
                </a:solidFill>
              </a:rPr>
              <a:t>Payments</a:t>
            </a:r>
            <a:endParaRPr lang="en-US" sz="1400" dirty="0"/>
          </a:p>
        </p:txBody>
      </p:sp>
      <p:sp>
        <p:nvSpPr>
          <p:cNvPr id="63" name="Text 48"/>
          <p:cNvSpPr txBox="1"/>
          <p:nvPr/>
        </p:nvSpPr>
        <p:spPr>
          <a:xfrm>
            <a:off x="7452360" y="3867912"/>
            <a:ext cx="1188720" cy="274320"/>
          </a:xfrm>
          <a:prstGeom prst="rect">
            <a:avLst/>
          </a:prstGeom>
          <a:noFill/>
          <a:ln/>
        </p:spPr>
        <p:txBody>
          <a:bodyPr wrap="square" lIns="0" tIns="0" rIns="0" bIns="0" rtlCol="0" anchor="ctr"/>
          <a:lstStyle/>
          <a:p>
            <a:pPr indent="0" marL="0">
              <a:buNone/>
            </a:pPr>
            <a:r>
              <a:rPr lang="en-US" sz="1200" dirty="0">
                <a:solidFill>
                  <a:schemeClr val="accent6"/>
                </a:solidFill>
              </a:rPr>
              <a:t>1,650 rows</a:t>
            </a:r>
            <a:endParaRPr lang="en-US" sz="1200" dirty="0"/>
          </a:p>
        </p:txBody>
      </p:sp>
      <p:sp>
        <p:nvSpPr>
          <p:cNvPr id="64" name="Text 49"/>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200" i="1" dirty="0">
                <a:solidFill>
                  <a:schemeClr val="accent6"/>
                </a:solidFill>
              </a:rPr>
              <a:t>Doctors and nurses are employees (JobTitle). Row counts are after cleaning; data is synthetic.</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Data Cleaning with Pandas</a:t>
            </a:r>
            <a:endParaRPr lang="en-US" sz="3000" dirty="0"/>
          </a:p>
        </p:txBody>
      </p:sp>
      <p:sp>
        <p:nvSpPr>
          <p:cNvPr id="4" name="Text 1"/>
          <p:cNvSpPr txBox="1"/>
          <p:nvPr/>
        </p:nvSpPr>
        <p:spPr>
          <a:xfrm>
            <a:off x="457200" y="1097280"/>
            <a:ext cx="4206240" cy="274320"/>
          </a:xfrm>
          <a:prstGeom prst="rect">
            <a:avLst/>
          </a:prstGeom>
          <a:noFill/>
          <a:ln/>
        </p:spPr>
        <p:txBody>
          <a:bodyPr wrap="square" lIns="0" tIns="0" rIns="0" bIns="0" rtlCol="0" anchor="ctr"/>
          <a:lstStyle/>
          <a:p>
            <a:pPr indent="0" marL="0">
              <a:buNone/>
            </a:pPr>
            <a:r>
              <a:rPr lang="en-US" sz="1400" b="1" dirty="0">
                <a:solidFill>
                  <a:schemeClr val="accent6"/>
                </a:solidFill>
              </a:rPr>
              <a:t>Before  →  After</a:t>
            </a:r>
            <a:endParaRPr lang="en-US" sz="1400" dirty="0"/>
          </a:p>
        </p:txBody>
      </p:sp>
      <p:sp>
        <p:nvSpPr>
          <p:cNvPr id="5" name="Before chip 1"/>
          <p:cNvSpPr/>
          <p:nvPr/>
        </p:nvSpPr>
        <p:spPr>
          <a:xfrm>
            <a:off x="457200" y="1463040"/>
            <a:ext cx="1783080" cy="548640"/>
          </a:xfrm>
          <a:prstGeom prst="roundRect">
            <a:avLst>
              <a:gd name="adj" fmla="val 10000"/>
            </a:avLst>
          </a:prstGeom>
          <a:solidFill>
            <a:srgbClr val="FBECE8"/>
          </a:solidFill>
          <a:ln/>
        </p:spPr>
      </p:sp>
      <p:sp>
        <p:nvSpPr>
          <p:cNvPr id="6" name="Text 3"/>
          <p:cNvSpPr txBox="1"/>
          <p:nvPr/>
        </p:nvSpPr>
        <p:spPr>
          <a:xfrm>
            <a:off x="457200" y="1463040"/>
            <a:ext cx="1783080" cy="548640"/>
          </a:xfrm>
          <a:prstGeom prst="rect">
            <a:avLst/>
          </a:prstGeom>
          <a:noFill/>
          <a:ln/>
        </p:spPr>
        <p:txBody>
          <a:bodyPr wrap="square" lIns="0" tIns="0" rIns="0" bIns="0" rtlCol="0" anchor="ctr"/>
          <a:lstStyle/>
          <a:p>
            <a:pPr algn="ctr" indent="0" marL="0">
              <a:buNone/>
            </a:pPr>
            <a:r>
              <a:rPr lang="en-US" sz="1200" dirty="0">
                <a:solidFill>
                  <a:schemeClr val="accent5"/>
                </a:solidFill>
                <a:latin typeface="Courier New" pitchFamily="34" charset="0"/>
                <a:ea typeface="Courier New" pitchFamily="34" charset="-122"/>
                <a:cs typeface="Courier New" pitchFamily="34" charset="-120"/>
              </a:rPr>
              <a:t>"  neurology  "</a:t>
            </a:r>
            <a:endParaRPr lang="en-US" sz="1200" dirty="0"/>
          </a:p>
        </p:txBody>
      </p:sp>
      <p:sp>
        <p:nvSpPr>
          <p:cNvPr id="7" name="Clean arrow 1"/>
          <p:cNvSpPr/>
          <p:nvPr/>
        </p:nvSpPr>
        <p:spPr>
          <a:xfrm>
            <a:off x="2286000" y="1737360"/>
            <a:ext cx="320040" cy="0"/>
          </a:xfrm>
          <a:prstGeom prst="line">
            <a:avLst/>
          </a:prstGeom>
          <a:noFill/>
          <a:ln w="25400">
            <a:solidFill>
              <a:srgbClr val="0E8C99"/>
            </a:solidFill>
            <a:prstDash val="solid"/>
            <a:tailEnd type="triangle"/>
          </a:ln>
        </p:spPr>
      </p:sp>
      <p:sp>
        <p:nvSpPr>
          <p:cNvPr id="8" name="After chip 1"/>
          <p:cNvSpPr/>
          <p:nvPr/>
        </p:nvSpPr>
        <p:spPr>
          <a:xfrm>
            <a:off x="2651760" y="1463040"/>
            <a:ext cx="2011680" cy="548640"/>
          </a:xfrm>
          <a:prstGeom prst="roundRect">
            <a:avLst>
              <a:gd name="adj" fmla="val 10000"/>
            </a:avLst>
          </a:prstGeom>
          <a:solidFill>
            <a:srgbClr val="EAF6F7"/>
          </a:solidFill>
          <a:ln/>
        </p:spPr>
      </p:sp>
      <p:sp>
        <p:nvSpPr>
          <p:cNvPr id="9" name="Text 6"/>
          <p:cNvSpPr txBox="1"/>
          <p:nvPr/>
        </p:nvSpPr>
        <p:spPr>
          <a:xfrm>
            <a:off x="2651760" y="1463040"/>
            <a:ext cx="2011680" cy="548640"/>
          </a:xfrm>
          <a:prstGeom prst="rect">
            <a:avLst/>
          </a:prstGeom>
          <a:no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"Neurology"</a:t>
            </a:r>
            <a:endParaRPr lang="en-US" sz="1200" dirty="0"/>
          </a:p>
        </p:txBody>
      </p:sp>
      <p:sp>
        <p:nvSpPr>
          <p:cNvPr id="10" name="Text 7"/>
          <p:cNvSpPr txBox="1"/>
          <p:nvPr/>
        </p:nvSpPr>
        <p:spPr>
          <a:xfrm>
            <a:off x="457200" y="2029968"/>
            <a:ext cx="4206240" cy="201168"/>
          </a:xfrm>
          <a:prstGeom prst="rect">
            <a:avLst/>
          </a:prstGeom>
          <a:noFill/>
          <a:ln/>
        </p:spPr>
        <p:txBody>
          <a:bodyPr wrap="square" lIns="0" tIns="0" rIns="0" bIns="0" rtlCol="0" anchor="ctr"/>
          <a:lstStyle/>
          <a:p>
            <a:pPr indent="0" marL="0">
              <a:buNone/>
            </a:pPr>
            <a:r>
              <a:rPr lang="en-US" sz="1000" dirty="0">
                <a:solidFill>
                  <a:schemeClr val="accent6"/>
                </a:solidFill>
              </a:rPr>
              <a:t>Departments</a:t>
            </a:r>
            <a:endParaRPr lang="en-US" sz="1000" dirty="0"/>
          </a:p>
        </p:txBody>
      </p:sp>
      <p:sp>
        <p:nvSpPr>
          <p:cNvPr id="11" name="Before chip 2"/>
          <p:cNvSpPr/>
          <p:nvPr/>
        </p:nvSpPr>
        <p:spPr>
          <a:xfrm>
            <a:off x="457200" y="2331720"/>
            <a:ext cx="1783080" cy="548640"/>
          </a:xfrm>
          <a:prstGeom prst="roundRect">
            <a:avLst>
              <a:gd name="adj" fmla="val 10000"/>
            </a:avLst>
          </a:prstGeom>
          <a:solidFill>
            <a:srgbClr val="FBECE8"/>
          </a:solidFill>
          <a:ln/>
        </p:spPr>
      </p:sp>
      <p:sp>
        <p:nvSpPr>
          <p:cNvPr id="12" name="Text 9"/>
          <p:cNvSpPr txBox="1"/>
          <p:nvPr/>
        </p:nvSpPr>
        <p:spPr>
          <a:xfrm>
            <a:off x="457200" y="2331720"/>
            <a:ext cx="1783080" cy="548640"/>
          </a:xfrm>
          <a:prstGeom prst="rect">
            <a:avLst/>
          </a:prstGeom>
          <a:noFill/>
          <a:ln/>
        </p:spPr>
        <p:txBody>
          <a:bodyPr wrap="square" lIns="0" tIns="0" rIns="0" bIns="0" rtlCol="0" anchor="ctr"/>
          <a:lstStyle/>
          <a:p>
            <a:pPr algn="ctr" indent="0" marL="0">
              <a:buNone/>
            </a:pPr>
            <a:r>
              <a:rPr lang="en-US" sz="1200" dirty="0">
                <a:solidFill>
                  <a:schemeClr val="accent5"/>
                </a:solidFill>
                <a:latin typeface="Courier New" pitchFamily="34" charset="0"/>
                <a:ea typeface="Courier New" pitchFamily="34" charset="-122"/>
                <a:cs typeface="Courier New" pitchFamily="34" charset="-120"/>
              </a:rPr>
              <a:t>"  doctor  "</a:t>
            </a:r>
            <a:endParaRPr lang="en-US" sz="1200" dirty="0"/>
          </a:p>
        </p:txBody>
      </p:sp>
      <p:sp>
        <p:nvSpPr>
          <p:cNvPr id="13" name="Clean arrow 2"/>
          <p:cNvSpPr/>
          <p:nvPr/>
        </p:nvSpPr>
        <p:spPr>
          <a:xfrm>
            <a:off x="2286000" y="2606040"/>
            <a:ext cx="320040" cy="0"/>
          </a:xfrm>
          <a:prstGeom prst="line">
            <a:avLst/>
          </a:prstGeom>
          <a:noFill/>
          <a:ln w="25400">
            <a:solidFill>
              <a:srgbClr val="0E8C99"/>
            </a:solidFill>
            <a:prstDash val="solid"/>
            <a:tailEnd type="triangle"/>
          </a:ln>
        </p:spPr>
      </p:sp>
      <p:sp>
        <p:nvSpPr>
          <p:cNvPr id="14" name="After chip 2"/>
          <p:cNvSpPr/>
          <p:nvPr/>
        </p:nvSpPr>
        <p:spPr>
          <a:xfrm>
            <a:off x="2651760" y="2331720"/>
            <a:ext cx="2011680" cy="548640"/>
          </a:xfrm>
          <a:prstGeom prst="roundRect">
            <a:avLst>
              <a:gd name="adj" fmla="val 10000"/>
            </a:avLst>
          </a:prstGeom>
          <a:solidFill>
            <a:srgbClr val="EAF6F7"/>
          </a:solidFill>
          <a:ln/>
        </p:spPr>
      </p:sp>
      <p:sp>
        <p:nvSpPr>
          <p:cNvPr id="15" name="Text 12"/>
          <p:cNvSpPr txBox="1"/>
          <p:nvPr/>
        </p:nvSpPr>
        <p:spPr>
          <a:xfrm>
            <a:off x="2651760" y="2331720"/>
            <a:ext cx="2011680" cy="548640"/>
          </a:xfrm>
          <a:prstGeom prst="rect">
            <a:avLst/>
          </a:prstGeom>
          <a:no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"Doctor"</a:t>
            </a:r>
            <a:endParaRPr lang="en-US" sz="1200" dirty="0"/>
          </a:p>
        </p:txBody>
      </p:sp>
      <p:sp>
        <p:nvSpPr>
          <p:cNvPr id="16" name="Text 13"/>
          <p:cNvSpPr txBox="1"/>
          <p:nvPr/>
        </p:nvSpPr>
        <p:spPr>
          <a:xfrm>
            <a:off x="457200" y="2898648"/>
            <a:ext cx="4206240" cy="201168"/>
          </a:xfrm>
          <a:prstGeom prst="rect">
            <a:avLst/>
          </a:prstGeom>
          <a:noFill/>
          <a:ln/>
        </p:spPr>
        <p:txBody>
          <a:bodyPr wrap="square" lIns="0" tIns="0" rIns="0" bIns="0" rtlCol="0" anchor="ctr"/>
          <a:lstStyle/>
          <a:p>
            <a:pPr indent="0" marL="0">
              <a:buNone/>
            </a:pPr>
            <a:r>
              <a:rPr lang="en-US" sz="1000" dirty="0">
                <a:solidFill>
                  <a:schemeClr val="accent6"/>
                </a:solidFill>
              </a:rPr>
              <a:t>Employees (JobTitle)</a:t>
            </a:r>
            <a:endParaRPr lang="en-US" sz="1000" dirty="0"/>
          </a:p>
        </p:txBody>
      </p:sp>
      <p:sp>
        <p:nvSpPr>
          <p:cNvPr id="17" name="Before chip 3"/>
          <p:cNvSpPr/>
          <p:nvPr/>
        </p:nvSpPr>
        <p:spPr>
          <a:xfrm>
            <a:off x="457200" y="3200400"/>
            <a:ext cx="1783080" cy="548640"/>
          </a:xfrm>
          <a:prstGeom prst="roundRect">
            <a:avLst>
              <a:gd name="adj" fmla="val 10000"/>
            </a:avLst>
          </a:prstGeom>
          <a:solidFill>
            <a:srgbClr val="FBECE8"/>
          </a:solidFill>
          <a:ln/>
        </p:spPr>
      </p:sp>
      <p:sp>
        <p:nvSpPr>
          <p:cNvPr id="18" name="Text 15"/>
          <p:cNvSpPr txBox="1"/>
          <p:nvPr/>
        </p:nvSpPr>
        <p:spPr>
          <a:xfrm>
            <a:off x="457200" y="3200400"/>
            <a:ext cx="1783080" cy="548640"/>
          </a:xfrm>
          <a:prstGeom prst="rect">
            <a:avLst/>
          </a:prstGeom>
          <a:noFill/>
          <a:ln/>
        </p:spPr>
        <p:txBody>
          <a:bodyPr wrap="square" lIns="0" tIns="0" rIns="0" bIns="0" rtlCol="0" anchor="ctr"/>
          <a:lstStyle/>
          <a:p>
            <a:pPr algn="ctr" indent="0" marL="0">
              <a:buNone/>
            </a:pPr>
            <a:r>
              <a:rPr lang="en-US" sz="1200" dirty="0">
                <a:solidFill>
                  <a:schemeClr val="accent5"/>
                </a:solidFill>
                <a:latin typeface="Courier New" pitchFamily="34" charset="0"/>
                <a:ea typeface="Courier New" pitchFamily="34" charset="-122"/>
                <a:cs typeface="Courier New" pitchFamily="34" charset="-120"/>
              </a:rPr>
              <a:t>"  2025-08-26  "</a:t>
            </a:r>
            <a:endParaRPr lang="en-US" sz="1200" dirty="0"/>
          </a:p>
        </p:txBody>
      </p:sp>
      <p:sp>
        <p:nvSpPr>
          <p:cNvPr id="19" name="Clean arrow 3"/>
          <p:cNvSpPr/>
          <p:nvPr/>
        </p:nvSpPr>
        <p:spPr>
          <a:xfrm>
            <a:off x="2286000" y="3474720"/>
            <a:ext cx="320040" cy="0"/>
          </a:xfrm>
          <a:prstGeom prst="line">
            <a:avLst/>
          </a:prstGeom>
          <a:noFill/>
          <a:ln w="25400">
            <a:solidFill>
              <a:srgbClr val="0E8C99"/>
            </a:solidFill>
            <a:prstDash val="solid"/>
            <a:tailEnd type="triangle"/>
          </a:ln>
        </p:spPr>
      </p:sp>
      <p:sp>
        <p:nvSpPr>
          <p:cNvPr id="20" name="After chip 3"/>
          <p:cNvSpPr/>
          <p:nvPr/>
        </p:nvSpPr>
        <p:spPr>
          <a:xfrm>
            <a:off x="2651760" y="3200400"/>
            <a:ext cx="2011680" cy="548640"/>
          </a:xfrm>
          <a:prstGeom prst="roundRect">
            <a:avLst>
              <a:gd name="adj" fmla="val 10000"/>
            </a:avLst>
          </a:prstGeom>
          <a:solidFill>
            <a:srgbClr val="EAF6F7"/>
          </a:solidFill>
          <a:ln/>
        </p:spPr>
      </p:sp>
      <p:sp>
        <p:nvSpPr>
          <p:cNvPr id="21" name="Text 18"/>
          <p:cNvSpPr txBox="1"/>
          <p:nvPr/>
        </p:nvSpPr>
        <p:spPr>
          <a:xfrm>
            <a:off x="2651760" y="3200400"/>
            <a:ext cx="2011680" cy="548640"/>
          </a:xfrm>
          <a:prstGeom prst="rect">
            <a:avLst/>
          </a:prstGeom>
          <a:noFill/>
          <a:ln/>
        </p:spPr>
        <p:txBody>
          <a:bodyPr wrap="square" lIns="0" tIns="0" rIns="0" bIns="0" rtlCol="0" anchor="ctr"/>
          <a:lstStyle/>
          <a:p>
            <a:pPr algn="ctr" indent="0" marL="0">
              <a:buNone/>
            </a:pPr>
            <a:r>
              <a:rPr lang="en-US" sz="1200" dirty="0">
                <a:solidFill>
                  <a:schemeClr val="tx2"/>
                </a:solidFill>
                <a:latin typeface="Courier New" pitchFamily="34" charset="0"/>
                <a:ea typeface="Courier New" pitchFamily="34" charset="-122"/>
                <a:cs typeface="Courier New" pitchFamily="34" charset="-120"/>
              </a:rPr>
              <a:t>2025-08-26 (date)</a:t>
            </a:r>
            <a:endParaRPr lang="en-US" sz="1200" dirty="0"/>
          </a:p>
        </p:txBody>
      </p:sp>
      <p:sp>
        <p:nvSpPr>
          <p:cNvPr id="22" name="Text 19"/>
          <p:cNvSpPr txBox="1"/>
          <p:nvPr/>
        </p:nvSpPr>
        <p:spPr>
          <a:xfrm>
            <a:off x="457200" y="3767328"/>
            <a:ext cx="4206240" cy="201168"/>
          </a:xfrm>
          <a:prstGeom prst="rect">
            <a:avLst/>
          </a:prstGeom>
          <a:noFill/>
          <a:ln/>
        </p:spPr>
        <p:txBody>
          <a:bodyPr wrap="square" lIns="0" tIns="0" rIns="0" bIns="0" rtlCol="0" anchor="ctr"/>
          <a:lstStyle/>
          <a:p>
            <a:pPr indent="0" marL="0">
              <a:buNone/>
            </a:pPr>
            <a:r>
              <a:rPr lang="en-US" sz="1000" dirty="0">
                <a:solidFill>
                  <a:schemeClr val="accent6"/>
                </a:solidFill>
              </a:rPr>
              <a:t>Appointments</a:t>
            </a:r>
            <a:endParaRPr lang="en-US" sz="1000" dirty="0"/>
          </a:p>
        </p:txBody>
      </p:sp>
      <p:sp>
        <p:nvSpPr>
          <p:cNvPr id="23" name="Step number 1"/>
          <p:cNvSpPr/>
          <p:nvPr/>
        </p:nvSpPr>
        <p:spPr>
          <a:xfrm>
            <a:off x="5120640" y="1133856"/>
            <a:ext cx="365760" cy="365760"/>
          </a:xfrm>
          <a:prstGeom prst="ellipse">
            <a:avLst/>
          </a:prstGeom>
          <a:solidFill>
            <a:srgbClr val="0E8C99"/>
          </a:solidFill>
          <a:ln/>
        </p:spPr>
      </p:sp>
      <p:sp>
        <p:nvSpPr>
          <p:cNvPr id="24" name="Text 21"/>
          <p:cNvSpPr txBox="1"/>
          <p:nvPr/>
        </p:nvSpPr>
        <p:spPr>
          <a:xfrm>
            <a:off x="5120640" y="113385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5" name="Text 22"/>
          <p:cNvSpPr txBox="1"/>
          <p:nvPr/>
        </p:nvSpPr>
        <p:spPr>
          <a:xfrm>
            <a:off x="5669280" y="1097280"/>
            <a:ext cx="3017520" cy="438912"/>
          </a:xfrm>
          <a:prstGeom prst="rect">
            <a:avLst/>
          </a:prstGeom>
          <a:noFill/>
          <a:ln/>
        </p:spPr>
        <p:txBody>
          <a:bodyPr wrap="square" lIns="0" tIns="0" rIns="0" bIns="0" rtlCol="0" anchor="ctr"/>
          <a:lstStyle/>
          <a:p>
            <a:pPr indent="0" marL="0">
              <a:buNone/>
            </a:pPr>
            <a:r>
              <a:rPr lang="en-US" sz="1400" dirty="0">
                <a:solidFill>
                  <a:schemeClr val="tx1"/>
                </a:solidFill>
              </a:rPr>
              <a:t>Check missing values</a:t>
            </a:r>
            <a:endParaRPr lang="en-US" sz="1400" dirty="0"/>
          </a:p>
        </p:txBody>
      </p:sp>
      <p:sp>
        <p:nvSpPr>
          <p:cNvPr id="26" name="Step number 2"/>
          <p:cNvSpPr/>
          <p:nvPr/>
        </p:nvSpPr>
        <p:spPr>
          <a:xfrm>
            <a:off x="5120640" y="1609344"/>
            <a:ext cx="365760" cy="365760"/>
          </a:xfrm>
          <a:prstGeom prst="ellipse">
            <a:avLst/>
          </a:prstGeom>
          <a:solidFill>
            <a:srgbClr val="0E8C99"/>
          </a:solidFill>
          <a:ln/>
        </p:spPr>
      </p:sp>
      <p:sp>
        <p:nvSpPr>
          <p:cNvPr id="27" name="Text 24"/>
          <p:cNvSpPr txBox="1"/>
          <p:nvPr/>
        </p:nvSpPr>
        <p:spPr>
          <a:xfrm>
            <a:off x="5120640" y="16093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8" name="Text 25"/>
          <p:cNvSpPr txBox="1"/>
          <p:nvPr/>
        </p:nvSpPr>
        <p:spPr>
          <a:xfrm>
            <a:off x="5669280" y="1572768"/>
            <a:ext cx="3017520" cy="438912"/>
          </a:xfrm>
          <a:prstGeom prst="rect">
            <a:avLst/>
          </a:prstGeom>
          <a:noFill/>
          <a:ln/>
        </p:spPr>
        <p:txBody>
          <a:bodyPr wrap="square" lIns="0" tIns="0" rIns="0" bIns="0" rtlCol="0" anchor="ctr"/>
          <a:lstStyle/>
          <a:p>
            <a:pPr indent="0" marL="0">
              <a:buNone/>
            </a:pPr>
            <a:r>
              <a:rPr lang="en-US" sz="1400" dirty="0">
                <a:solidFill>
                  <a:schemeClr val="tx1"/>
                </a:solidFill>
              </a:rPr>
              <a:t>Check and remove duplicates</a:t>
            </a:r>
            <a:endParaRPr lang="en-US" sz="1400" dirty="0"/>
          </a:p>
        </p:txBody>
      </p:sp>
      <p:sp>
        <p:nvSpPr>
          <p:cNvPr id="29" name="Step number 3"/>
          <p:cNvSpPr/>
          <p:nvPr/>
        </p:nvSpPr>
        <p:spPr>
          <a:xfrm>
            <a:off x="5120640" y="2084832"/>
            <a:ext cx="365760" cy="365760"/>
          </a:xfrm>
          <a:prstGeom prst="ellipse">
            <a:avLst/>
          </a:prstGeom>
          <a:solidFill>
            <a:srgbClr val="0E8C99"/>
          </a:solidFill>
          <a:ln/>
        </p:spPr>
      </p:sp>
      <p:sp>
        <p:nvSpPr>
          <p:cNvPr id="30" name="Text 27"/>
          <p:cNvSpPr txBox="1"/>
          <p:nvPr/>
        </p:nvSpPr>
        <p:spPr>
          <a:xfrm>
            <a:off x="5120640" y="208483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1" name="Text 28"/>
          <p:cNvSpPr txBox="1"/>
          <p:nvPr/>
        </p:nvSpPr>
        <p:spPr>
          <a:xfrm>
            <a:off x="5669280" y="2048256"/>
            <a:ext cx="3017520" cy="438912"/>
          </a:xfrm>
          <a:prstGeom prst="rect">
            <a:avLst/>
          </a:prstGeom>
          <a:noFill/>
          <a:ln/>
        </p:spPr>
        <p:txBody>
          <a:bodyPr wrap="square" lIns="0" tIns="0" rIns="0" bIns="0" rtlCol="0" anchor="ctr"/>
          <a:lstStyle/>
          <a:p>
            <a:pPr indent="0" marL="0">
              <a:buNone/>
            </a:pPr>
            <a:r>
              <a:rPr lang="en-US" sz="1400" dirty="0">
                <a:solidFill>
                  <a:schemeClr val="tx1"/>
                </a:solidFill>
              </a:rPr>
              <a:t>Strip and standardize text</a:t>
            </a:r>
            <a:endParaRPr lang="en-US" sz="1400" dirty="0"/>
          </a:p>
        </p:txBody>
      </p:sp>
      <p:sp>
        <p:nvSpPr>
          <p:cNvPr id="32" name="Step number 4"/>
          <p:cNvSpPr/>
          <p:nvPr/>
        </p:nvSpPr>
        <p:spPr>
          <a:xfrm>
            <a:off x="5120640" y="2560320"/>
            <a:ext cx="365760" cy="365760"/>
          </a:xfrm>
          <a:prstGeom prst="ellipse">
            <a:avLst/>
          </a:prstGeom>
          <a:solidFill>
            <a:srgbClr val="0E8C99"/>
          </a:solidFill>
          <a:ln/>
        </p:spPr>
      </p:sp>
      <p:sp>
        <p:nvSpPr>
          <p:cNvPr id="33" name="Text 30"/>
          <p:cNvSpPr txBox="1"/>
          <p:nvPr/>
        </p:nvSpPr>
        <p:spPr>
          <a:xfrm>
            <a:off x="5120640" y="25603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4" name="Text 31"/>
          <p:cNvSpPr txBox="1"/>
          <p:nvPr/>
        </p:nvSpPr>
        <p:spPr>
          <a:xfrm>
            <a:off x="5669280" y="2523744"/>
            <a:ext cx="3017520" cy="438912"/>
          </a:xfrm>
          <a:prstGeom prst="rect">
            <a:avLst/>
          </a:prstGeom>
          <a:noFill/>
          <a:ln/>
        </p:spPr>
        <p:txBody>
          <a:bodyPr wrap="square" lIns="0" tIns="0" rIns="0" bIns="0" rtlCol="0" anchor="ctr"/>
          <a:lstStyle/>
          <a:p>
            <a:pPr indent="0" marL="0">
              <a:buNone/>
            </a:pPr>
            <a:r>
              <a:rPr lang="en-US" sz="1400" dirty="0">
                <a:solidFill>
                  <a:schemeClr val="tx1"/>
                </a:solidFill>
              </a:rPr>
              <a:t>Convert dates (to_datetime)</a:t>
            </a:r>
            <a:endParaRPr lang="en-US" sz="1400" dirty="0"/>
          </a:p>
        </p:txBody>
      </p:sp>
      <p:sp>
        <p:nvSpPr>
          <p:cNvPr id="35" name="Step number 5"/>
          <p:cNvSpPr/>
          <p:nvPr/>
        </p:nvSpPr>
        <p:spPr>
          <a:xfrm>
            <a:off x="5120640" y="3035808"/>
            <a:ext cx="365760" cy="365760"/>
          </a:xfrm>
          <a:prstGeom prst="ellipse">
            <a:avLst/>
          </a:prstGeom>
          <a:solidFill>
            <a:srgbClr val="0E8C99"/>
          </a:solidFill>
          <a:ln/>
        </p:spPr>
      </p:sp>
      <p:sp>
        <p:nvSpPr>
          <p:cNvPr id="36" name="Text 33"/>
          <p:cNvSpPr txBox="1"/>
          <p:nvPr/>
        </p:nvSpPr>
        <p:spPr>
          <a:xfrm>
            <a:off x="5120640" y="3035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7" name="Text 34"/>
          <p:cNvSpPr txBox="1"/>
          <p:nvPr/>
        </p:nvSpPr>
        <p:spPr>
          <a:xfrm>
            <a:off x="5669280" y="2999232"/>
            <a:ext cx="3017520" cy="438912"/>
          </a:xfrm>
          <a:prstGeom prst="rect">
            <a:avLst/>
          </a:prstGeom>
          <a:noFill/>
          <a:ln/>
        </p:spPr>
        <p:txBody>
          <a:bodyPr wrap="square" lIns="0" tIns="0" rIns="0" bIns="0" rtlCol="0" anchor="ctr"/>
          <a:lstStyle/>
          <a:p>
            <a:pPr indent="0" marL="0">
              <a:buNone/>
            </a:pPr>
            <a:r>
              <a:rPr lang="en-US" sz="1400" dirty="0">
                <a:solidFill>
                  <a:schemeClr val="tx1"/>
                </a:solidFill>
              </a:rPr>
              <a:t>Convert numbers (to_numeric)</a:t>
            </a:r>
            <a:endParaRPr lang="en-US" sz="1400" dirty="0"/>
          </a:p>
        </p:txBody>
      </p:sp>
      <p:sp>
        <p:nvSpPr>
          <p:cNvPr id="38" name="Step number 6"/>
          <p:cNvSpPr/>
          <p:nvPr/>
        </p:nvSpPr>
        <p:spPr>
          <a:xfrm>
            <a:off x="5120640" y="3511296"/>
            <a:ext cx="365760" cy="365760"/>
          </a:xfrm>
          <a:prstGeom prst="ellipse">
            <a:avLst/>
          </a:prstGeom>
          <a:solidFill>
            <a:srgbClr val="0E8C99"/>
          </a:solidFill>
          <a:ln/>
        </p:spPr>
      </p:sp>
      <p:sp>
        <p:nvSpPr>
          <p:cNvPr id="39" name="Text 36"/>
          <p:cNvSpPr txBox="1"/>
          <p:nvPr/>
        </p:nvSpPr>
        <p:spPr>
          <a:xfrm>
            <a:off x="5120640" y="351129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0" name="Text 37"/>
          <p:cNvSpPr txBox="1"/>
          <p:nvPr/>
        </p:nvSpPr>
        <p:spPr>
          <a:xfrm>
            <a:off x="5669280" y="3474720"/>
            <a:ext cx="3017520" cy="438912"/>
          </a:xfrm>
          <a:prstGeom prst="rect">
            <a:avLst/>
          </a:prstGeom>
          <a:noFill/>
          <a:ln/>
        </p:spPr>
        <p:txBody>
          <a:bodyPr wrap="square" lIns="0" tIns="0" rIns="0" bIns="0" rtlCol="0" anchor="ctr"/>
          <a:lstStyle/>
          <a:p>
            <a:pPr indent="0" marL="0">
              <a:buNone/>
            </a:pPr>
            <a:r>
              <a:rPr lang="en-US" sz="1400" dirty="0">
                <a:solidFill>
                  <a:schemeClr val="tx1"/>
                </a:solidFill>
              </a:rPr>
              <a:t>Save cleaned CSV files</a:t>
            </a:r>
            <a:endParaRPr lang="en-US" sz="1400" dirty="0"/>
          </a:p>
        </p:txBody>
      </p:sp>
      <p:sp>
        <p:nvSpPr>
          <p:cNvPr id="41" name="Cleaning result strip"/>
          <p:cNvSpPr/>
          <p:nvPr/>
        </p:nvSpPr>
        <p:spPr>
          <a:xfrm>
            <a:off x="457200" y="4069080"/>
            <a:ext cx="8229600" cy="594360"/>
          </a:xfrm>
          <a:prstGeom prst="roundRect">
            <a:avLst>
              <a:gd name="adj" fmla="val 12308"/>
            </a:avLst>
          </a:prstGeom>
          <a:solidFill>
            <a:srgbClr val="0B4F6C"/>
          </a:solidFill>
          <a:ln/>
        </p:spPr>
      </p:sp>
      <p:sp>
        <p:nvSpPr>
          <p:cNvPr id="42" name="Text 39"/>
          <p:cNvSpPr txBox="1"/>
          <p:nvPr/>
        </p:nvSpPr>
        <p:spPr>
          <a:xfrm>
            <a:off x="457200" y="4069080"/>
            <a:ext cx="8229600" cy="594360"/>
          </a:xfrm>
          <a:prstGeom prst="rect">
            <a:avLst/>
          </a:prstGeom>
          <a:noFill/>
          <a:ln/>
        </p:spPr>
        <p:txBody>
          <a:bodyPr wrap="square" lIns="0" tIns="0" rIns="0" bIns="0" rtlCol="0" anchor="ctr"/>
          <a:lstStyle/>
          <a:p>
            <a:pPr algn="ctr" indent="0" marL="0">
              <a:buNone/>
            </a:pPr>
            <a:r>
              <a:rPr lang="en-US" sz="1600" b="1" dirty="0">
                <a:solidFill>
                  <a:schemeClr val="bg1"/>
                </a:solidFill>
              </a:rPr>
              <a:t>15,241 raw rows  →  15,093 clean rows    |    148 duplicates removed  →  0 remain</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Exploratory Data Analysis</a:t>
            </a:r>
            <a:endParaRPr lang="en-US" sz="3000" dirty="0"/>
          </a:p>
        </p:txBody>
      </p:sp>
      <p:graphicFrame>
        <p:nvGraphicFramePr>
          <p:cNvPr id="4" name="Chart 0" descr=""/>
          <p:cNvGraphicFramePr/>
          <p:nvPr/>
        </p:nvGraphicFramePr>
        <p:xfrm>
          <a:off x="457200" y="1097280"/>
          <a:ext cx="4023360" cy="16916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663440" y="1097280"/>
          <a:ext cx="4023360" cy="169164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457200" y="2834640"/>
          <a:ext cx="4023360" cy="1691640"/>
        </p:xfrm>
        <a:graphic xmlns:a="http://schemas.openxmlformats.org/drawingml/2006/main">
          <a:graphicData uri="http://schemas.openxmlformats.org/drawingml/2006/chart">
            <c:chart xmlns:c="http://schemas.openxmlformats.org/drawingml/2006/chart" r:id="rId3"/>
          </a:graphicData>
        </a:graphic>
      </p:graphicFrame>
      <p:graphicFrame>
        <p:nvGraphicFramePr>
          <p:cNvPr id="7" name="Chart 3" descr=""/>
          <p:cNvGraphicFramePr/>
          <p:nvPr/>
        </p:nvGraphicFramePr>
        <p:xfrm>
          <a:off x="4663440" y="2834640"/>
          <a:ext cx="4023360" cy="1691640"/>
        </p:xfrm>
        <a:graphic xmlns:a="http://schemas.openxmlformats.org/drawingml/2006/main">
          <a:graphicData uri="http://schemas.openxmlformats.org/drawingml/2006/chart">
            <c:chart xmlns:c="http://schemas.openxmlformats.org/drawingml/2006/chart" r:id="rId4"/>
          </a:graphicData>
        </a:graphic>
      </p:graphicFrame>
      <p:sp>
        <p:nvSpPr>
          <p:cNvPr id="8" name="Text 1"/>
          <p:cNvSpPr txBox="1"/>
          <p:nvPr/>
        </p:nvSpPr>
        <p:spPr>
          <a:xfrm>
            <a:off x="457200" y="4553712"/>
            <a:ext cx="8229600" cy="228600"/>
          </a:xfrm>
          <a:prstGeom prst="rect">
            <a:avLst/>
          </a:prstGeom>
          <a:noFill/>
          <a:ln/>
        </p:spPr>
        <p:txBody>
          <a:bodyPr wrap="square" lIns="0" tIns="0" rIns="0" bIns="0" rtlCol="0" anchor="ctr"/>
          <a:lstStyle/>
          <a:p>
            <a:pPr indent="0" marL="0">
              <a:buNone/>
            </a:pPr>
            <a:r>
              <a:rPr lang="en-US" sz="1000" i="1" dirty="0">
                <a:solidFill>
                  <a:schemeClr val="accent6"/>
                </a:solidFill>
              </a:rPr>
              <a:t>Charts rebuilt from the notebook outputs. Also analysed: diagnoses, medicines, invoices, payments, rooms.</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SQL Server Database</a:t>
            </a:r>
            <a:endParaRPr lang="en-US" sz="3000" dirty="0"/>
          </a:p>
        </p:txBody>
      </p:sp>
      <p:sp>
        <p:nvSpPr>
          <p:cNvPr id="4" name="SQL stat 1"/>
          <p:cNvSpPr/>
          <p:nvPr/>
        </p:nvSpPr>
        <p:spPr>
          <a:xfrm>
            <a:off x="457200" y="1143000"/>
            <a:ext cx="1920240" cy="914400"/>
          </a:xfrm>
          <a:prstGeom prst="roundRect">
            <a:avLst>
              <a:gd name="adj" fmla="val 8000"/>
            </a:avLst>
          </a:prstGeom>
          <a:solidFill>
            <a:srgbClr val="0E8C99"/>
          </a:solidFill>
          <a:ln/>
        </p:spPr>
      </p:sp>
      <p:sp>
        <p:nvSpPr>
          <p:cNvPr id="5" name="Text 2"/>
          <p:cNvSpPr txBox="1"/>
          <p:nvPr/>
        </p:nvSpPr>
        <p:spPr>
          <a:xfrm>
            <a:off x="594360" y="1143000"/>
            <a:ext cx="731520" cy="91440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12</a:t>
            </a:r>
            <a:endParaRPr lang="en-US" sz="3200" dirty="0"/>
          </a:p>
        </p:txBody>
      </p:sp>
      <p:sp>
        <p:nvSpPr>
          <p:cNvPr id="6" name="Text 3"/>
          <p:cNvSpPr txBox="1"/>
          <p:nvPr/>
        </p:nvSpPr>
        <p:spPr>
          <a:xfrm>
            <a:off x="1280160" y="1143000"/>
            <a:ext cx="1051560" cy="914400"/>
          </a:xfrm>
          <a:prstGeom prst="rect">
            <a:avLst/>
          </a:prstGeom>
          <a:noFill/>
          <a:ln/>
        </p:spPr>
        <p:txBody>
          <a:bodyPr wrap="square" lIns="0" tIns="0" rIns="0" bIns="0" rtlCol="0" anchor="ctr"/>
          <a:lstStyle/>
          <a:p>
            <a:pPr indent="0" marL="0">
              <a:buNone/>
            </a:pPr>
            <a:r>
              <a:rPr lang="en-US" sz="1200" dirty="0">
                <a:solidFill>
                  <a:schemeClr val="bg1"/>
                </a:solidFill>
              </a:rPr>
              <a:t>tables</a:t>
            </a:r>
            <a:endParaRPr lang="en-US" sz="1200" dirty="0"/>
          </a:p>
        </p:txBody>
      </p:sp>
      <p:sp>
        <p:nvSpPr>
          <p:cNvPr id="7" name="SQL stat 2"/>
          <p:cNvSpPr/>
          <p:nvPr/>
        </p:nvSpPr>
        <p:spPr>
          <a:xfrm>
            <a:off x="2560320" y="1143000"/>
            <a:ext cx="1920240" cy="914400"/>
          </a:xfrm>
          <a:prstGeom prst="roundRect">
            <a:avLst>
              <a:gd name="adj" fmla="val 8000"/>
            </a:avLst>
          </a:prstGeom>
          <a:solidFill>
            <a:srgbClr val="0E8C99"/>
          </a:solidFill>
          <a:ln/>
        </p:spPr>
      </p:sp>
      <p:sp>
        <p:nvSpPr>
          <p:cNvPr id="8" name="Text 5"/>
          <p:cNvSpPr txBox="1"/>
          <p:nvPr/>
        </p:nvSpPr>
        <p:spPr>
          <a:xfrm>
            <a:off x="2697480" y="1143000"/>
            <a:ext cx="731520" cy="91440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15</a:t>
            </a:r>
            <a:endParaRPr lang="en-US" sz="3200" dirty="0"/>
          </a:p>
        </p:txBody>
      </p:sp>
      <p:sp>
        <p:nvSpPr>
          <p:cNvPr id="9" name="Text 6"/>
          <p:cNvSpPr txBox="1"/>
          <p:nvPr/>
        </p:nvSpPr>
        <p:spPr>
          <a:xfrm>
            <a:off x="3383280" y="1143000"/>
            <a:ext cx="1051560" cy="914400"/>
          </a:xfrm>
          <a:prstGeom prst="rect">
            <a:avLst/>
          </a:prstGeom>
          <a:noFill/>
          <a:ln/>
        </p:spPr>
        <p:txBody>
          <a:bodyPr wrap="square" lIns="0" tIns="0" rIns="0" bIns="0" rtlCol="0" anchor="ctr"/>
          <a:lstStyle/>
          <a:p>
            <a:pPr indent="0" marL="0">
              <a:buNone/>
            </a:pPr>
            <a:r>
              <a:rPr lang="en-US" sz="1200" dirty="0">
                <a:solidFill>
                  <a:schemeClr val="bg1"/>
                </a:solidFill>
              </a:rPr>
              <a:t>foreign keys</a:t>
            </a:r>
            <a:endParaRPr lang="en-US" sz="1200" dirty="0"/>
          </a:p>
        </p:txBody>
      </p:sp>
      <p:sp>
        <p:nvSpPr>
          <p:cNvPr id="10" name="SQL stat 3"/>
          <p:cNvSpPr/>
          <p:nvPr/>
        </p:nvSpPr>
        <p:spPr>
          <a:xfrm>
            <a:off x="4663440" y="1143000"/>
            <a:ext cx="1920240" cy="914400"/>
          </a:xfrm>
          <a:prstGeom prst="roundRect">
            <a:avLst>
              <a:gd name="adj" fmla="val 8000"/>
            </a:avLst>
          </a:prstGeom>
          <a:solidFill>
            <a:srgbClr val="0E8C99"/>
          </a:solidFill>
          <a:ln/>
        </p:spPr>
      </p:sp>
      <p:sp>
        <p:nvSpPr>
          <p:cNvPr id="11" name="Text 8"/>
          <p:cNvSpPr txBox="1"/>
          <p:nvPr/>
        </p:nvSpPr>
        <p:spPr>
          <a:xfrm>
            <a:off x="4800600" y="1143000"/>
            <a:ext cx="731520" cy="91440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4</a:t>
            </a:r>
            <a:endParaRPr lang="en-US" sz="3200" dirty="0"/>
          </a:p>
        </p:txBody>
      </p:sp>
      <p:sp>
        <p:nvSpPr>
          <p:cNvPr id="12" name="Text 9"/>
          <p:cNvSpPr txBox="1"/>
          <p:nvPr/>
        </p:nvSpPr>
        <p:spPr>
          <a:xfrm>
            <a:off x="5486400" y="1143000"/>
            <a:ext cx="1051560" cy="914400"/>
          </a:xfrm>
          <a:prstGeom prst="rect">
            <a:avLst/>
          </a:prstGeom>
          <a:noFill/>
          <a:ln/>
        </p:spPr>
        <p:txBody>
          <a:bodyPr wrap="square" lIns="0" tIns="0" rIns="0" bIns="0" rtlCol="0" anchor="ctr"/>
          <a:lstStyle/>
          <a:p>
            <a:pPr indent="0" marL="0">
              <a:buNone/>
            </a:pPr>
            <a:r>
              <a:rPr lang="en-US" sz="1200" dirty="0">
                <a:solidFill>
                  <a:schemeClr val="bg1"/>
                </a:solidFill>
              </a:rPr>
              <a:t>views</a:t>
            </a:r>
            <a:endParaRPr lang="en-US" sz="1200" dirty="0"/>
          </a:p>
        </p:txBody>
      </p:sp>
      <p:sp>
        <p:nvSpPr>
          <p:cNvPr id="13" name="SQL stat 4"/>
          <p:cNvSpPr/>
          <p:nvPr/>
        </p:nvSpPr>
        <p:spPr>
          <a:xfrm>
            <a:off x="6766560" y="1143000"/>
            <a:ext cx="1920240" cy="914400"/>
          </a:xfrm>
          <a:prstGeom prst="roundRect">
            <a:avLst>
              <a:gd name="adj" fmla="val 8000"/>
            </a:avLst>
          </a:prstGeom>
          <a:solidFill>
            <a:srgbClr val="0E8C99"/>
          </a:solidFill>
          <a:ln/>
        </p:spPr>
      </p:sp>
      <p:sp>
        <p:nvSpPr>
          <p:cNvPr id="14" name="Text 11"/>
          <p:cNvSpPr txBox="1"/>
          <p:nvPr/>
        </p:nvSpPr>
        <p:spPr>
          <a:xfrm>
            <a:off x="6903720" y="1143000"/>
            <a:ext cx="731520" cy="91440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3</a:t>
            </a:r>
            <a:endParaRPr lang="en-US" sz="3200" dirty="0"/>
          </a:p>
        </p:txBody>
      </p:sp>
      <p:sp>
        <p:nvSpPr>
          <p:cNvPr id="15" name="Text 12"/>
          <p:cNvSpPr txBox="1"/>
          <p:nvPr/>
        </p:nvSpPr>
        <p:spPr>
          <a:xfrm>
            <a:off x="7589520" y="1143000"/>
            <a:ext cx="1051560" cy="914400"/>
          </a:xfrm>
          <a:prstGeom prst="rect">
            <a:avLst/>
          </a:prstGeom>
          <a:noFill/>
          <a:ln/>
        </p:spPr>
        <p:txBody>
          <a:bodyPr wrap="square" lIns="0" tIns="0" rIns="0" bIns="0" rtlCol="0" anchor="ctr"/>
          <a:lstStyle/>
          <a:p>
            <a:pPr indent="0" marL="0">
              <a:buNone/>
            </a:pPr>
            <a:r>
              <a:rPr lang="en-US" sz="1200" dirty="0">
                <a:solidFill>
                  <a:schemeClr val="bg1"/>
                </a:solidFill>
              </a:rPr>
              <a:t>stored procedures</a:t>
            </a:r>
            <a:endParaRPr lang="en-US" sz="1200" dirty="0"/>
          </a:p>
        </p:txBody>
      </p:sp>
      <p:sp>
        <p:nvSpPr>
          <p:cNvPr id="16" name="Text 13"/>
          <p:cNvSpPr txBox="1"/>
          <p:nvPr/>
        </p:nvSpPr>
        <p:spPr>
          <a:xfrm>
            <a:off x="457200" y="2240280"/>
            <a:ext cx="4206240" cy="320040"/>
          </a:xfrm>
          <a:prstGeom prst="rect">
            <a:avLst/>
          </a:prstGeom>
          <a:noFill/>
          <a:ln/>
        </p:spPr>
        <p:txBody>
          <a:bodyPr wrap="square" lIns="0" tIns="0" rIns="0" bIns="0" rtlCol="0" anchor="ctr"/>
          <a:lstStyle/>
          <a:p>
            <a:pPr indent="0" marL="0">
              <a:buNone/>
            </a:pPr>
            <a:r>
              <a:rPr lang="en-US" sz="1600" b="1" dirty="0">
                <a:solidFill>
                  <a:schemeClr val="tx2"/>
                </a:solidFill>
              </a:rPr>
              <a:t>Key relationships</a:t>
            </a:r>
            <a:endParaRPr lang="en-US" sz="1600" dirty="0"/>
          </a:p>
        </p:txBody>
      </p:sp>
      <p:sp>
        <p:nvSpPr>
          <p:cNvPr id="17" name="Text 14"/>
          <p:cNvSpPr txBox="1"/>
          <p:nvPr/>
        </p:nvSpPr>
        <p:spPr>
          <a:xfrm>
            <a:off x="457200" y="2606040"/>
            <a:ext cx="429768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Departments → Employees, Rooms</a:t>
            </a:r>
            <a:endParaRPr lang="en-US" sz="1200" dirty="0"/>
          </a:p>
          <a:p>
            <a:pPr marL="342900" indent="-342900">
              <a:spcAft>
                <a:spcPts val="400"/>
              </a:spcAft>
              <a:buSzPct val="100000"/>
              <a:buChar char="•"/>
            </a:pPr>
            <a:r>
              <a:rPr lang="en-US" sz="1200" dirty="0">
                <a:solidFill>
                  <a:schemeClr val="tx1"/>
                </a:solidFill>
              </a:rPr>
              <a:t>Patients → Appointments, Admissions, Medical Records, Prescriptions, Invoices</a:t>
            </a:r>
            <a:endParaRPr lang="en-US" sz="1200" dirty="0"/>
          </a:p>
          <a:p>
            <a:pPr marL="342900" indent="-342900">
              <a:spcAft>
                <a:spcPts val="400"/>
              </a:spcAft>
              <a:buSzPct val="100000"/>
              <a:buChar char="•"/>
            </a:pPr>
            <a:r>
              <a:rPr lang="en-US" sz="1200" dirty="0">
                <a:solidFill>
                  <a:schemeClr val="tx1"/>
                </a:solidFill>
              </a:rPr>
              <a:t>Employees → Attendance, and as doctors in Appointments, Admissions, Records, Prescriptions</a:t>
            </a:r>
            <a:endParaRPr lang="en-US" sz="1200" dirty="0"/>
          </a:p>
          <a:p>
            <a:pPr marL="342900" indent="-342900">
              <a:spcAft>
                <a:spcPts val="400"/>
              </a:spcAft>
              <a:buSzPct val="100000"/>
              <a:buChar char="•"/>
            </a:pPr>
            <a:r>
              <a:rPr lang="en-US" sz="1200" dirty="0">
                <a:solidFill>
                  <a:schemeClr val="tx1"/>
                </a:solidFill>
              </a:rPr>
              <a:t>Rooms → Admissions</a:t>
            </a:r>
            <a:endParaRPr lang="en-US" sz="1200" dirty="0"/>
          </a:p>
          <a:p>
            <a:pPr marL="342900" indent="-342900">
              <a:spcAft>
                <a:spcPts val="400"/>
              </a:spcAft>
              <a:buSzPct val="100000"/>
              <a:buChar char="•"/>
            </a:pPr>
            <a:r>
              <a:rPr lang="en-US" sz="1200" dirty="0">
                <a:solidFill>
                  <a:schemeClr val="tx1"/>
                </a:solidFill>
              </a:rPr>
              <a:t>Medicines → Prescriptions</a:t>
            </a:r>
            <a:endParaRPr lang="en-US" sz="1200" dirty="0"/>
          </a:p>
          <a:p>
            <a:pPr marL="342900" indent="-342900">
              <a:spcAft>
                <a:spcPts val="400"/>
              </a:spcAft>
              <a:buSzPct val="100000"/>
              <a:buChar char="•"/>
            </a:pPr>
            <a:r>
              <a:rPr lang="en-US" sz="1200" dirty="0">
                <a:solidFill>
                  <a:schemeClr val="tx1"/>
                </a:solidFill>
              </a:rPr>
              <a:t>Invoices → Payments</a:t>
            </a:r>
            <a:endParaRPr lang="en-US" sz="1200" dirty="0"/>
          </a:p>
        </p:txBody>
      </p:sp>
      <p:sp>
        <p:nvSpPr>
          <p:cNvPr id="18" name="Text 15"/>
          <p:cNvSpPr txBox="1"/>
          <p:nvPr/>
        </p:nvSpPr>
        <p:spPr>
          <a:xfrm>
            <a:off x="5120640" y="2240280"/>
            <a:ext cx="3566160" cy="320040"/>
          </a:xfrm>
          <a:prstGeom prst="rect">
            <a:avLst/>
          </a:prstGeom>
          <a:noFill/>
          <a:ln/>
        </p:spPr>
        <p:txBody>
          <a:bodyPr wrap="square" lIns="0" tIns="0" rIns="0" bIns="0" rtlCol="0" anchor="ctr"/>
          <a:lstStyle/>
          <a:p>
            <a:pPr indent="0" marL="0">
              <a:buNone/>
            </a:pPr>
            <a:r>
              <a:rPr lang="en-US" sz="1600" b="1" dirty="0">
                <a:solidFill>
                  <a:schemeClr val="tx2"/>
                </a:solidFill>
              </a:rPr>
              <a:t>Scripts, run in order</a:t>
            </a:r>
            <a:endParaRPr lang="en-US" sz="1600" dirty="0"/>
          </a:p>
        </p:txBody>
      </p:sp>
      <p:sp>
        <p:nvSpPr>
          <p:cNvPr id="19" name="Text 16"/>
          <p:cNvSpPr txBox="1"/>
          <p:nvPr/>
        </p:nvSpPr>
        <p:spPr>
          <a:xfrm>
            <a:off x="5120640" y="2606040"/>
            <a:ext cx="3566160" cy="210312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01 Create database</a:t>
            </a:r>
            <a:endParaRPr lang="en-US" sz="1200" dirty="0"/>
          </a:p>
          <a:p>
            <a:pPr indent="0" marL="0">
              <a:spcAft>
                <a:spcPts val="300"/>
              </a:spcAft>
              <a:buNone/>
            </a:pPr>
            <a:r>
              <a:rPr lang="en-US" sz="1200" dirty="0">
                <a:solidFill>
                  <a:schemeClr val="tx1"/>
                </a:solidFill>
              </a:rPr>
              <a:t>02 Create tables (PK, FK)</a:t>
            </a:r>
            <a:endParaRPr lang="en-US" sz="1200" dirty="0"/>
          </a:p>
          <a:p>
            <a:pPr indent="0" marL="0">
              <a:spcAft>
                <a:spcPts val="300"/>
              </a:spcAft>
              <a:buNone/>
            </a:pPr>
            <a:r>
              <a:rPr lang="en-US" sz="1200" dirty="0">
                <a:solidFill>
                  <a:schemeClr val="tx1"/>
                </a:solidFill>
              </a:rPr>
              <a:t>03 Import cleaned CSVs (wizard)</a:t>
            </a:r>
            <a:endParaRPr lang="en-US" sz="1200" dirty="0"/>
          </a:p>
          <a:p>
            <a:pPr indent="0" marL="0">
              <a:spcAft>
                <a:spcPts val="300"/>
              </a:spcAft>
              <a:buNone/>
            </a:pPr>
            <a:r>
              <a:rPr lang="en-US" sz="1200" dirty="0">
                <a:solidFill>
                  <a:schemeClr val="tx1"/>
                </a:solidFill>
              </a:rPr>
              <a:t>04 Constraints (4 CHECKs)</a:t>
            </a:r>
            <a:endParaRPr lang="en-US" sz="1200" dirty="0"/>
          </a:p>
          <a:p>
            <a:pPr indent="0" marL="0">
              <a:spcAft>
                <a:spcPts val="300"/>
              </a:spcAft>
              <a:buNone/>
            </a:pPr>
            <a:r>
              <a:rPr lang="en-US" sz="1200" dirty="0">
                <a:solidFill>
                  <a:schemeClr val="tx1"/>
                </a:solidFill>
              </a:rPr>
              <a:t>05 Views</a:t>
            </a:r>
            <a:endParaRPr lang="en-US" sz="1200" dirty="0"/>
          </a:p>
          <a:p>
            <a:pPr indent="0" marL="0">
              <a:spcAft>
                <a:spcPts val="300"/>
              </a:spcAft>
              <a:buNone/>
            </a:pPr>
            <a:r>
              <a:rPr lang="en-US" sz="1200" dirty="0">
                <a:solidFill>
                  <a:schemeClr val="tx1"/>
                </a:solidFill>
              </a:rPr>
              <a:t>06 Stored procedures</a:t>
            </a:r>
            <a:endParaRPr lang="en-US" sz="1200" dirty="0"/>
          </a:p>
          <a:p>
            <a:pPr indent="0" marL="0">
              <a:spcAft>
                <a:spcPts val="300"/>
              </a:spcAft>
              <a:buNone/>
            </a:pPr>
            <a:r>
              <a:rPr lang="en-US" sz="1200" dirty="0">
                <a:solidFill>
                  <a:schemeClr val="tx1"/>
                </a:solidFill>
              </a:rPr>
              <a:t>07 Analysis queries (8)</a:t>
            </a:r>
            <a:endParaRPr lang="en-US" sz="1200" dirty="0"/>
          </a:p>
          <a:p>
            <a:pPr indent="0" marL="0">
              <a:spcAft>
                <a:spcPts val="300"/>
              </a:spcAft>
              <a:buNone/>
            </a:pPr>
            <a:r>
              <a:rPr lang="en-US" sz="1200" dirty="0">
                <a:solidFill>
                  <a:schemeClr val="tx1"/>
                </a:solidFill>
              </a:rPr>
              <a:t>08 Testing</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Streamlit Application</a:t>
            </a:r>
            <a:endParaRPr lang="en-US" sz="3000" dirty="0"/>
          </a:p>
        </p:txBody>
      </p:sp>
      <p:sp>
        <p:nvSpPr>
          <p:cNvPr id="4" name="Sidebar panel"/>
          <p:cNvSpPr/>
          <p:nvPr/>
        </p:nvSpPr>
        <p:spPr>
          <a:xfrm>
            <a:off x="457200" y="1097280"/>
            <a:ext cx="2926080" cy="3520440"/>
          </a:xfrm>
          <a:prstGeom prst="roundRect">
            <a:avLst>
              <a:gd name="adj" fmla="val 2500"/>
            </a:avLst>
          </a:prstGeom>
          <a:solidFill>
            <a:srgbClr val="0B4F6C"/>
          </a:solidFill>
          <a:ln/>
        </p:spPr>
      </p:sp>
      <p:sp>
        <p:nvSpPr>
          <p:cNvPr id="5" name="Text 2"/>
          <p:cNvSpPr txBox="1"/>
          <p:nvPr/>
        </p:nvSpPr>
        <p:spPr>
          <a:xfrm>
            <a:off x="640080" y="1170432"/>
            <a:ext cx="2560320" cy="320040"/>
          </a:xfrm>
          <a:prstGeom prst="rect">
            <a:avLst/>
          </a:prstGeom>
          <a:noFill/>
          <a:ln/>
        </p:spPr>
        <p:txBody>
          <a:bodyPr wrap="square" lIns="0" tIns="0" rIns="0" bIns="0" rtlCol="0" anchor="ctr"/>
          <a:lstStyle/>
          <a:p>
            <a:pPr indent="0" marL="0">
              <a:buNone/>
            </a:pPr>
            <a:r>
              <a:rPr lang="en-US" sz="1200" b="1" dirty="0">
                <a:solidFill>
                  <a:schemeClr val="accent3"/>
                </a:solidFill>
              </a:rPr>
              <a:t>Sidebar: 13 pages</a:t>
            </a:r>
            <a:endParaRPr lang="en-US" sz="1200" dirty="0"/>
          </a:p>
        </p:txBody>
      </p:sp>
      <p:sp>
        <p:nvSpPr>
          <p:cNvPr id="6" name="Text 3"/>
          <p:cNvSpPr txBox="1"/>
          <p:nvPr/>
        </p:nvSpPr>
        <p:spPr>
          <a:xfrm>
            <a:off x="640080" y="1508760"/>
            <a:ext cx="2560320" cy="3017520"/>
          </a:xfrm>
          <a:prstGeom prst="rect">
            <a:avLst/>
          </a:prstGeom>
          <a:noFill/>
          <a:ln/>
        </p:spPr>
        <p:txBody>
          <a:bodyPr wrap="square" lIns="0" tIns="0" rIns="0" bIns="0" rtlCol="0" anchor="t"/>
          <a:lstStyle/>
          <a:p>
            <a:pPr indent="0" marL="0">
              <a:spcAft>
                <a:spcPts val="200"/>
              </a:spcAft>
              <a:buNone/>
            </a:pPr>
            <a:r>
              <a:rPr lang="en-US" sz="1200" dirty="0">
                <a:solidFill>
                  <a:schemeClr val="bg1"/>
                </a:solidFill>
              </a:rPr>
              <a:t>Dashboard</a:t>
            </a:r>
            <a:endParaRPr lang="en-US" sz="1200" dirty="0"/>
          </a:p>
          <a:p>
            <a:pPr indent="0" marL="0">
              <a:spcAft>
                <a:spcPts val="200"/>
              </a:spcAft>
              <a:buNone/>
            </a:pPr>
            <a:r>
              <a:rPr lang="en-US" sz="1200" dirty="0">
                <a:solidFill>
                  <a:schemeClr val="bg1"/>
                </a:solidFill>
              </a:rPr>
              <a:t>Patients</a:t>
            </a:r>
            <a:endParaRPr lang="en-US" sz="1200" dirty="0"/>
          </a:p>
          <a:p>
            <a:pPr indent="0" marL="0">
              <a:spcAft>
                <a:spcPts val="200"/>
              </a:spcAft>
              <a:buNone/>
            </a:pPr>
            <a:r>
              <a:rPr lang="en-US" sz="1200" dirty="0">
                <a:solidFill>
                  <a:schemeClr val="bg1"/>
                </a:solidFill>
              </a:rPr>
              <a:t>Doctors</a:t>
            </a:r>
            <a:endParaRPr lang="en-US" sz="1200" dirty="0"/>
          </a:p>
          <a:p>
            <a:pPr indent="0" marL="0">
              <a:spcAft>
                <a:spcPts val="200"/>
              </a:spcAft>
              <a:buNone/>
            </a:pPr>
            <a:r>
              <a:rPr lang="en-US" sz="1200" dirty="0">
                <a:solidFill>
                  <a:schemeClr val="bg1"/>
                </a:solidFill>
              </a:rPr>
              <a:t>Nurses</a:t>
            </a:r>
            <a:endParaRPr lang="en-US" sz="1200" dirty="0"/>
          </a:p>
          <a:p>
            <a:pPr indent="0" marL="0">
              <a:spcAft>
                <a:spcPts val="200"/>
              </a:spcAft>
              <a:buNone/>
            </a:pPr>
            <a:r>
              <a:rPr lang="en-US" sz="1200" dirty="0">
                <a:solidFill>
                  <a:schemeClr val="bg1"/>
                </a:solidFill>
              </a:rPr>
              <a:t>Employees</a:t>
            </a:r>
            <a:endParaRPr lang="en-US" sz="1200" dirty="0"/>
          </a:p>
          <a:p>
            <a:pPr indent="0" marL="0">
              <a:spcAft>
                <a:spcPts val="200"/>
              </a:spcAft>
              <a:buNone/>
            </a:pPr>
            <a:r>
              <a:rPr lang="en-US" sz="1200" dirty="0">
                <a:solidFill>
                  <a:schemeClr val="bg1"/>
                </a:solidFill>
              </a:rPr>
              <a:t>Attendance</a:t>
            </a:r>
            <a:endParaRPr lang="en-US" sz="1200" dirty="0"/>
          </a:p>
          <a:p>
            <a:pPr indent="0" marL="0">
              <a:spcAft>
                <a:spcPts val="200"/>
              </a:spcAft>
              <a:buNone/>
            </a:pPr>
            <a:r>
              <a:rPr lang="en-US" sz="1200" dirty="0">
                <a:solidFill>
                  <a:schemeClr val="bg1"/>
                </a:solidFill>
              </a:rPr>
              <a:t>Appointments</a:t>
            </a:r>
            <a:endParaRPr lang="en-US" sz="1200" dirty="0"/>
          </a:p>
          <a:p>
            <a:pPr indent="0" marL="0">
              <a:spcAft>
                <a:spcPts val="200"/>
              </a:spcAft>
              <a:buNone/>
            </a:pPr>
            <a:r>
              <a:rPr lang="en-US" sz="1200" dirty="0">
                <a:solidFill>
                  <a:schemeClr val="bg1"/>
                </a:solidFill>
              </a:rPr>
              <a:t>Admissions</a:t>
            </a:r>
            <a:endParaRPr lang="en-US" sz="1200" dirty="0"/>
          </a:p>
          <a:p>
            <a:pPr indent="0" marL="0">
              <a:spcAft>
                <a:spcPts val="200"/>
              </a:spcAft>
              <a:buNone/>
            </a:pPr>
            <a:r>
              <a:rPr lang="en-US" sz="1200" dirty="0">
                <a:solidFill>
                  <a:schemeClr val="bg1"/>
                </a:solidFill>
              </a:rPr>
              <a:t>Medical Records</a:t>
            </a:r>
            <a:endParaRPr lang="en-US" sz="1200" dirty="0"/>
          </a:p>
          <a:p>
            <a:pPr indent="0" marL="0">
              <a:spcAft>
                <a:spcPts val="200"/>
              </a:spcAft>
              <a:buNone/>
            </a:pPr>
            <a:r>
              <a:rPr lang="en-US" sz="1200" dirty="0">
                <a:solidFill>
                  <a:schemeClr val="bg1"/>
                </a:solidFill>
              </a:rPr>
              <a:t>Pharmacy</a:t>
            </a:r>
            <a:endParaRPr lang="en-US" sz="1200" dirty="0"/>
          </a:p>
          <a:p>
            <a:pPr indent="0" marL="0">
              <a:spcAft>
                <a:spcPts val="200"/>
              </a:spcAft>
              <a:buNone/>
            </a:pPr>
            <a:r>
              <a:rPr lang="en-US" sz="1200" dirty="0">
                <a:solidFill>
                  <a:schemeClr val="bg1"/>
                </a:solidFill>
              </a:rPr>
              <a:t>Billing</a:t>
            </a:r>
            <a:endParaRPr lang="en-US" sz="1200" dirty="0"/>
          </a:p>
          <a:p>
            <a:pPr indent="0" marL="0">
              <a:spcAft>
                <a:spcPts val="200"/>
              </a:spcAft>
              <a:buNone/>
            </a:pPr>
            <a:r>
              <a:rPr lang="en-US" sz="1200" dirty="0">
                <a:solidFill>
                  <a:schemeClr val="bg1"/>
                </a:solidFill>
              </a:rPr>
              <a:t>Payments</a:t>
            </a:r>
            <a:endParaRPr lang="en-US" sz="1200" dirty="0"/>
          </a:p>
          <a:p>
            <a:pPr indent="0" marL="0">
              <a:spcAft>
                <a:spcPts val="200"/>
              </a:spcAft>
              <a:buNone/>
            </a:pPr>
            <a:r>
              <a:rPr lang="en-US" sz="1200" dirty="0">
                <a:solidFill>
                  <a:schemeClr val="bg1"/>
                </a:solidFill>
              </a:rPr>
              <a:t>Analytics</a:t>
            </a:r>
            <a:endParaRPr lang="en-US" sz="1200" dirty="0"/>
          </a:p>
        </p:txBody>
      </p:sp>
      <p:sp>
        <p:nvSpPr>
          <p:cNvPr id="7" name="Flow step 1"/>
          <p:cNvSpPr/>
          <p:nvPr/>
        </p:nvSpPr>
        <p:spPr>
          <a:xfrm>
            <a:off x="3749040" y="1097280"/>
            <a:ext cx="4937760" cy="502920"/>
          </a:xfrm>
          <a:prstGeom prst="roundRect">
            <a:avLst>
              <a:gd name="adj" fmla="val 14545"/>
            </a:avLst>
          </a:prstGeom>
          <a:solidFill>
            <a:schemeClr val="bg2"/>
          </a:solidFill>
          <a:ln/>
        </p:spPr>
      </p:sp>
      <p:sp>
        <p:nvSpPr>
          <p:cNvPr id="8" name="Text 5"/>
          <p:cNvSpPr txBox="1"/>
          <p:nvPr/>
        </p:nvSpPr>
        <p:spPr>
          <a:xfrm>
            <a:off x="3749040" y="1097280"/>
            <a:ext cx="4937760" cy="502920"/>
          </a:xfrm>
          <a:prstGeom prst="rect">
            <a:avLst/>
          </a:prstGeom>
          <a:noFill/>
          <a:ln/>
        </p:spPr>
        <p:txBody>
          <a:bodyPr wrap="square" lIns="0" tIns="0" rIns="0" bIns="0" rtlCol="0" anchor="ctr"/>
          <a:lstStyle/>
          <a:p>
            <a:pPr algn="ctr" indent="0" marL="0">
              <a:buNone/>
            </a:pPr>
            <a:r>
              <a:rPr lang="en-US" sz="1400" b="1" dirty="0">
                <a:solidFill>
                  <a:schemeClr val="tx2"/>
                </a:solidFill>
              </a:rPr>
              <a:t>Cleaned CSV files</a:t>
            </a:r>
            <a:endParaRPr lang="en-US" sz="1400" dirty="0"/>
          </a:p>
        </p:txBody>
      </p:sp>
      <p:sp>
        <p:nvSpPr>
          <p:cNvPr id="9" name="Flow arrow 1"/>
          <p:cNvSpPr/>
          <p:nvPr/>
        </p:nvSpPr>
        <p:spPr>
          <a:xfrm>
            <a:off x="6217920" y="1618488"/>
            <a:ext cx="0" cy="146304"/>
          </a:xfrm>
          <a:prstGeom prst="line">
            <a:avLst/>
          </a:prstGeom>
          <a:noFill/>
          <a:ln w="25400">
            <a:solidFill>
              <a:srgbClr val="0E8C99"/>
            </a:solidFill>
            <a:prstDash val="solid"/>
            <a:tailEnd type="triangle"/>
          </a:ln>
        </p:spPr>
      </p:sp>
      <p:sp>
        <p:nvSpPr>
          <p:cNvPr id="10" name="Flow step 2"/>
          <p:cNvSpPr/>
          <p:nvPr/>
        </p:nvSpPr>
        <p:spPr>
          <a:xfrm>
            <a:off x="3749040" y="1783080"/>
            <a:ext cx="4937760" cy="502920"/>
          </a:xfrm>
          <a:prstGeom prst="roundRect">
            <a:avLst>
              <a:gd name="adj" fmla="val 14545"/>
            </a:avLst>
          </a:prstGeom>
          <a:solidFill>
            <a:schemeClr val="bg2"/>
          </a:solidFill>
          <a:ln/>
        </p:spPr>
      </p:sp>
      <p:sp>
        <p:nvSpPr>
          <p:cNvPr id="11" name="Text 8"/>
          <p:cNvSpPr txBox="1"/>
          <p:nvPr/>
        </p:nvSpPr>
        <p:spPr>
          <a:xfrm>
            <a:off x="3749040" y="1783080"/>
            <a:ext cx="4937760" cy="502920"/>
          </a:xfrm>
          <a:prstGeom prst="rect">
            <a:avLst/>
          </a:prstGeom>
          <a:noFill/>
          <a:ln/>
        </p:spPr>
        <p:txBody>
          <a:bodyPr wrap="square" lIns="0" tIns="0" rIns="0" bIns="0" rtlCol="0" anchor="ctr"/>
          <a:lstStyle/>
          <a:p>
            <a:pPr algn="ctr" indent="0" marL="0">
              <a:buNone/>
            </a:pPr>
            <a:r>
              <a:rPr lang="en-US" sz="1400" b="1" dirty="0">
                <a:solidFill>
                  <a:schemeClr val="tx2"/>
                </a:solidFill>
              </a:rPr>
              <a:t>Pandas read_csv, cached</a:t>
            </a:r>
            <a:endParaRPr lang="en-US" sz="1400" dirty="0"/>
          </a:p>
        </p:txBody>
      </p:sp>
      <p:sp>
        <p:nvSpPr>
          <p:cNvPr id="12" name="Flow arrow 2"/>
          <p:cNvSpPr/>
          <p:nvPr/>
        </p:nvSpPr>
        <p:spPr>
          <a:xfrm>
            <a:off x="6217920" y="2304288"/>
            <a:ext cx="0" cy="146304"/>
          </a:xfrm>
          <a:prstGeom prst="line">
            <a:avLst/>
          </a:prstGeom>
          <a:noFill/>
          <a:ln w="25400">
            <a:solidFill>
              <a:srgbClr val="0E8C99"/>
            </a:solidFill>
            <a:prstDash val="solid"/>
            <a:tailEnd type="triangle"/>
          </a:ln>
        </p:spPr>
      </p:sp>
      <p:sp>
        <p:nvSpPr>
          <p:cNvPr id="13" name="Flow step 3"/>
          <p:cNvSpPr/>
          <p:nvPr/>
        </p:nvSpPr>
        <p:spPr>
          <a:xfrm>
            <a:off x="3749040" y="2468880"/>
            <a:ext cx="4937760" cy="502920"/>
          </a:xfrm>
          <a:prstGeom prst="roundRect">
            <a:avLst>
              <a:gd name="adj" fmla="val 14545"/>
            </a:avLst>
          </a:prstGeom>
          <a:solidFill>
            <a:srgbClr val="0E8C99"/>
          </a:solidFill>
          <a:ln/>
        </p:spPr>
      </p:sp>
      <p:sp>
        <p:nvSpPr>
          <p:cNvPr id="14" name="Text 11"/>
          <p:cNvSpPr txBox="1"/>
          <p:nvPr/>
        </p:nvSpPr>
        <p:spPr>
          <a:xfrm>
            <a:off x="3749040" y="2468880"/>
            <a:ext cx="4937760" cy="502920"/>
          </a:xfrm>
          <a:prstGeom prst="rect">
            <a:avLst/>
          </a:prstGeom>
          <a:noFill/>
          <a:ln/>
        </p:spPr>
        <p:txBody>
          <a:bodyPr wrap="square" lIns="0" tIns="0" rIns="0" bIns="0" rtlCol="0" anchor="ctr"/>
          <a:lstStyle/>
          <a:p>
            <a:pPr algn="ctr" indent="0" marL="0">
              <a:buNone/>
            </a:pPr>
            <a:r>
              <a:rPr lang="en-US" sz="1400" b="1" dirty="0">
                <a:solidFill>
                  <a:schemeClr val="bg1"/>
                </a:solidFill>
              </a:rPr>
              <a:t>Streamlit pages</a:t>
            </a:r>
            <a:endParaRPr lang="en-US" sz="1400" dirty="0"/>
          </a:p>
        </p:txBody>
      </p:sp>
      <p:sp>
        <p:nvSpPr>
          <p:cNvPr id="15" name="Text 12"/>
          <p:cNvSpPr txBox="1"/>
          <p:nvPr/>
        </p:nvSpPr>
        <p:spPr>
          <a:xfrm>
            <a:off x="3749040" y="3246120"/>
            <a:ext cx="4937760"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Interactive, sortable data tables</a:t>
            </a:r>
            <a:endParaRPr lang="en-US" sz="1400" dirty="0"/>
          </a:p>
          <a:p>
            <a:pPr marL="342900" indent="-342900">
              <a:spcAft>
                <a:spcPts val="500"/>
              </a:spcAft>
              <a:buSzPct val="100000"/>
              <a:buChar char="•"/>
            </a:pPr>
            <a:r>
              <a:rPr lang="en-US" sz="1400" dirty="0">
                <a:solidFill>
                  <a:schemeClr val="tx1"/>
                </a:solidFill>
              </a:rPr>
              <a:t>KPI cards and status charts</a:t>
            </a:r>
            <a:endParaRPr lang="en-US" sz="1400" dirty="0"/>
          </a:p>
          <a:p>
            <a:pPr marL="342900" indent="-342900">
              <a:spcAft>
                <a:spcPts val="500"/>
              </a:spcAft>
              <a:buSzPct val="100000"/>
              <a:buChar char="•"/>
            </a:pPr>
            <a:r>
              <a:rPr lang="en-US" sz="1400" dirty="0">
                <a:solidFill>
                  <a:schemeClr val="tx1"/>
                </a:solidFill>
              </a:rPr>
              <a:t>Pharmacy low-stock flag</a:t>
            </a:r>
            <a:endParaRPr lang="en-US" sz="1400" dirty="0"/>
          </a:p>
          <a:p>
            <a:pPr marL="342900" indent="-342900">
              <a:spcAft>
                <a:spcPts val="500"/>
              </a:spcAft>
              <a:buSzPct val="100000"/>
              <a:buChar char="•"/>
            </a:pPr>
            <a:r>
              <a:rPr lang="en-US" sz="1400" dirty="0">
                <a:solidFill>
                  <a:schemeClr val="tx1"/>
                </a:solidFill>
              </a:rPr>
              <a:t>Billing and payments summaries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Dashboard &amp; KPIs</a:t>
            </a:r>
            <a:endParaRPr lang="en-US" sz="3000" dirty="0"/>
          </a:p>
        </p:txBody>
      </p:sp>
      <p:sp>
        <p:nvSpPr>
          <p:cNvPr id="4" name="KPI card Patients"/>
          <p:cNvSpPr/>
          <p:nvPr/>
        </p:nvSpPr>
        <p:spPr>
          <a:xfrm>
            <a:off x="457200" y="1143000"/>
            <a:ext cx="1554480" cy="1325880"/>
          </a:xfrm>
          <a:prstGeom prst="roundRect">
            <a:avLst>
              <a:gd name="adj" fmla="val 5517"/>
            </a:avLst>
          </a:prstGeom>
          <a:solidFill>
            <a:srgbClr val="0E8C99"/>
          </a:solidFill>
          <a:ln/>
        </p:spPr>
      </p:sp>
      <p:sp>
        <p:nvSpPr>
          <p:cNvPr id="5" name="Text 2"/>
          <p:cNvSpPr txBox="1"/>
          <p:nvPr/>
        </p:nvSpPr>
        <p:spPr>
          <a:xfrm>
            <a:off x="457200" y="1234440"/>
            <a:ext cx="1554480" cy="77724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1,200</a:t>
            </a:r>
            <a:endParaRPr lang="en-US" sz="3000" dirty="0"/>
          </a:p>
        </p:txBody>
      </p:sp>
      <p:sp>
        <p:nvSpPr>
          <p:cNvPr id="6" name="Text 3"/>
          <p:cNvSpPr txBox="1"/>
          <p:nvPr/>
        </p:nvSpPr>
        <p:spPr>
          <a:xfrm>
            <a:off x="457200" y="2011680"/>
            <a:ext cx="1554480" cy="365760"/>
          </a:xfrm>
          <a:prstGeom prst="rect">
            <a:avLst/>
          </a:prstGeom>
          <a:noFill/>
          <a:ln/>
        </p:spPr>
        <p:txBody>
          <a:bodyPr wrap="square" lIns="0" tIns="0" rIns="0" bIns="0" rtlCol="0" anchor="ctr"/>
          <a:lstStyle/>
          <a:p>
            <a:pPr algn="ctr" indent="0" marL="0">
              <a:buNone/>
            </a:pPr>
            <a:r>
              <a:rPr lang="en-US" sz="1400" dirty="0">
                <a:solidFill>
                  <a:schemeClr val="bg1"/>
                </a:solidFill>
              </a:rPr>
              <a:t>Patients</a:t>
            </a:r>
            <a:endParaRPr lang="en-US" sz="1400" dirty="0"/>
          </a:p>
        </p:txBody>
      </p:sp>
      <p:sp>
        <p:nvSpPr>
          <p:cNvPr id="7" name="KPI card Employees"/>
          <p:cNvSpPr/>
          <p:nvPr/>
        </p:nvSpPr>
        <p:spPr>
          <a:xfrm>
            <a:off x="2139696" y="1143000"/>
            <a:ext cx="1554480" cy="1325880"/>
          </a:xfrm>
          <a:prstGeom prst="roundRect">
            <a:avLst>
              <a:gd name="adj" fmla="val 5517"/>
            </a:avLst>
          </a:prstGeom>
          <a:solidFill>
            <a:srgbClr val="0E8C99"/>
          </a:solidFill>
          <a:ln/>
        </p:spPr>
      </p:sp>
      <p:sp>
        <p:nvSpPr>
          <p:cNvPr id="8" name="Text 5"/>
          <p:cNvSpPr txBox="1"/>
          <p:nvPr/>
        </p:nvSpPr>
        <p:spPr>
          <a:xfrm>
            <a:off x="2139696" y="1234440"/>
            <a:ext cx="1554480" cy="77724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520</a:t>
            </a:r>
            <a:endParaRPr lang="en-US" sz="3000" dirty="0"/>
          </a:p>
        </p:txBody>
      </p:sp>
      <p:sp>
        <p:nvSpPr>
          <p:cNvPr id="9" name="Text 6"/>
          <p:cNvSpPr txBox="1"/>
          <p:nvPr/>
        </p:nvSpPr>
        <p:spPr>
          <a:xfrm>
            <a:off x="2139696" y="2011680"/>
            <a:ext cx="1554480" cy="365760"/>
          </a:xfrm>
          <a:prstGeom prst="rect">
            <a:avLst/>
          </a:prstGeom>
          <a:noFill/>
          <a:ln/>
        </p:spPr>
        <p:txBody>
          <a:bodyPr wrap="square" lIns="0" tIns="0" rIns="0" bIns="0" rtlCol="0" anchor="ctr"/>
          <a:lstStyle/>
          <a:p>
            <a:pPr algn="ctr" indent="0" marL="0">
              <a:buNone/>
            </a:pPr>
            <a:r>
              <a:rPr lang="en-US" sz="1400" dirty="0">
                <a:solidFill>
                  <a:schemeClr val="bg1"/>
                </a:solidFill>
              </a:rPr>
              <a:t>Employees</a:t>
            </a:r>
            <a:endParaRPr lang="en-US" sz="1400" dirty="0"/>
          </a:p>
        </p:txBody>
      </p:sp>
      <p:sp>
        <p:nvSpPr>
          <p:cNvPr id="10" name="KPI card Doctors"/>
          <p:cNvSpPr/>
          <p:nvPr/>
        </p:nvSpPr>
        <p:spPr>
          <a:xfrm>
            <a:off x="3822192" y="1143000"/>
            <a:ext cx="1554480" cy="1325880"/>
          </a:xfrm>
          <a:prstGeom prst="roundRect">
            <a:avLst>
              <a:gd name="adj" fmla="val 5517"/>
            </a:avLst>
          </a:prstGeom>
          <a:solidFill>
            <a:srgbClr val="0E8C99"/>
          </a:solidFill>
          <a:ln/>
        </p:spPr>
      </p:sp>
      <p:sp>
        <p:nvSpPr>
          <p:cNvPr id="11" name="Text 8"/>
          <p:cNvSpPr txBox="1"/>
          <p:nvPr/>
        </p:nvSpPr>
        <p:spPr>
          <a:xfrm>
            <a:off x="3822192" y="1234440"/>
            <a:ext cx="1554480" cy="77724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90</a:t>
            </a:r>
            <a:endParaRPr lang="en-US" sz="3000" dirty="0"/>
          </a:p>
        </p:txBody>
      </p:sp>
      <p:sp>
        <p:nvSpPr>
          <p:cNvPr id="12" name="Text 9"/>
          <p:cNvSpPr txBox="1"/>
          <p:nvPr/>
        </p:nvSpPr>
        <p:spPr>
          <a:xfrm>
            <a:off x="3822192" y="2011680"/>
            <a:ext cx="1554480" cy="365760"/>
          </a:xfrm>
          <a:prstGeom prst="rect">
            <a:avLst/>
          </a:prstGeom>
          <a:noFill/>
          <a:ln/>
        </p:spPr>
        <p:txBody>
          <a:bodyPr wrap="square" lIns="0" tIns="0" rIns="0" bIns="0" rtlCol="0" anchor="ctr"/>
          <a:lstStyle/>
          <a:p>
            <a:pPr algn="ctr" indent="0" marL="0">
              <a:buNone/>
            </a:pPr>
            <a:r>
              <a:rPr lang="en-US" sz="1400" dirty="0">
                <a:solidFill>
                  <a:schemeClr val="bg1"/>
                </a:solidFill>
              </a:rPr>
              <a:t>Doctors</a:t>
            </a:r>
            <a:endParaRPr lang="en-US" sz="1400" dirty="0"/>
          </a:p>
        </p:txBody>
      </p:sp>
      <p:sp>
        <p:nvSpPr>
          <p:cNvPr id="13" name="KPI card Appointments"/>
          <p:cNvSpPr/>
          <p:nvPr/>
        </p:nvSpPr>
        <p:spPr>
          <a:xfrm>
            <a:off x="5504688" y="1143000"/>
            <a:ext cx="1554480" cy="1325880"/>
          </a:xfrm>
          <a:prstGeom prst="roundRect">
            <a:avLst>
              <a:gd name="adj" fmla="val 5517"/>
            </a:avLst>
          </a:prstGeom>
          <a:solidFill>
            <a:srgbClr val="0E8C99"/>
          </a:solidFill>
          <a:ln/>
        </p:spPr>
      </p:sp>
      <p:sp>
        <p:nvSpPr>
          <p:cNvPr id="14" name="Text 11"/>
          <p:cNvSpPr txBox="1"/>
          <p:nvPr/>
        </p:nvSpPr>
        <p:spPr>
          <a:xfrm>
            <a:off x="5504688" y="1234440"/>
            <a:ext cx="1554480" cy="77724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2,400</a:t>
            </a:r>
            <a:endParaRPr lang="en-US" sz="3000" dirty="0"/>
          </a:p>
        </p:txBody>
      </p:sp>
      <p:sp>
        <p:nvSpPr>
          <p:cNvPr id="15" name="Text 12"/>
          <p:cNvSpPr txBox="1"/>
          <p:nvPr/>
        </p:nvSpPr>
        <p:spPr>
          <a:xfrm>
            <a:off x="5504688" y="2011680"/>
            <a:ext cx="1554480" cy="365760"/>
          </a:xfrm>
          <a:prstGeom prst="rect">
            <a:avLst/>
          </a:prstGeom>
          <a:noFill/>
          <a:ln/>
        </p:spPr>
        <p:txBody>
          <a:bodyPr wrap="square" lIns="0" tIns="0" rIns="0" bIns="0" rtlCol="0" anchor="ctr"/>
          <a:lstStyle/>
          <a:p>
            <a:pPr algn="ctr" indent="0" marL="0">
              <a:buNone/>
            </a:pPr>
            <a:r>
              <a:rPr lang="en-US" sz="1400" dirty="0">
                <a:solidFill>
                  <a:schemeClr val="bg1"/>
                </a:solidFill>
              </a:rPr>
              <a:t>Appointments</a:t>
            </a:r>
            <a:endParaRPr lang="en-US" sz="1400" dirty="0"/>
          </a:p>
        </p:txBody>
      </p:sp>
      <p:sp>
        <p:nvSpPr>
          <p:cNvPr id="16" name="KPI card Total invoiced"/>
          <p:cNvSpPr/>
          <p:nvPr/>
        </p:nvSpPr>
        <p:spPr>
          <a:xfrm>
            <a:off x="7187184" y="1143000"/>
            <a:ext cx="1554480" cy="1325880"/>
          </a:xfrm>
          <a:prstGeom prst="roundRect">
            <a:avLst>
              <a:gd name="adj" fmla="val 5517"/>
            </a:avLst>
          </a:prstGeom>
          <a:solidFill>
            <a:srgbClr val="0B4F6C"/>
          </a:solidFill>
          <a:ln/>
        </p:spPr>
      </p:sp>
      <p:sp>
        <p:nvSpPr>
          <p:cNvPr id="17" name="Text 14"/>
          <p:cNvSpPr txBox="1"/>
          <p:nvPr/>
        </p:nvSpPr>
        <p:spPr>
          <a:xfrm>
            <a:off x="7187184" y="1234440"/>
            <a:ext cx="1554480" cy="77724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11.3M</a:t>
            </a:r>
            <a:endParaRPr lang="en-US" sz="3000" dirty="0"/>
          </a:p>
        </p:txBody>
      </p:sp>
      <p:sp>
        <p:nvSpPr>
          <p:cNvPr id="18" name="Text 15"/>
          <p:cNvSpPr txBox="1"/>
          <p:nvPr/>
        </p:nvSpPr>
        <p:spPr>
          <a:xfrm>
            <a:off x="7187184" y="2011680"/>
            <a:ext cx="1554480" cy="365760"/>
          </a:xfrm>
          <a:prstGeom prst="rect">
            <a:avLst/>
          </a:prstGeom>
          <a:noFill/>
          <a:ln/>
        </p:spPr>
        <p:txBody>
          <a:bodyPr wrap="square" lIns="0" tIns="0" rIns="0" bIns="0" rtlCol="0" anchor="ctr"/>
          <a:lstStyle/>
          <a:p>
            <a:pPr algn="ctr" indent="0" marL="0">
              <a:buNone/>
            </a:pPr>
            <a:r>
              <a:rPr lang="en-US" sz="1400" dirty="0">
                <a:solidFill>
                  <a:schemeClr val="bg1"/>
                </a:solidFill>
              </a:rPr>
              <a:t>Total invoiced</a:t>
            </a:r>
            <a:endParaRPr lang="en-US" sz="1400" dirty="0"/>
          </a:p>
        </p:txBody>
      </p:sp>
      <p:sp>
        <p:nvSpPr>
          <p:cNvPr id="19" name="Page card Dashboard page"/>
          <p:cNvSpPr/>
          <p:nvPr/>
        </p:nvSpPr>
        <p:spPr>
          <a:xfrm>
            <a:off x="457200" y="2743200"/>
            <a:ext cx="2651760" cy="1828800"/>
          </a:xfrm>
          <a:prstGeom prst="roundRect">
            <a:avLst>
              <a:gd name="adj" fmla="val 4000"/>
            </a:avLst>
          </a:prstGeom>
          <a:solidFill>
            <a:schemeClr val="bg2"/>
          </a:solidFill>
          <a:ln/>
        </p:spPr>
      </p:sp>
      <p:sp>
        <p:nvSpPr>
          <p:cNvPr id="20" name="Dashboard page circle"/>
          <p:cNvSpPr/>
          <p:nvPr/>
        </p:nvSpPr>
        <p:spPr>
          <a:xfrm>
            <a:off x="640080" y="2926080"/>
            <a:ext cx="548640" cy="548640"/>
          </a:xfrm>
          <a:prstGeom prst="ellipse">
            <a:avLst/>
          </a:prstGeom>
          <a:solidFill>
            <a:srgbClr val="0E8C99"/>
          </a:solidFill>
          <a:ln/>
        </p:spPr>
      </p:sp>
      <p:pic>
        <p:nvPicPr>
          <p:cNvPr id="21" name="Dashboard page icon" descr="Dashboard page">    </p:cNvPr>
          <p:cNvPicPr>
            <a:picLocks noChangeAspect="1"/>
          </p:cNvPicPr>
          <p:nvPr/>
        </p:nvPicPr>
        <p:blipFill>
          <a:blip r:embed="rId1"/>
          <a:stretch>
            <a:fillRect/>
          </a:stretch>
        </p:blipFill>
        <p:spPr>
          <a:xfrm>
            <a:off x="777240" y="3063240"/>
            <a:ext cx="274320" cy="274320"/>
          </a:xfrm>
          <a:prstGeom prst="rect">
            <a:avLst/>
          </a:prstGeom>
        </p:spPr>
      </p:pic>
      <p:sp>
        <p:nvSpPr>
          <p:cNvPr id="22" name="Text 18"/>
          <p:cNvSpPr txBox="1"/>
          <p:nvPr/>
        </p:nvSpPr>
        <p:spPr>
          <a:xfrm>
            <a:off x="1325880" y="2926080"/>
            <a:ext cx="1691640" cy="548640"/>
          </a:xfrm>
          <a:prstGeom prst="rect">
            <a:avLst/>
          </a:prstGeom>
          <a:noFill/>
          <a:ln/>
        </p:spPr>
        <p:txBody>
          <a:bodyPr wrap="square" lIns="0" tIns="0" rIns="0" bIns="0" rtlCol="0" anchor="ctr"/>
          <a:lstStyle/>
          <a:p>
            <a:pPr indent="0" marL="0">
              <a:buNone/>
            </a:pPr>
            <a:r>
              <a:rPr lang="en-US" sz="1400" b="1" dirty="0">
                <a:solidFill>
                  <a:schemeClr val="tx2"/>
                </a:solidFill>
              </a:rPr>
              <a:t>Dashboard page</a:t>
            </a:r>
            <a:endParaRPr lang="en-US" sz="1400" dirty="0"/>
          </a:p>
        </p:txBody>
      </p:sp>
      <p:sp>
        <p:nvSpPr>
          <p:cNvPr id="23" name="Text 19"/>
          <p:cNvSpPr txBox="1"/>
          <p:nvPr/>
        </p:nvSpPr>
        <p:spPr>
          <a:xfrm>
            <a:off x="640080" y="3611880"/>
            <a:ext cx="2286000" cy="822960"/>
          </a:xfrm>
          <a:prstGeom prst="rect">
            <a:avLst/>
          </a:prstGeom>
          <a:noFill/>
          <a:ln/>
        </p:spPr>
        <p:txBody>
          <a:bodyPr wrap="square" lIns="0" tIns="0" rIns="0" bIns="0" rtlCol="0" anchor="t"/>
          <a:lstStyle/>
          <a:p>
            <a:pPr indent="0" marL="0">
              <a:buNone/>
            </a:pPr>
            <a:r>
              <a:rPr lang="en-US" sz="1400" dirty="0">
                <a:solidFill>
                  <a:schemeClr val="tx1"/>
                </a:solidFill>
              </a:rPr>
              <a:t>5 KPI cards, appointment-status and job-title charts</a:t>
            </a:r>
            <a:endParaRPr lang="en-US" sz="1400" dirty="0"/>
          </a:p>
        </p:txBody>
      </p:sp>
      <p:sp>
        <p:nvSpPr>
          <p:cNvPr id="24" name="Page card Billing page"/>
          <p:cNvSpPr/>
          <p:nvPr/>
        </p:nvSpPr>
        <p:spPr>
          <a:xfrm>
            <a:off x="3291840" y="2743200"/>
            <a:ext cx="2651760" cy="1828800"/>
          </a:xfrm>
          <a:prstGeom prst="roundRect">
            <a:avLst>
              <a:gd name="adj" fmla="val 4000"/>
            </a:avLst>
          </a:prstGeom>
          <a:solidFill>
            <a:schemeClr val="bg2"/>
          </a:solidFill>
          <a:ln/>
        </p:spPr>
      </p:sp>
      <p:sp>
        <p:nvSpPr>
          <p:cNvPr id="25" name="Billing page circle"/>
          <p:cNvSpPr/>
          <p:nvPr/>
        </p:nvSpPr>
        <p:spPr>
          <a:xfrm>
            <a:off x="3474720" y="2926080"/>
            <a:ext cx="548640" cy="548640"/>
          </a:xfrm>
          <a:prstGeom prst="ellipse">
            <a:avLst/>
          </a:prstGeom>
          <a:solidFill>
            <a:srgbClr val="0E8C99"/>
          </a:solidFill>
          <a:ln/>
        </p:spPr>
      </p:sp>
      <p:pic>
        <p:nvPicPr>
          <p:cNvPr id="26" name="Billing page icon" descr="Billing page">    </p:cNvPr>
          <p:cNvPicPr>
            <a:picLocks noChangeAspect="1"/>
          </p:cNvPicPr>
          <p:nvPr/>
        </p:nvPicPr>
        <p:blipFill>
          <a:blip r:embed="rId2"/>
          <a:stretch>
            <a:fillRect/>
          </a:stretch>
        </p:blipFill>
        <p:spPr>
          <a:xfrm>
            <a:off x="3611880" y="3063240"/>
            <a:ext cx="274320" cy="274320"/>
          </a:xfrm>
          <a:prstGeom prst="rect">
            <a:avLst/>
          </a:prstGeom>
        </p:spPr>
      </p:pic>
      <p:sp>
        <p:nvSpPr>
          <p:cNvPr id="27" name="Text 22"/>
          <p:cNvSpPr txBox="1"/>
          <p:nvPr/>
        </p:nvSpPr>
        <p:spPr>
          <a:xfrm>
            <a:off x="4160520" y="2926080"/>
            <a:ext cx="1691640" cy="548640"/>
          </a:xfrm>
          <a:prstGeom prst="rect">
            <a:avLst/>
          </a:prstGeom>
          <a:noFill/>
          <a:ln/>
        </p:spPr>
        <p:txBody>
          <a:bodyPr wrap="square" lIns="0" tIns="0" rIns="0" bIns="0" rtlCol="0" anchor="ctr"/>
          <a:lstStyle/>
          <a:p>
            <a:pPr indent="0" marL="0">
              <a:buNone/>
            </a:pPr>
            <a:r>
              <a:rPr lang="en-US" sz="1400" b="1" dirty="0">
                <a:solidFill>
                  <a:schemeClr val="tx2"/>
                </a:solidFill>
              </a:rPr>
              <a:t>Billing page</a:t>
            </a:r>
            <a:endParaRPr lang="en-US" sz="1400" dirty="0"/>
          </a:p>
        </p:txBody>
      </p:sp>
      <p:sp>
        <p:nvSpPr>
          <p:cNvPr id="28" name="Text 23"/>
          <p:cNvSpPr txBox="1"/>
          <p:nvPr/>
        </p:nvSpPr>
        <p:spPr>
          <a:xfrm>
            <a:off x="3474720" y="3611880"/>
            <a:ext cx="2286000" cy="822960"/>
          </a:xfrm>
          <a:prstGeom prst="rect">
            <a:avLst/>
          </a:prstGeom>
          <a:noFill/>
          <a:ln/>
        </p:spPr>
        <p:txBody>
          <a:bodyPr wrap="square" lIns="0" tIns="0" rIns="0" bIns="0" rtlCol="0" anchor="t"/>
          <a:lstStyle/>
          <a:p>
            <a:pPr indent="0" marL="0">
              <a:buNone/>
            </a:pPr>
            <a:r>
              <a:rPr lang="en-US" sz="1400" dirty="0">
                <a:solidFill>
                  <a:schemeClr val="tx1"/>
                </a:solidFill>
              </a:rPr>
              <a:t>Billed, paid and remaining amounts</a:t>
            </a:r>
            <a:endParaRPr lang="en-US" sz="1400" dirty="0"/>
          </a:p>
        </p:txBody>
      </p:sp>
      <p:sp>
        <p:nvSpPr>
          <p:cNvPr id="29" name="Page card Pharmacy page"/>
          <p:cNvSpPr/>
          <p:nvPr/>
        </p:nvSpPr>
        <p:spPr>
          <a:xfrm>
            <a:off x="6126480" y="2743200"/>
            <a:ext cx="2651760" cy="1828800"/>
          </a:xfrm>
          <a:prstGeom prst="roundRect">
            <a:avLst>
              <a:gd name="adj" fmla="val 4000"/>
            </a:avLst>
          </a:prstGeom>
          <a:solidFill>
            <a:schemeClr val="bg2"/>
          </a:solidFill>
          <a:ln/>
        </p:spPr>
      </p:sp>
      <p:sp>
        <p:nvSpPr>
          <p:cNvPr id="30" name="Pharmacy page circle"/>
          <p:cNvSpPr/>
          <p:nvPr/>
        </p:nvSpPr>
        <p:spPr>
          <a:xfrm>
            <a:off x="6309360" y="2926080"/>
            <a:ext cx="548640" cy="548640"/>
          </a:xfrm>
          <a:prstGeom prst="ellipse">
            <a:avLst/>
          </a:prstGeom>
          <a:solidFill>
            <a:srgbClr val="0E8C99"/>
          </a:solidFill>
          <a:ln/>
        </p:spPr>
      </p:sp>
      <p:pic>
        <p:nvPicPr>
          <p:cNvPr id="31" name="Pharmacy page icon" descr="Pharmacy page">    </p:cNvPr>
          <p:cNvPicPr>
            <a:picLocks noChangeAspect="1"/>
          </p:cNvPicPr>
          <p:nvPr/>
        </p:nvPicPr>
        <p:blipFill>
          <a:blip r:embed="rId3"/>
          <a:stretch>
            <a:fillRect/>
          </a:stretch>
        </p:blipFill>
        <p:spPr>
          <a:xfrm>
            <a:off x="6446520" y="3063240"/>
            <a:ext cx="274320" cy="274320"/>
          </a:xfrm>
          <a:prstGeom prst="rect">
            <a:avLst/>
          </a:prstGeom>
        </p:spPr>
      </p:pic>
      <p:sp>
        <p:nvSpPr>
          <p:cNvPr id="32" name="Text 26"/>
          <p:cNvSpPr txBox="1"/>
          <p:nvPr/>
        </p:nvSpPr>
        <p:spPr>
          <a:xfrm>
            <a:off x="6995160" y="2926080"/>
            <a:ext cx="1691640" cy="548640"/>
          </a:xfrm>
          <a:prstGeom prst="rect">
            <a:avLst/>
          </a:prstGeom>
          <a:noFill/>
          <a:ln/>
        </p:spPr>
        <p:txBody>
          <a:bodyPr wrap="square" lIns="0" tIns="0" rIns="0" bIns="0" rtlCol="0" anchor="ctr"/>
          <a:lstStyle/>
          <a:p>
            <a:pPr indent="0" marL="0">
              <a:buNone/>
            </a:pPr>
            <a:r>
              <a:rPr lang="en-US" sz="1400" b="1" dirty="0">
                <a:solidFill>
                  <a:schemeClr val="tx2"/>
                </a:solidFill>
              </a:rPr>
              <a:t>Pharmacy page</a:t>
            </a:r>
            <a:endParaRPr lang="en-US" sz="1400" dirty="0"/>
          </a:p>
        </p:txBody>
      </p:sp>
      <p:sp>
        <p:nvSpPr>
          <p:cNvPr id="33" name="Text 27"/>
          <p:cNvSpPr txBox="1"/>
          <p:nvPr/>
        </p:nvSpPr>
        <p:spPr>
          <a:xfrm>
            <a:off x="6309360" y="3611880"/>
            <a:ext cx="2286000" cy="822960"/>
          </a:xfrm>
          <a:prstGeom prst="rect">
            <a:avLst/>
          </a:prstGeom>
          <a:noFill/>
          <a:ln/>
        </p:spPr>
        <p:txBody>
          <a:bodyPr wrap="square" lIns="0" tIns="0" rIns="0" bIns="0" rtlCol="0" anchor="t"/>
          <a:lstStyle/>
          <a:p>
            <a:pPr indent="0" marL="0">
              <a:buNone/>
            </a:pPr>
            <a:r>
              <a:rPr lang="en-US" sz="1400" dirty="0">
                <a:solidFill>
                  <a:schemeClr val="tx1"/>
                </a:solidFill>
              </a:rPr>
              <a:t>Low-stock flag: 23 of 240 medicines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Questions the System Answers</a:t>
            </a:r>
            <a:endParaRPr lang="en-US" sz="3000" dirty="0"/>
          </a:p>
        </p:txBody>
      </p:sp>
      <p:sp>
        <p:nvSpPr>
          <p:cNvPr id="4" name="Question card 1"/>
          <p:cNvSpPr/>
          <p:nvPr/>
        </p:nvSpPr>
        <p:spPr>
          <a:xfrm>
            <a:off x="457200" y="1143000"/>
            <a:ext cx="4023360" cy="777240"/>
          </a:xfrm>
          <a:prstGeom prst="roundRect">
            <a:avLst>
              <a:gd name="adj" fmla="val 9412"/>
            </a:avLst>
          </a:prstGeom>
          <a:solidFill>
            <a:schemeClr val="bg2"/>
          </a:solidFill>
          <a:ln/>
        </p:spPr>
      </p:sp>
      <p:sp>
        <p:nvSpPr>
          <p:cNvPr id="5" name="Text 2"/>
          <p:cNvSpPr txBox="1"/>
          <p:nvPr/>
        </p:nvSpPr>
        <p:spPr>
          <a:xfrm>
            <a:off x="640080" y="1197864"/>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How many patients are registered?</a:t>
            </a:r>
            <a:endParaRPr lang="en-US" sz="1200" dirty="0"/>
          </a:p>
        </p:txBody>
      </p:sp>
      <p:sp>
        <p:nvSpPr>
          <p:cNvPr id="6" name="Text 3"/>
          <p:cNvSpPr txBox="1"/>
          <p:nvPr/>
        </p:nvSpPr>
        <p:spPr>
          <a:xfrm>
            <a:off x="640080" y="1472184"/>
            <a:ext cx="3657600" cy="402336"/>
          </a:xfrm>
          <a:prstGeom prst="rect">
            <a:avLst/>
          </a:prstGeom>
          <a:noFill/>
          <a:ln/>
        </p:spPr>
        <p:txBody>
          <a:bodyPr wrap="square" lIns="0" tIns="0" rIns="0" bIns="0" rtlCol="0" anchor="t"/>
          <a:lstStyle/>
          <a:p>
            <a:pPr indent="0" marL="0">
              <a:buNone/>
            </a:pPr>
            <a:r>
              <a:rPr lang="en-US" sz="1200" dirty="0">
                <a:solidFill>
                  <a:schemeClr val="tx1"/>
                </a:solidFill>
              </a:rPr>
              <a:t>1,200 patients</a:t>
            </a:r>
            <a:endParaRPr lang="en-US" sz="1200" dirty="0"/>
          </a:p>
        </p:txBody>
      </p:sp>
      <p:sp>
        <p:nvSpPr>
          <p:cNvPr id="7" name="Question card 2"/>
          <p:cNvSpPr/>
          <p:nvPr/>
        </p:nvSpPr>
        <p:spPr>
          <a:xfrm>
            <a:off x="457200" y="2029968"/>
            <a:ext cx="4023360" cy="777240"/>
          </a:xfrm>
          <a:prstGeom prst="roundRect">
            <a:avLst>
              <a:gd name="adj" fmla="val 9412"/>
            </a:avLst>
          </a:prstGeom>
          <a:solidFill>
            <a:schemeClr val="bg2"/>
          </a:solidFill>
          <a:ln/>
        </p:spPr>
      </p:sp>
      <p:sp>
        <p:nvSpPr>
          <p:cNvPr id="8" name="Text 5"/>
          <p:cNvSpPr txBox="1"/>
          <p:nvPr/>
        </p:nvSpPr>
        <p:spPr>
          <a:xfrm>
            <a:off x="640080" y="2084832"/>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How many appointments are there?</a:t>
            </a:r>
            <a:endParaRPr lang="en-US" sz="1200" dirty="0"/>
          </a:p>
        </p:txBody>
      </p:sp>
      <p:sp>
        <p:nvSpPr>
          <p:cNvPr id="9" name="Text 6"/>
          <p:cNvSpPr txBox="1"/>
          <p:nvPr/>
        </p:nvSpPr>
        <p:spPr>
          <a:xfrm>
            <a:off x="640080" y="2359152"/>
            <a:ext cx="3657600" cy="402336"/>
          </a:xfrm>
          <a:prstGeom prst="rect">
            <a:avLst/>
          </a:prstGeom>
          <a:noFill/>
          <a:ln/>
        </p:spPr>
        <p:txBody>
          <a:bodyPr wrap="square" lIns="0" tIns="0" rIns="0" bIns="0" rtlCol="0" anchor="t"/>
          <a:lstStyle/>
          <a:p>
            <a:pPr indent="0" marL="0">
              <a:buNone/>
            </a:pPr>
            <a:r>
              <a:rPr lang="en-US" sz="1200" dirty="0">
                <a:solidFill>
                  <a:schemeClr val="tx1"/>
                </a:solidFill>
              </a:rPr>
              <a:t>2,400; Completed is largest (1,312)</a:t>
            </a:r>
            <a:endParaRPr lang="en-US" sz="1200" dirty="0"/>
          </a:p>
        </p:txBody>
      </p:sp>
      <p:sp>
        <p:nvSpPr>
          <p:cNvPr id="10" name="Question card 3"/>
          <p:cNvSpPr/>
          <p:nvPr/>
        </p:nvSpPr>
        <p:spPr>
          <a:xfrm>
            <a:off x="457200" y="2916936"/>
            <a:ext cx="4023360" cy="777240"/>
          </a:xfrm>
          <a:prstGeom prst="roundRect">
            <a:avLst>
              <a:gd name="adj" fmla="val 9412"/>
            </a:avLst>
          </a:prstGeom>
          <a:solidFill>
            <a:schemeClr val="bg2"/>
          </a:solidFill>
          <a:ln/>
        </p:spPr>
      </p:sp>
      <p:sp>
        <p:nvSpPr>
          <p:cNvPr id="11" name="Text 8"/>
          <p:cNvSpPr txBox="1"/>
          <p:nvPr/>
        </p:nvSpPr>
        <p:spPr>
          <a:xfrm>
            <a:off x="640080" y="2971800"/>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How are employees distributed?</a:t>
            </a:r>
            <a:endParaRPr lang="en-US" sz="1200" dirty="0"/>
          </a:p>
        </p:txBody>
      </p:sp>
      <p:sp>
        <p:nvSpPr>
          <p:cNvPr id="12" name="Text 9"/>
          <p:cNvSpPr txBox="1"/>
          <p:nvPr/>
        </p:nvSpPr>
        <p:spPr>
          <a:xfrm>
            <a:off x="640080" y="3246120"/>
            <a:ext cx="3657600" cy="402336"/>
          </a:xfrm>
          <a:prstGeom prst="rect">
            <a:avLst/>
          </a:prstGeom>
          <a:noFill/>
          <a:ln/>
        </p:spPr>
        <p:txBody>
          <a:bodyPr wrap="square" lIns="0" tIns="0" rIns="0" bIns="0" rtlCol="0" anchor="t"/>
          <a:lstStyle/>
          <a:p>
            <a:pPr indent="0" marL="0">
              <a:buNone/>
            </a:pPr>
            <a:r>
              <a:rPr lang="en-US" sz="1200" dirty="0">
                <a:solidFill>
                  <a:schemeClr val="tx1"/>
                </a:solidFill>
              </a:rPr>
              <a:t>520 staff: 177 nurses, 90 doctors</a:t>
            </a:r>
            <a:endParaRPr lang="en-US" sz="1200" dirty="0"/>
          </a:p>
        </p:txBody>
      </p:sp>
      <p:sp>
        <p:nvSpPr>
          <p:cNvPr id="13" name="Question card 4"/>
          <p:cNvSpPr/>
          <p:nvPr/>
        </p:nvSpPr>
        <p:spPr>
          <a:xfrm>
            <a:off x="457200" y="3803904"/>
            <a:ext cx="4023360" cy="777240"/>
          </a:xfrm>
          <a:prstGeom prst="roundRect">
            <a:avLst>
              <a:gd name="adj" fmla="val 9412"/>
            </a:avLst>
          </a:prstGeom>
          <a:solidFill>
            <a:schemeClr val="bg2"/>
          </a:solidFill>
          <a:ln/>
        </p:spPr>
      </p:sp>
      <p:sp>
        <p:nvSpPr>
          <p:cNvPr id="14" name="Text 11"/>
          <p:cNvSpPr txBox="1"/>
          <p:nvPr/>
        </p:nvSpPr>
        <p:spPr>
          <a:xfrm>
            <a:off x="640080" y="3858768"/>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What are the appointment statuses?</a:t>
            </a:r>
            <a:endParaRPr lang="en-US" sz="1200" dirty="0"/>
          </a:p>
        </p:txBody>
      </p:sp>
      <p:sp>
        <p:nvSpPr>
          <p:cNvPr id="15" name="Text 12"/>
          <p:cNvSpPr txBox="1"/>
          <p:nvPr/>
        </p:nvSpPr>
        <p:spPr>
          <a:xfrm>
            <a:off x="640080" y="4133088"/>
            <a:ext cx="3657600" cy="402336"/>
          </a:xfrm>
          <a:prstGeom prst="rect">
            <a:avLst/>
          </a:prstGeom>
          <a:noFill/>
          <a:ln/>
        </p:spPr>
        <p:txBody>
          <a:bodyPr wrap="square" lIns="0" tIns="0" rIns="0" bIns="0" rtlCol="0" anchor="t"/>
          <a:lstStyle/>
          <a:p>
            <a:pPr indent="0" marL="0">
              <a:buNone/>
            </a:pPr>
            <a:r>
              <a:rPr lang="en-US" sz="1200" dirty="0">
                <a:solidFill>
                  <a:schemeClr val="tx1"/>
                </a:solidFill>
              </a:rPr>
              <a:t>Completed, Scheduled, No Show, Cancelled</a:t>
            </a:r>
            <a:endParaRPr lang="en-US" sz="1200" dirty="0"/>
          </a:p>
        </p:txBody>
      </p:sp>
      <p:sp>
        <p:nvSpPr>
          <p:cNvPr id="16" name="Question card 5"/>
          <p:cNvSpPr/>
          <p:nvPr/>
        </p:nvSpPr>
        <p:spPr>
          <a:xfrm>
            <a:off x="4663440" y="1143000"/>
            <a:ext cx="4023360" cy="777240"/>
          </a:xfrm>
          <a:prstGeom prst="roundRect">
            <a:avLst>
              <a:gd name="adj" fmla="val 9412"/>
            </a:avLst>
          </a:prstGeom>
          <a:solidFill>
            <a:schemeClr val="bg2"/>
          </a:solidFill>
          <a:ln/>
        </p:spPr>
      </p:sp>
      <p:sp>
        <p:nvSpPr>
          <p:cNvPr id="17" name="Text 14"/>
          <p:cNvSpPr txBox="1"/>
          <p:nvPr/>
        </p:nvSpPr>
        <p:spPr>
          <a:xfrm>
            <a:off x="4846320" y="1197864"/>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How many admissions occurred?</a:t>
            </a:r>
            <a:endParaRPr lang="en-US" sz="1200" dirty="0"/>
          </a:p>
        </p:txBody>
      </p:sp>
      <p:sp>
        <p:nvSpPr>
          <p:cNvPr id="18" name="Text 15"/>
          <p:cNvSpPr txBox="1"/>
          <p:nvPr/>
        </p:nvSpPr>
        <p:spPr>
          <a:xfrm>
            <a:off x="4846320" y="1472184"/>
            <a:ext cx="3657600" cy="402336"/>
          </a:xfrm>
          <a:prstGeom prst="rect">
            <a:avLst/>
          </a:prstGeom>
          <a:noFill/>
          <a:ln/>
        </p:spPr>
        <p:txBody>
          <a:bodyPr wrap="square" lIns="0" tIns="0" rIns="0" bIns="0" rtlCol="0" anchor="t"/>
          <a:lstStyle/>
          <a:p>
            <a:pPr indent="0" marL="0">
              <a:buNone/>
            </a:pPr>
            <a:r>
              <a:rPr lang="en-US" sz="1200" dirty="0">
                <a:solidFill>
                  <a:schemeClr val="tx1"/>
                </a:solidFill>
              </a:rPr>
              <a:t>650; mostly Discharged (446)</a:t>
            </a:r>
            <a:endParaRPr lang="en-US" sz="1200" dirty="0"/>
          </a:p>
        </p:txBody>
      </p:sp>
      <p:sp>
        <p:nvSpPr>
          <p:cNvPr id="19" name="Question card 6"/>
          <p:cNvSpPr/>
          <p:nvPr/>
        </p:nvSpPr>
        <p:spPr>
          <a:xfrm>
            <a:off x="4663440" y="2029968"/>
            <a:ext cx="4023360" cy="777240"/>
          </a:xfrm>
          <a:prstGeom prst="roundRect">
            <a:avLst>
              <a:gd name="adj" fmla="val 9412"/>
            </a:avLst>
          </a:prstGeom>
          <a:solidFill>
            <a:schemeClr val="bg2"/>
          </a:solidFill>
          <a:ln/>
        </p:spPr>
      </p:sp>
      <p:sp>
        <p:nvSpPr>
          <p:cNvPr id="20" name="Text 17"/>
          <p:cNvSpPr txBox="1"/>
          <p:nvPr/>
        </p:nvSpPr>
        <p:spPr>
          <a:xfrm>
            <a:off x="4846320" y="2084832"/>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What is the hospital revenue?</a:t>
            </a:r>
            <a:endParaRPr lang="en-US" sz="1200" dirty="0"/>
          </a:p>
        </p:txBody>
      </p:sp>
      <p:sp>
        <p:nvSpPr>
          <p:cNvPr id="21" name="Text 18"/>
          <p:cNvSpPr txBox="1"/>
          <p:nvPr/>
        </p:nvSpPr>
        <p:spPr>
          <a:xfrm>
            <a:off x="4846320" y="2359152"/>
            <a:ext cx="3657600" cy="402336"/>
          </a:xfrm>
          <a:prstGeom prst="rect">
            <a:avLst/>
          </a:prstGeom>
          <a:noFill/>
          <a:ln/>
        </p:spPr>
        <p:txBody>
          <a:bodyPr wrap="square" lIns="0" tIns="0" rIns="0" bIns="0" rtlCol="0" anchor="t"/>
          <a:lstStyle/>
          <a:p>
            <a:pPr indent="0" marL="0">
              <a:buNone/>
            </a:pPr>
            <a:r>
              <a:rPr lang="en-US" sz="1200" dirty="0">
                <a:solidFill>
                  <a:schemeClr val="tx1"/>
                </a:solidFill>
              </a:rPr>
              <a:t>11.3M invoiced across 1,089 invoices</a:t>
            </a:r>
            <a:endParaRPr lang="en-US" sz="1200" dirty="0"/>
          </a:p>
        </p:txBody>
      </p:sp>
      <p:sp>
        <p:nvSpPr>
          <p:cNvPr id="22" name="Question card 7"/>
          <p:cNvSpPr/>
          <p:nvPr/>
        </p:nvSpPr>
        <p:spPr>
          <a:xfrm>
            <a:off x="4663440" y="2916936"/>
            <a:ext cx="4023360" cy="777240"/>
          </a:xfrm>
          <a:prstGeom prst="roundRect">
            <a:avLst>
              <a:gd name="adj" fmla="val 9412"/>
            </a:avLst>
          </a:prstGeom>
          <a:solidFill>
            <a:schemeClr val="bg2"/>
          </a:solidFill>
          <a:ln/>
        </p:spPr>
      </p:sp>
      <p:sp>
        <p:nvSpPr>
          <p:cNvPr id="23" name="Text 20"/>
          <p:cNvSpPr txBox="1"/>
          <p:nvPr/>
        </p:nvSpPr>
        <p:spPr>
          <a:xfrm>
            <a:off x="4846320" y="2971800"/>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Which departments exist?</a:t>
            </a:r>
            <a:endParaRPr lang="en-US" sz="1200" dirty="0"/>
          </a:p>
        </p:txBody>
      </p:sp>
      <p:sp>
        <p:nvSpPr>
          <p:cNvPr id="24" name="Text 21"/>
          <p:cNvSpPr txBox="1"/>
          <p:nvPr/>
        </p:nvSpPr>
        <p:spPr>
          <a:xfrm>
            <a:off x="4846320" y="3246120"/>
            <a:ext cx="3657600" cy="402336"/>
          </a:xfrm>
          <a:prstGeom prst="rect">
            <a:avLst/>
          </a:prstGeom>
          <a:noFill/>
          <a:ln/>
        </p:spPr>
        <p:txBody>
          <a:bodyPr wrap="square" lIns="0" tIns="0" rIns="0" bIns="0" rtlCol="0" anchor="t"/>
          <a:lstStyle/>
          <a:p>
            <a:pPr indent="0" marL="0">
              <a:buNone/>
            </a:pPr>
            <a:r>
              <a:rPr lang="en-US" sz="1200" dirty="0">
                <a:solidFill>
                  <a:schemeClr val="tx1"/>
                </a:solidFill>
              </a:rPr>
              <a:t>12, from Emergency to Outpatient</a:t>
            </a:r>
            <a:endParaRPr lang="en-US" sz="1200" dirty="0"/>
          </a:p>
        </p:txBody>
      </p:sp>
      <p:sp>
        <p:nvSpPr>
          <p:cNvPr id="25" name="Question card 8"/>
          <p:cNvSpPr/>
          <p:nvPr/>
        </p:nvSpPr>
        <p:spPr>
          <a:xfrm>
            <a:off x="4663440" y="3803904"/>
            <a:ext cx="4023360" cy="777240"/>
          </a:xfrm>
          <a:prstGeom prst="roundRect">
            <a:avLst>
              <a:gd name="adj" fmla="val 9412"/>
            </a:avLst>
          </a:prstGeom>
          <a:solidFill>
            <a:schemeClr val="bg2"/>
          </a:solidFill>
          <a:ln/>
        </p:spPr>
      </p:sp>
      <p:sp>
        <p:nvSpPr>
          <p:cNvPr id="26" name="Text 23"/>
          <p:cNvSpPr txBox="1"/>
          <p:nvPr/>
        </p:nvSpPr>
        <p:spPr>
          <a:xfrm>
            <a:off x="4846320" y="3858768"/>
            <a:ext cx="3657600" cy="274320"/>
          </a:xfrm>
          <a:prstGeom prst="rect">
            <a:avLst/>
          </a:prstGeom>
          <a:noFill/>
          <a:ln/>
        </p:spPr>
        <p:txBody>
          <a:bodyPr wrap="square" lIns="0" tIns="0" rIns="0" bIns="0" rtlCol="0" anchor="ctr"/>
          <a:lstStyle/>
          <a:p>
            <a:pPr indent="0" marL="0">
              <a:buNone/>
            </a:pPr>
            <a:r>
              <a:rPr lang="en-US" sz="1200" b="1" dirty="0">
                <a:solidFill>
                  <a:schemeClr val="accent1"/>
                </a:solidFill>
              </a:rPr>
              <a:t>What are the payment patterns?</a:t>
            </a:r>
            <a:endParaRPr lang="en-US" sz="1200" dirty="0"/>
          </a:p>
        </p:txBody>
      </p:sp>
      <p:sp>
        <p:nvSpPr>
          <p:cNvPr id="27" name="Text 24"/>
          <p:cNvSpPr txBox="1"/>
          <p:nvPr/>
        </p:nvSpPr>
        <p:spPr>
          <a:xfrm>
            <a:off x="4846320" y="4133088"/>
            <a:ext cx="3657600" cy="402336"/>
          </a:xfrm>
          <a:prstGeom prst="rect">
            <a:avLst/>
          </a:prstGeom>
          <a:noFill/>
          <a:ln/>
        </p:spPr>
        <p:txBody>
          <a:bodyPr wrap="square" lIns="0" tIns="0" rIns="0" bIns="0" rtlCol="0" anchor="t"/>
          <a:lstStyle/>
          <a:p>
            <a:pPr indent="0" marL="0">
              <a:buNone/>
            </a:pPr>
            <a:r>
              <a:rPr lang="en-US" sz="1200" dirty="0">
                <a:solidFill>
                  <a:schemeClr val="tx1"/>
                </a:solidFill>
              </a:rPr>
              <a:t>Cash 438, Card 419, Bank 418, Insurance 375</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Technologies Used</a:t>
            </a:r>
            <a:endParaRPr lang="en-US" sz="3000" dirty="0"/>
          </a:p>
        </p:txBody>
      </p:sp>
      <p:sp>
        <p:nvSpPr>
          <p:cNvPr id="4" name="Tech card Python"/>
          <p:cNvSpPr/>
          <p:nvPr/>
        </p:nvSpPr>
        <p:spPr>
          <a:xfrm>
            <a:off x="457200" y="1143000"/>
            <a:ext cx="1920240" cy="1371600"/>
          </a:xfrm>
          <a:prstGeom prst="roundRect">
            <a:avLst>
              <a:gd name="adj" fmla="val 5333"/>
            </a:avLst>
          </a:prstGeom>
          <a:solidFill>
            <a:schemeClr val="bg2"/>
          </a:solidFill>
          <a:ln/>
        </p:spPr>
      </p:sp>
      <p:sp>
        <p:nvSpPr>
          <p:cNvPr id="5" name="Python circle"/>
          <p:cNvSpPr/>
          <p:nvPr/>
        </p:nvSpPr>
        <p:spPr>
          <a:xfrm>
            <a:off x="1097280" y="1280160"/>
            <a:ext cx="640080" cy="640080"/>
          </a:xfrm>
          <a:prstGeom prst="ellipse">
            <a:avLst/>
          </a:prstGeom>
          <a:solidFill>
            <a:srgbClr val="0E8C99"/>
          </a:solidFill>
          <a:ln/>
        </p:spPr>
      </p:sp>
      <p:pic>
        <p:nvPicPr>
          <p:cNvPr id="6" name="Python icon" descr="Python">    </p:cNvPr>
          <p:cNvPicPr>
            <a:picLocks noChangeAspect="1"/>
          </p:cNvPicPr>
          <p:nvPr/>
        </p:nvPicPr>
        <p:blipFill>
          <a:blip r:embed="rId1"/>
          <a:stretch>
            <a:fillRect/>
          </a:stretch>
        </p:blipFill>
        <p:spPr>
          <a:xfrm>
            <a:off x="1257300" y="1440180"/>
            <a:ext cx="320040" cy="320040"/>
          </a:xfrm>
          <a:prstGeom prst="rect">
            <a:avLst/>
          </a:prstGeom>
        </p:spPr>
      </p:pic>
      <p:sp>
        <p:nvSpPr>
          <p:cNvPr id="7" name="Text 3"/>
          <p:cNvSpPr txBox="1"/>
          <p:nvPr/>
        </p:nvSpPr>
        <p:spPr>
          <a:xfrm>
            <a:off x="502920" y="1965960"/>
            <a:ext cx="1828800" cy="274320"/>
          </a:xfrm>
          <a:prstGeom prst="rect">
            <a:avLst/>
          </a:prstGeom>
          <a:noFill/>
          <a:ln/>
        </p:spPr>
        <p:txBody>
          <a:bodyPr wrap="square" lIns="0" tIns="0" rIns="0" bIns="0" rtlCol="0" anchor="ctr"/>
          <a:lstStyle/>
          <a:p>
            <a:pPr algn="ctr" indent="0" marL="0">
              <a:buNone/>
            </a:pPr>
            <a:r>
              <a:rPr lang="en-US" sz="1400" b="1" dirty="0">
                <a:solidFill>
                  <a:schemeClr val="tx2"/>
                </a:solidFill>
              </a:rPr>
              <a:t>Python</a:t>
            </a:r>
            <a:endParaRPr lang="en-US" sz="1400" dirty="0"/>
          </a:p>
        </p:txBody>
      </p:sp>
      <p:sp>
        <p:nvSpPr>
          <p:cNvPr id="8" name="Text 4"/>
          <p:cNvSpPr txBox="1"/>
          <p:nvPr/>
        </p:nvSpPr>
        <p:spPr>
          <a:xfrm>
            <a:off x="502920" y="2221992"/>
            <a:ext cx="1828800" cy="228600"/>
          </a:xfrm>
          <a:prstGeom prst="rect">
            <a:avLst/>
          </a:prstGeom>
          <a:noFill/>
          <a:ln/>
        </p:spPr>
        <p:txBody>
          <a:bodyPr wrap="square" lIns="0" tIns="0" rIns="0" bIns="0" rtlCol="0" anchor="ctr"/>
          <a:lstStyle/>
          <a:p>
            <a:pPr algn="ctr" indent="0" marL="0">
              <a:buNone/>
            </a:pPr>
            <a:r>
              <a:rPr lang="en-US" sz="1200" dirty="0">
                <a:solidFill>
                  <a:schemeClr val="accent6"/>
                </a:solidFill>
              </a:rPr>
              <a:t>Core language</a:t>
            </a:r>
            <a:endParaRPr lang="en-US" sz="1200" dirty="0"/>
          </a:p>
        </p:txBody>
      </p:sp>
      <p:sp>
        <p:nvSpPr>
          <p:cNvPr id="9" name="Tech card Pandas, NumPy"/>
          <p:cNvSpPr/>
          <p:nvPr/>
        </p:nvSpPr>
        <p:spPr>
          <a:xfrm>
            <a:off x="2560320" y="1143000"/>
            <a:ext cx="1920240" cy="1371600"/>
          </a:xfrm>
          <a:prstGeom prst="roundRect">
            <a:avLst>
              <a:gd name="adj" fmla="val 5333"/>
            </a:avLst>
          </a:prstGeom>
          <a:solidFill>
            <a:schemeClr val="bg2"/>
          </a:solidFill>
          <a:ln/>
        </p:spPr>
      </p:sp>
      <p:sp>
        <p:nvSpPr>
          <p:cNvPr id="10" name="Pandas, NumPy circle"/>
          <p:cNvSpPr/>
          <p:nvPr/>
        </p:nvSpPr>
        <p:spPr>
          <a:xfrm>
            <a:off x="3200400" y="1280160"/>
            <a:ext cx="640080" cy="640080"/>
          </a:xfrm>
          <a:prstGeom prst="ellipse">
            <a:avLst/>
          </a:prstGeom>
          <a:solidFill>
            <a:srgbClr val="0E8C99"/>
          </a:solidFill>
          <a:ln/>
        </p:spPr>
      </p:sp>
      <p:pic>
        <p:nvPicPr>
          <p:cNvPr id="11" name="Pandas, NumPy icon" descr="Pandas, NumPy">    </p:cNvPr>
          <p:cNvPicPr>
            <a:picLocks noChangeAspect="1"/>
          </p:cNvPicPr>
          <p:nvPr/>
        </p:nvPicPr>
        <p:blipFill>
          <a:blip r:embed="rId2"/>
          <a:stretch>
            <a:fillRect/>
          </a:stretch>
        </p:blipFill>
        <p:spPr>
          <a:xfrm>
            <a:off x="3360420" y="1440180"/>
            <a:ext cx="320040" cy="320040"/>
          </a:xfrm>
          <a:prstGeom prst="rect">
            <a:avLst/>
          </a:prstGeom>
        </p:spPr>
      </p:pic>
      <p:sp>
        <p:nvSpPr>
          <p:cNvPr id="12" name="Text 7"/>
          <p:cNvSpPr txBox="1"/>
          <p:nvPr/>
        </p:nvSpPr>
        <p:spPr>
          <a:xfrm>
            <a:off x="2606040" y="1965960"/>
            <a:ext cx="1828800" cy="274320"/>
          </a:xfrm>
          <a:prstGeom prst="rect">
            <a:avLst/>
          </a:prstGeom>
          <a:noFill/>
          <a:ln/>
        </p:spPr>
        <p:txBody>
          <a:bodyPr wrap="square" lIns="0" tIns="0" rIns="0" bIns="0" rtlCol="0" anchor="ctr"/>
          <a:lstStyle/>
          <a:p>
            <a:pPr algn="ctr" indent="0" marL="0">
              <a:buNone/>
            </a:pPr>
            <a:r>
              <a:rPr lang="en-US" sz="1400" b="1" dirty="0">
                <a:solidFill>
                  <a:schemeClr val="tx2"/>
                </a:solidFill>
              </a:rPr>
              <a:t>Pandas, NumPy</a:t>
            </a:r>
            <a:endParaRPr lang="en-US" sz="1400" dirty="0"/>
          </a:p>
        </p:txBody>
      </p:sp>
      <p:sp>
        <p:nvSpPr>
          <p:cNvPr id="13" name="Text 8"/>
          <p:cNvSpPr txBox="1"/>
          <p:nvPr/>
        </p:nvSpPr>
        <p:spPr>
          <a:xfrm>
            <a:off x="2606040" y="2221992"/>
            <a:ext cx="1828800" cy="228600"/>
          </a:xfrm>
          <a:prstGeom prst="rect">
            <a:avLst/>
          </a:prstGeom>
          <a:noFill/>
          <a:ln/>
        </p:spPr>
        <p:txBody>
          <a:bodyPr wrap="square" lIns="0" tIns="0" rIns="0" bIns="0" rtlCol="0" anchor="ctr"/>
          <a:lstStyle/>
          <a:p>
            <a:pPr algn="ctr" indent="0" marL="0">
              <a:buNone/>
            </a:pPr>
            <a:r>
              <a:rPr lang="en-US" sz="1200" dirty="0">
                <a:solidFill>
                  <a:schemeClr val="accent6"/>
                </a:solidFill>
              </a:rPr>
              <a:t>Cleaning and analysis</a:t>
            </a:r>
            <a:endParaRPr lang="en-US" sz="1200" dirty="0"/>
          </a:p>
        </p:txBody>
      </p:sp>
      <p:sp>
        <p:nvSpPr>
          <p:cNvPr id="14" name="Tech card Jupyter Notebook"/>
          <p:cNvSpPr/>
          <p:nvPr/>
        </p:nvSpPr>
        <p:spPr>
          <a:xfrm>
            <a:off x="4663440" y="1143000"/>
            <a:ext cx="1920240" cy="1371600"/>
          </a:xfrm>
          <a:prstGeom prst="roundRect">
            <a:avLst>
              <a:gd name="adj" fmla="val 5333"/>
            </a:avLst>
          </a:prstGeom>
          <a:solidFill>
            <a:schemeClr val="bg2"/>
          </a:solidFill>
          <a:ln/>
        </p:spPr>
      </p:sp>
      <p:sp>
        <p:nvSpPr>
          <p:cNvPr id="15" name="Jupyter Notebook circle"/>
          <p:cNvSpPr/>
          <p:nvPr/>
        </p:nvSpPr>
        <p:spPr>
          <a:xfrm>
            <a:off x="5303520" y="1280160"/>
            <a:ext cx="640080" cy="640080"/>
          </a:xfrm>
          <a:prstGeom prst="ellipse">
            <a:avLst/>
          </a:prstGeom>
          <a:solidFill>
            <a:srgbClr val="0E8C99"/>
          </a:solidFill>
          <a:ln/>
        </p:spPr>
      </p:sp>
      <p:pic>
        <p:nvPicPr>
          <p:cNvPr id="16" name="Jupyter Notebook icon" descr="Jupyter Notebook">    </p:cNvPr>
          <p:cNvPicPr>
            <a:picLocks noChangeAspect="1"/>
          </p:cNvPicPr>
          <p:nvPr/>
        </p:nvPicPr>
        <p:blipFill>
          <a:blip r:embed="rId3"/>
          <a:stretch>
            <a:fillRect/>
          </a:stretch>
        </p:blipFill>
        <p:spPr>
          <a:xfrm>
            <a:off x="5463540" y="1440180"/>
            <a:ext cx="320040" cy="320040"/>
          </a:xfrm>
          <a:prstGeom prst="rect">
            <a:avLst/>
          </a:prstGeom>
        </p:spPr>
      </p:pic>
      <p:sp>
        <p:nvSpPr>
          <p:cNvPr id="17" name="Text 11"/>
          <p:cNvSpPr txBox="1"/>
          <p:nvPr/>
        </p:nvSpPr>
        <p:spPr>
          <a:xfrm>
            <a:off x="4709160" y="1965960"/>
            <a:ext cx="1828800" cy="274320"/>
          </a:xfrm>
          <a:prstGeom prst="rect">
            <a:avLst/>
          </a:prstGeom>
          <a:noFill/>
          <a:ln/>
        </p:spPr>
        <p:txBody>
          <a:bodyPr wrap="square" lIns="0" tIns="0" rIns="0" bIns="0" rtlCol="0" anchor="ctr"/>
          <a:lstStyle/>
          <a:p>
            <a:pPr algn="ctr" indent="0" marL="0">
              <a:buNone/>
            </a:pPr>
            <a:r>
              <a:rPr lang="en-US" sz="1400" b="1" dirty="0">
                <a:solidFill>
                  <a:schemeClr val="tx2"/>
                </a:solidFill>
              </a:rPr>
              <a:t>Jupyter Notebook</a:t>
            </a:r>
            <a:endParaRPr lang="en-US" sz="1400" dirty="0"/>
          </a:p>
        </p:txBody>
      </p:sp>
      <p:sp>
        <p:nvSpPr>
          <p:cNvPr id="18" name="Text 12"/>
          <p:cNvSpPr txBox="1"/>
          <p:nvPr/>
        </p:nvSpPr>
        <p:spPr>
          <a:xfrm>
            <a:off x="4709160" y="2221992"/>
            <a:ext cx="1828800" cy="228600"/>
          </a:xfrm>
          <a:prstGeom prst="rect">
            <a:avLst/>
          </a:prstGeom>
          <a:noFill/>
          <a:ln/>
        </p:spPr>
        <p:txBody>
          <a:bodyPr wrap="square" lIns="0" tIns="0" rIns="0" bIns="0" rtlCol="0" anchor="ctr"/>
          <a:lstStyle/>
          <a:p>
            <a:pPr algn="ctr" indent="0" marL="0">
              <a:buNone/>
            </a:pPr>
            <a:r>
              <a:rPr lang="en-US" sz="1200" dirty="0">
                <a:solidFill>
                  <a:schemeClr val="accent6"/>
                </a:solidFill>
              </a:rPr>
              <a:t>Cleaning and EDA</a:t>
            </a:r>
            <a:endParaRPr lang="en-US" sz="1200" dirty="0"/>
          </a:p>
        </p:txBody>
      </p:sp>
      <p:sp>
        <p:nvSpPr>
          <p:cNvPr id="19" name="Tech card Matplotlib, Seaborn"/>
          <p:cNvSpPr/>
          <p:nvPr/>
        </p:nvSpPr>
        <p:spPr>
          <a:xfrm>
            <a:off x="6766560" y="1143000"/>
            <a:ext cx="1920240" cy="1371600"/>
          </a:xfrm>
          <a:prstGeom prst="roundRect">
            <a:avLst>
              <a:gd name="adj" fmla="val 5333"/>
            </a:avLst>
          </a:prstGeom>
          <a:solidFill>
            <a:schemeClr val="bg2"/>
          </a:solidFill>
          <a:ln/>
        </p:spPr>
      </p:sp>
      <p:sp>
        <p:nvSpPr>
          <p:cNvPr id="20" name="Matplotlib, Seaborn circle"/>
          <p:cNvSpPr/>
          <p:nvPr/>
        </p:nvSpPr>
        <p:spPr>
          <a:xfrm>
            <a:off x="7406640" y="1280160"/>
            <a:ext cx="640080" cy="640080"/>
          </a:xfrm>
          <a:prstGeom prst="ellipse">
            <a:avLst/>
          </a:prstGeom>
          <a:solidFill>
            <a:srgbClr val="0E8C99"/>
          </a:solidFill>
          <a:ln/>
        </p:spPr>
      </p:sp>
      <p:pic>
        <p:nvPicPr>
          <p:cNvPr id="21" name="Matplotlib, Seaborn icon" descr="Matplotlib, Seaborn">    </p:cNvPr>
          <p:cNvPicPr>
            <a:picLocks noChangeAspect="1"/>
          </p:cNvPicPr>
          <p:nvPr/>
        </p:nvPicPr>
        <p:blipFill>
          <a:blip r:embed="rId4"/>
          <a:stretch>
            <a:fillRect/>
          </a:stretch>
        </p:blipFill>
        <p:spPr>
          <a:xfrm>
            <a:off x="7566660" y="1440180"/>
            <a:ext cx="320040" cy="320040"/>
          </a:xfrm>
          <a:prstGeom prst="rect">
            <a:avLst/>
          </a:prstGeom>
        </p:spPr>
      </p:pic>
      <p:sp>
        <p:nvSpPr>
          <p:cNvPr id="22" name="Text 15"/>
          <p:cNvSpPr txBox="1"/>
          <p:nvPr/>
        </p:nvSpPr>
        <p:spPr>
          <a:xfrm>
            <a:off x="6812280" y="1965960"/>
            <a:ext cx="1828800" cy="274320"/>
          </a:xfrm>
          <a:prstGeom prst="rect">
            <a:avLst/>
          </a:prstGeom>
          <a:noFill/>
          <a:ln/>
        </p:spPr>
        <p:txBody>
          <a:bodyPr wrap="square" lIns="0" tIns="0" rIns="0" bIns="0" rtlCol="0" anchor="ctr"/>
          <a:lstStyle/>
          <a:p>
            <a:pPr algn="ctr" indent="0" marL="0">
              <a:buNone/>
            </a:pPr>
            <a:r>
              <a:rPr lang="en-US" sz="1400" b="1" dirty="0">
                <a:solidFill>
                  <a:schemeClr val="tx2"/>
                </a:solidFill>
              </a:rPr>
              <a:t>Matplotlib, Seaborn</a:t>
            </a:r>
            <a:endParaRPr lang="en-US" sz="1400" dirty="0"/>
          </a:p>
        </p:txBody>
      </p:sp>
      <p:sp>
        <p:nvSpPr>
          <p:cNvPr id="23" name="Text 16"/>
          <p:cNvSpPr txBox="1"/>
          <p:nvPr/>
        </p:nvSpPr>
        <p:spPr>
          <a:xfrm>
            <a:off x="6812280" y="2221992"/>
            <a:ext cx="1828800" cy="228600"/>
          </a:xfrm>
          <a:prstGeom prst="rect">
            <a:avLst/>
          </a:prstGeom>
          <a:noFill/>
          <a:ln/>
        </p:spPr>
        <p:txBody>
          <a:bodyPr wrap="square" lIns="0" tIns="0" rIns="0" bIns="0" rtlCol="0" anchor="ctr"/>
          <a:lstStyle/>
          <a:p>
            <a:pPr algn="ctr" indent="0" marL="0">
              <a:buNone/>
            </a:pPr>
            <a:r>
              <a:rPr lang="en-US" sz="1200" dirty="0">
                <a:solidFill>
                  <a:schemeClr val="accent6"/>
                </a:solidFill>
              </a:rPr>
              <a:t>EDA charts</a:t>
            </a:r>
            <a:endParaRPr lang="en-US" sz="1200" dirty="0"/>
          </a:p>
        </p:txBody>
      </p:sp>
      <p:sp>
        <p:nvSpPr>
          <p:cNvPr id="24" name="Tech card SQL Server"/>
          <p:cNvSpPr/>
          <p:nvPr/>
        </p:nvSpPr>
        <p:spPr>
          <a:xfrm>
            <a:off x="457200" y="2697480"/>
            <a:ext cx="1920240" cy="1371600"/>
          </a:xfrm>
          <a:prstGeom prst="roundRect">
            <a:avLst>
              <a:gd name="adj" fmla="val 5333"/>
            </a:avLst>
          </a:prstGeom>
          <a:solidFill>
            <a:schemeClr val="bg2"/>
          </a:solidFill>
          <a:ln/>
        </p:spPr>
      </p:sp>
      <p:sp>
        <p:nvSpPr>
          <p:cNvPr id="25" name="SQL Server circle"/>
          <p:cNvSpPr/>
          <p:nvPr/>
        </p:nvSpPr>
        <p:spPr>
          <a:xfrm>
            <a:off x="1097280" y="2834640"/>
            <a:ext cx="640080" cy="640080"/>
          </a:xfrm>
          <a:prstGeom prst="ellipse">
            <a:avLst/>
          </a:prstGeom>
          <a:solidFill>
            <a:srgbClr val="0E8C99"/>
          </a:solidFill>
          <a:ln/>
        </p:spPr>
      </p:sp>
      <p:pic>
        <p:nvPicPr>
          <p:cNvPr id="26" name="SQL Server icon" descr="SQL Server">    </p:cNvPr>
          <p:cNvPicPr>
            <a:picLocks noChangeAspect="1"/>
          </p:cNvPicPr>
          <p:nvPr/>
        </p:nvPicPr>
        <p:blipFill>
          <a:blip r:embed="rId5"/>
          <a:stretch>
            <a:fillRect/>
          </a:stretch>
        </p:blipFill>
        <p:spPr>
          <a:xfrm>
            <a:off x="1257300" y="2994660"/>
            <a:ext cx="320040" cy="320040"/>
          </a:xfrm>
          <a:prstGeom prst="rect">
            <a:avLst/>
          </a:prstGeom>
        </p:spPr>
      </p:pic>
      <p:sp>
        <p:nvSpPr>
          <p:cNvPr id="27" name="Text 19"/>
          <p:cNvSpPr txBox="1"/>
          <p:nvPr/>
        </p:nvSpPr>
        <p:spPr>
          <a:xfrm>
            <a:off x="502920" y="3520440"/>
            <a:ext cx="1828800" cy="274320"/>
          </a:xfrm>
          <a:prstGeom prst="rect">
            <a:avLst/>
          </a:prstGeom>
          <a:noFill/>
          <a:ln/>
        </p:spPr>
        <p:txBody>
          <a:bodyPr wrap="square" lIns="0" tIns="0" rIns="0" bIns="0" rtlCol="0" anchor="ctr"/>
          <a:lstStyle/>
          <a:p>
            <a:pPr algn="ctr" indent="0" marL="0">
              <a:buNone/>
            </a:pPr>
            <a:r>
              <a:rPr lang="en-US" sz="1400" b="1" dirty="0">
                <a:solidFill>
                  <a:schemeClr val="tx2"/>
                </a:solidFill>
              </a:rPr>
              <a:t>SQL Server</a:t>
            </a:r>
            <a:endParaRPr lang="en-US" sz="1400" dirty="0"/>
          </a:p>
        </p:txBody>
      </p:sp>
      <p:sp>
        <p:nvSpPr>
          <p:cNvPr id="28" name="Text 20"/>
          <p:cNvSpPr txBox="1"/>
          <p:nvPr/>
        </p:nvSpPr>
        <p:spPr>
          <a:xfrm>
            <a:off x="502920" y="3776472"/>
            <a:ext cx="1828800" cy="228600"/>
          </a:xfrm>
          <a:prstGeom prst="rect">
            <a:avLst/>
          </a:prstGeom>
          <a:noFill/>
          <a:ln/>
        </p:spPr>
        <p:txBody>
          <a:bodyPr wrap="square" lIns="0" tIns="0" rIns="0" bIns="0" rtlCol="0" anchor="ctr"/>
          <a:lstStyle/>
          <a:p>
            <a:pPr algn="ctr" indent="0" marL="0">
              <a:buNone/>
            </a:pPr>
            <a:r>
              <a:rPr lang="en-US" sz="1200" dirty="0">
                <a:solidFill>
                  <a:schemeClr val="accent6"/>
                </a:solidFill>
              </a:rPr>
              <a:t>Schema, views, procedures</a:t>
            </a:r>
            <a:endParaRPr lang="en-US" sz="1200" dirty="0"/>
          </a:p>
        </p:txBody>
      </p:sp>
      <p:sp>
        <p:nvSpPr>
          <p:cNvPr id="29" name="Tech card Streamlit"/>
          <p:cNvSpPr/>
          <p:nvPr/>
        </p:nvSpPr>
        <p:spPr>
          <a:xfrm>
            <a:off x="2560320" y="2697480"/>
            <a:ext cx="1920240" cy="1371600"/>
          </a:xfrm>
          <a:prstGeom prst="roundRect">
            <a:avLst>
              <a:gd name="adj" fmla="val 5333"/>
            </a:avLst>
          </a:prstGeom>
          <a:solidFill>
            <a:schemeClr val="bg2"/>
          </a:solidFill>
          <a:ln/>
        </p:spPr>
      </p:sp>
      <p:sp>
        <p:nvSpPr>
          <p:cNvPr id="30" name="Streamlit circle"/>
          <p:cNvSpPr/>
          <p:nvPr/>
        </p:nvSpPr>
        <p:spPr>
          <a:xfrm>
            <a:off x="3200400" y="2834640"/>
            <a:ext cx="640080" cy="640080"/>
          </a:xfrm>
          <a:prstGeom prst="ellipse">
            <a:avLst/>
          </a:prstGeom>
          <a:solidFill>
            <a:srgbClr val="0E8C99"/>
          </a:solidFill>
          <a:ln/>
        </p:spPr>
      </p:sp>
      <p:pic>
        <p:nvPicPr>
          <p:cNvPr id="31" name="Streamlit icon" descr="Streamlit">    </p:cNvPr>
          <p:cNvPicPr>
            <a:picLocks noChangeAspect="1"/>
          </p:cNvPicPr>
          <p:nvPr/>
        </p:nvPicPr>
        <p:blipFill>
          <a:blip r:embed="rId6"/>
          <a:stretch>
            <a:fillRect/>
          </a:stretch>
        </p:blipFill>
        <p:spPr>
          <a:xfrm>
            <a:off x="3360420" y="2994660"/>
            <a:ext cx="320040" cy="320040"/>
          </a:xfrm>
          <a:prstGeom prst="rect">
            <a:avLst/>
          </a:prstGeom>
        </p:spPr>
      </p:pic>
      <p:sp>
        <p:nvSpPr>
          <p:cNvPr id="32" name="Text 23"/>
          <p:cNvSpPr txBox="1"/>
          <p:nvPr/>
        </p:nvSpPr>
        <p:spPr>
          <a:xfrm>
            <a:off x="2606040" y="3520440"/>
            <a:ext cx="1828800" cy="274320"/>
          </a:xfrm>
          <a:prstGeom prst="rect">
            <a:avLst/>
          </a:prstGeom>
          <a:noFill/>
          <a:ln/>
        </p:spPr>
        <p:txBody>
          <a:bodyPr wrap="square" lIns="0" tIns="0" rIns="0" bIns="0" rtlCol="0" anchor="ctr"/>
          <a:lstStyle/>
          <a:p>
            <a:pPr algn="ctr" indent="0" marL="0">
              <a:buNone/>
            </a:pPr>
            <a:r>
              <a:rPr lang="en-US" sz="1400" b="1" dirty="0">
                <a:solidFill>
                  <a:schemeClr val="tx2"/>
                </a:solidFill>
              </a:rPr>
              <a:t>Streamlit</a:t>
            </a:r>
            <a:endParaRPr lang="en-US" sz="1400" dirty="0"/>
          </a:p>
        </p:txBody>
      </p:sp>
      <p:sp>
        <p:nvSpPr>
          <p:cNvPr id="33" name="Text 24"/>
          <p:cNvSpPr txBox="1"/>
          <p:nvPr/>
        </p:nvSpPr>
        <p:spPr>
          <a:xfrm>
            <a:off x="2606040" y="3776472"/>
            <a:ext cx="1828800" cy="228600"/>
          </a:xfrm>
          <a:prstGeom prst="rect">
            <a:avLst/>
          </a:prstGeom>
          <a:noFill/>
          <a:ln/>
        </p:spPr>
        <p:txBody>
          <a:bodyPr wrap="square" lIns="0" tIns="0" rIns="0" bIns="0" rtlCol="0" anchor="ctr"/>
          <a:lstStyle/>
          <a:p>
            <a:pPr algn="ctr" indent="0" marL="0">
              <a:buNone/>
            </a:pPr>
            <a:r>
              <a:rPr lang="en-US" sz="1200" dirty="0">
                <a:solidFill>
                  <a:schemeClr val="accent6"/>
                </a:solidFill>
              </a:rPr>
              <a:t>13-page dashboard</a:t>
            </a:r>
            <a:endParaRPr lang="en-US" sz="1200" dirty="0"/>
          </a:p>
        </p:txBody>
      </p:sp>
      <p:sp>
        <p:nvSpPr>
          <p:cNvPr id="34" name="Tech card CSV files"/>
          <p:cNvSpPr/>
          <p:nvPr/>
        </p:nvSpPr>
        <p:spPr>
          <a:xfrm>
            <a:off x="4663440" y="2697480"/>
            <a:ext cx="1920240" cy="1371600"/>
          </a:xfrm>
          <a:prstGeom prst="roundRect">
            <a:avLst>
              <a:gd name="adj" fmla="val 5333"/>
            </a:avLst>
          </a:prstGeom>
          <a:solidFill>
            <a:schemeClr val="bg2"/>
          </a:solidFill>
          <a:ln/>
        </p:spPr>
      </p:sp>
      <p:sp>
        <p:nvSpPr>
          <p:cNvPr id="35" name="CSV files circle"/>
          <p:cNvSpPr/>
          <p:nvPr/>
        </p:nvSpPr>
        <p:spPr>
          <a:xfrm>
            <a:off x="5303520" y="2834640"/>
            <a:ext cx="640080" cy="640080"/>
          </a:xfrm>
          <a:prstGeom prst="ellipse">
            <a:avLst/>
          </a:prstGeom>
          <a:solidFill>
            <a:srgbClr val="0E8C99"/>
          </a:solidFill>
          <a:ln/>
        </p:spPr>
      </p:sp>
      <p:pic>
        <p:nvPicPr>
          <p:cNvPr id="36" name="CSV files icon" descr="CSV files">    </p:cNvPr>
          <p:cNvPicPr>
            <a:picLocks noChangeAspect="1"/>
          </p:cNvPicPr>
          <p:nvPr/>
        </p:nvPicPr>
        <p:blipFill>
          <a:blip r:embed="rId7"/>
          <a:stretch>
            <a:fillRect/>
          </a:stretch>
        </p:blipFill>
        <p:spPr>
          <a:xfrm>
            <a:off x="5463540" y="2994660"/>
            <a:ext cx="320040" cy="320040"/>
          </a:xfrm>
          <a:prstGeom prst="rect">
            <a:avLst/>
          </a:prstGeom>
        </p:spPr>
      </p:pic>
      <p:sp>
        <p:nvSpPr>
          <p:cNvPr id="37" name="Text 27"/>
          <p:cNvSpPr txBox="1"/>
          <p:nvPr/>
        </p:nvSpPr>
        <p:spPr>
          <a:xfrm>
            <a:off x="4709160" y="3520440"/>
            <a:ext cx="1828800" cy="274320"/>
          </a:xfrm>
          <a:prstGeom prst="rect">
            <a:avLst/>
          </a:prstGeom>
          <a:noFill/>
          <a:ln/>
        </p:spPr>
        <p:txBody>
          <a:bodyPr wrap="square" lIns="0" tIns="0" rIns="0" bIns="0" rtlCol="0" anchor="ctr"/>
          <a:lstStyle/>
          <a:p>
            <a:pPr algn="ctr" indent="0" marL="0">
              <a:buNone/>
            </a:pPr>
            <a:r>
              <a:rPr lang="en-US" sz="1400" b="1" dirty="0">
                <a:solidFill>
                  <a:schemeClr val="tx2"/>
                </a:solidFill>
              </a:rPr>
              <a:t>CSV files</a:t>
            </a:r>
            <a:endParaRPr lang="en-US" sz="1400" dirty="0"/>
          </a:p>
        </p:txBody>
      </p:sp>
      <p:sp>
        <p:nvSpPr>
          <p:cNvPr id="38" name="Text 28"/>
          <p:cNvSpPr txBox="1"/>
          <p:nvPr/>
        </p:nvSpPr>
        <p:spPr>
          <a:xfrm>
            <a:off x="4709160" y="3776472"/>
            <a:ext cx="1828800" cy="228600"/>
          </a:xfrm>
          <a:prstGeom prst="rect">
            <a:avLst/>
          </a:prstGeom>
          <a:noFill/>
          <a:ln/>
        </p:spPr>
        <p:txBody>
          <a:bodyPr wrap="square" lIns="0" tIns="0" rIns="0" bIns="0" rtlCol="0" anchor="ctr"/>
          <a:lstStyle/>
          <a:p>
            <a:pPr algn="ctr" indent="0" marL="0">
              <a:buNone/>
            </a:pPr>
            <a:r>
              <a:rPr lang="en-US" sz="1200" dirty="0">
                <a:solidFill>
                  <a:schemeClr val="accent6"/>
                </a:solidFill>
              </a:rPr>
              <a:t>Raw and cleaned data</a:t>
            </a:r>
            <a:endParaRPr lang="en-US" sz="1200" dirty="0"/>
          </a:p>
        </p:txBody>
      </p:sp>
      <p:sp>
        <p:nvSpPr>
          <p:cNvPr id="39" name="Tech card Power BI"/>
          <p:cNvSpPr/>
          <p:nvPr/>
        </p:nvSpPr>
        <p:spPr>
          <a:xfrm>
            <a:off x="6766560" y="2697480"/>
            <a:ext cx="1920240" cy="1371600"/>
          </a:xfrm>
          <a:prstGeom prst="roundRect">
            <a:avLst>
              <a:gd name="adj" fmla="val 5333"/>
            </a:avLst>
          </a:prstGeom>
          <a:solidFill>
            <a:schemeClr val="bg2"/>
          </a:solidFill>
          <a:ln/>
        </p:spPr>
      </p:sp>
      <p:sp>
        <p:nvSpPr>
          <p:cNvPr id="40" name="Power BI circle"/>
          <p:cNvSpPr/>
          <p:nvPr/>
        </p:nvSpPr>
        <p:spPr>
          <a:xfrm>
            <a:off x="7406640" y="2834640"/>
            <a:ext cx="640080" cy="640080"/>
          </a:xfrm>
          <a:prstGeom prst="ellipse">
            <a:avLst/>
          </a:prstGeom>
          <a:solidFill>
            <a:srgbClr val="0E8C99"/>
          </a:solidFill>
          <a:ln/>
        </p:spPr>
      </p:sp>
      <p:pic>
        <p:nvPicPr>
          <p:cNvPr id="41" name="Power BI icon" descr="Power BI">    </p:cNvPr>
          <p:cNvPicPr>
            <a:picLocks noChangeAspect="1"/>
          </p:cNvPicPr>
          <p:nvPr/>
        </p:nvPicPr>
        <p:blipFill>
          <a:blip r:embed="rId8"/>
          <a:stretch>
            <a:fillRect/>
          </a:stretch>
        </p:blipFill>
        <p:spPr>
          <a:xfrm>
            <a:off x="7566660" y="2994660"/>
            <a:ext cx="320040" cy="320040"/>
          </a:xfrm>
          <a:prstGeom prst="rect">
            <a:avLst/>
          </a:prstGeom>
        </p:spPr>
      </p:pic>
      <p:sp>
        <p:nvSpPr>
          <p:cNvPr id="42" name="Text 31"/>
          <p:cNvSpPr txBox="1"/>
          <p:nvPr/>
        </p:nvSpPr>
        <p:spPr>
          <a:xfrm>
            <a:off x="6812280" y="3520440"/>
            <a:ext cx="1828800" cy="274320"/>
          </a:xfrm>
          <a:prstGeom prst="rect">
            <a:avLst/>
          </a:prstGeom>
          <a:noFill/>
          <a:ln/>
        </p:spPr>
        <p:txBody>
          <a:bodyPr wrap="square" lIns="0" tIns="0" rIns="0" bIns="0" rtlCol="0" anchor="ctr"/>
          <a:lstStyle/>
          <a:p>
            <a:pPr algn="ctr" indent="0" marL="0">
              <a:buNone/>
            </a:pPr>
            <a:r>
              <a:rPr lang="en-US" sz="1400" b="1" dirty="0">
                <a:solidFill>
                  <a:schemeClr val="tx2"/>
                </a:solidFill>
              </a:rPr>
              <a:t>Power BI</a:t>
            </a:r>
            <a:endParaRPr lang="en-US" sz="1400" dirty="0"/>
          </a:p>
        </p:txBody>
      </p:sp>
      <p:sp>
        <p:nvSpPr>
          <p:cNvPr id="43" name="Text 32"/>
          <p:cNvSpPr txBox="1"/>
          <p:nvPr/>
        </p:nvSpPr>
        <p:spPr>
          <a:xfrm>
            <a:off x="6812280" y="3776472"/>
            <a:ext cx="1828800" cy="228600"/>
          </a:xfrm>
          <a:prstGeom prst="rect">
            <a:avLst/>
          </a:prstGeom>
          <a:noFill/>
          <a:ln/>
        </p:spPr>
        <p:txBody>
          <a:bodyPr wrap="square" lIns="0" tIns="0" rIns="0" bIns="0" rtlCol="0" anchor="ctr"/>
          <a:lstStyle/>
          <a:p>
            <a:pPr algn="ctr" indent="0" marL="0">
              <a:buNone/>
            </a:pPr>
            <a:r>
              <a:rPr lang="en-US" sz="1200" dirty="0">
                <a:solidFill>
                  <a:schemeClr val="accent6"/>
                </a:solidFill>
              </a:rPr>
              <a:t>One-page report</a:t>
            </a:r>
            <a:endParaRPr lang="en-US" sz="1200" dirty="0"/>
          </a:p>
        </p:txBody>
      </p:sp>
      <p:sp>
        <p:nvSpPr>
          <p:cNvPr id="44" name="Text 33"/>
          <p:cNvSpPr txBox="1"/>
          <p:nvPr/>
        </p:nvSpPr>
        <p:spPr>
          <a:xfrm>
            <a:off x="457200" y="4297680"/>
            <a:ext cx="8229600" cy="457200"/>
          </a:xfrm>
          <a:prstGeom prst="rect">
            <a:avLst/>
          </a:prstGeom>
          <a:noFill/>
          <a:ln/>
        </p:spPr>
        <p:txBody>
          <a:bodyPr wrap="square" lIns="0" tIns="0" rIns="0" bIns="0" rtlCol="0" anchor="t"/>
          <a:lstStyle/>
          <a:p>
            <a:pPr indent="0" marL="0">
              <a:buNone/>
            </a:pPr>
            <a:r>
              <a:rPr lang="en-US" sz="1200" i="1" dirty="0">
                <a:solidFill>
                  <a:schemeClr val="accent6"/>
                </a:solidFill>
              </a:rPr>
              <a:t>SQLAlchemy and pyodbc are listed in requirements.txt for SQL Server access; the current app reads the cleaned CSVs directly.</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Results &amp; Benefits</a:t>
            </a:r>
            <a:endParaRPr lang="en-US" sz="3000" dirty="0"/>
          </a:p>
        </p:txBody>
      </p:sp>
      <p:sp>
        <p:nvSpPr>
          <p:cNvPr id="4" name="Result stat 1"/>
          <p:cNvSpPr/>
          <p:nvPr/>
        </p:nvSpPr>
        <p:spPr>
          <a:xfrm>
            <a:off x="457200" y="1143000"/>
            <a:ext cx="2103120" cy="1554480"/>
          </a:xfrm>
          <a:prstGeom prst="roundRect">
            <a:avLst>
              <a:gd name="adj" fmla="val 4706"/>
            </a:avLst>
          </a:prstGeom>
          <a:solidFill>
            <a:srgbClr val="EAF6F7"/>
          </a:solidFill>
          <a:ln/>
        </p:spPr>
      </p:sp>
      <p:sp>
        <p:nvSpPr>
          <p:cNvPr id="5" name="Text 2"/>
          <p:cNvSpPr txBox="1"/>
          <p:nvPr/>
        </p:nvSpPr>
        <p:spPr>
          <a:xfrm>
            <a:off x="457200" y="1280160"/>
            <a:ext cx="2103120" cy="73152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148</a:t>
            </a:r>
            <a:endParaRPr lang="en-US" sz="4000" dirty="0"/>
          </a:p>
        </p:txBody>
      </p:sp>
      <p:sp>
        <p:nvSpPr>
          <p:cNvPr id="6" name="Text 3"/>
          <p:cNvSpPr txBox="1"/>
          <p:nvPr/>
        </p:nvSpPr>
        <p:spPr>
          <a:xfrm>
            <a:off x="594360" y="2011680"/>
            <a:ext cx="1828800" cy="548640"/>
          </a:xfrm>
          <a:prstGeom prst="rect">
            <a:avLst/>
          </a:prstGeom>
          <a:noFill/>
          <a:ln/>
        </p:spPr>
        <p:txBody>
          <a:bodyPr wrap="square" lIns="0" tIns="0" rIns="0" bIns="0" rtlCol="0" anchor="t"/>
          <a:lstStyle/>
          <a:p>
            <a:pPr algn="ctr" indent="0" marL="0">
              <a:buNone/>
            </a:pPr>
            <a:r>
              <a:rPr lang="en-US" sz="1200" dirty="0">
                <a:solidFill>
                  <a:schemeClr val="tx1"/>
                </a:solidFill>
              </a:rPr>
              <a:t>duplicate rows removed</a:t>
            </a:r>
            <a:endParaRPr lang="en-US" sz="1200" dirty="0"/>
          </a:p>
        </p:txBody>
      </p:sp>
      <p:sp>
        <p:nvSpPr>
          <p:cNvPr id="7" name="Result stat 2"/>
          <p:cNvSpPr/>
          <p:nvPr/>
        </p:nvSpPr>
        <p:spPr>
          <a:xfrm>
            <a:off x="2697480" y="1143000"/>
            <a:ext cx="2103120" cy="1554480"/>
          </a:xfrm>
          <a:prstGeom prst="roundRect">
            <a:avLst>
              <a:gd name="adj" fmla="val 4706"/>
            </a:avLst>
          </a:prstGeom>
          <a:solidFill>
            <a:srgbClr val="EAF6F7"/>
          </a:solidFill>
          <a:ln/>
        </p:spPr>
      </p:sp>
      <p:sp>
        <p:nvSpPr>
          <p:cNvPr id="8" name="Text 5"/>
          <p:cNvSpPr txBox="1"/>
          <p:nvPr/>
        </p:nvSpPr>
        <p:spPr>
          <a:xfrm>
            <a:off x="2697480" y="1280160"/>
            <a:ext cx="2103120" cy="73152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12</a:t>
            </a:r>
            <a:endParaRPr lang="en-US" sz="4000" dirty="0"/>
          </a:p>
        </p:txBody>
      </p:sp>
      <p:sp>
        <p:nvSpPr>
          <p:cNvPr id="9" name="Text 6"/>
          <p:cNvSpPr txBox="1"/>
          <p:nvPr/>
        </p:nvSpPr>
        <p:spPr>
          <a:xfrm>
            <a:off x="2834640" y="2011680"/>
            <a:ext cx="1828800" cy="548640"/>
          </a:xfrm>
          <a:prstGeom prst="rect">
            <a:avLst/>
          </a:prstGeom>
          <a:noFill/>
          <a:ln/>
        </p:spPr>
        <p:txBody>
          <a:bodyPr wrap="square" lIns="0" tIns="0" rIns="0" bIns="0" rtlCol="0" anchor="t"/>
          <a:lstStyle/>
          <a:p>
            <a:pPr algn="ctr" indent="0" marL="0">
              <a:buNone/>
            </a:pPr>
            <a:r>
              <a:rPr lang="en-US" sz="1200" dirty="0">
                <a:solidFill>
                  <a:schemeClr val="tx1"/>
                </a:solidFill>
              </a:rPr>
              <a:t>related tables, 15 foreign keys</a:t>
            </a:r>
            <a:endParaRPr lang="en-US" sz="1200" dirty="0"/>
          </a:p>
        </p:txBody>
      </p:sp>
      <p:sp>
        <p:nvSpPr>
          <p:cNvPr id="10" name="Result stat 3"/>
          <p:cNvSpPr/>
          <p:nvPr/>
        </p:nvSpPr>
        <p:spPr>
          <a:xfrm>
            <a:off x="457200" y="2880360"/>
            <a:ext cx="2103120" cy="1554480"/>
          </a:xfrm>
          <a:prstGeom prst="roundRect">
            <a:avLst>
              <a:gd name="adj" fmla="val 4706"/>
            </a:avLst>
          </a:prstGeom>
          <a:solidFill>
            <a:srgbClr val="EAF6F7"/>
          </a:solidFill>
          <a:ln/>
        </p:spPr>
      </p:sp>
      <p:sp>
        <p:nvSpPr>
          <p:cNvPr id="11" name="Text 8"/>
          <p:cNvSpPr txBox="1"/>
          <p:nvPr/>
        </p:nvSpPr>
        <p:spPr>
          <a:xfrm>
            <a:off x="457200" y="3017520"/>
            <a:ext cx="2103120" cy="73152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8</a:t>
            </a:r>
            <a:endParaRPr lang="en-US" sz="4000" dirty="0"/>
          </a:p>
        </p:txBody>
      </p:sp>
      <p:sp>
        <p:nvSpPr>
          <p:cNvPr id="12" name="Text 9"/>
          <p:cNvSpPr txBox="1"/>
          <p:nvPr/>
        </p:nvSpPr>
        <p:spPr>
          <a:xfrm>
            <a:off x="594360" y="3749040"/>
            <a:ext cx="1828800" cy="548640"/>
          </a:xfrm>
          <a:prstGeom prst="rect">
            <a:avLst/>
          </a:prstGeom>
          <a:noFill/>
          <a:ln/>
        </p:spPr>
        <p:txBody>
          <a:bodyPr wrap="square" lIns="0" tIns="0" rIns="0" bIns="0" rtlCol="0" anchor="t"/>
          <a:lstStyle/>
          <a:p>
            <a:pPr algn="ctr" indent="0" marL="0">
              <a:buNone/>
            </a:pPr>
            <a:r>
              <a:rPr lang="en-US" sz="1200" dirty="0">
                <a:solidFill>
                  <a:schemeClr val="tx1"/>
                </a:solidFill>
              </a:rPr>
              <a:t>SQL queries, 4 views, 3 procedures</a:t>
            </a:r>
            <a:endParaRPr lang="en-US" sz="1200" dirty="0"/>
          </a:p>
        </p:txBody>
      </p:sp>
      <p:sp>
        <p:nvSpPr>
          <p:cNvPr id="13" name="Result stat 4"/>
          <p:cNvSpPr/>
          <p:nvPr/>
        </p:nvSpPr>
        <p:spPr>
          <a:xfrm>
            <a:off x="2697480" y="2880360"/>
            <a:ext cx="2103120" cy="1554480"/>
          </a:xfrm>
          <a:prstGeom prst="roundRect">
            <a:avLst>
              <a:gd name="adj" fmla="val 4706"/>
            </a:avLst>
          </a:prstGeom>
          <a:solidFill>
            <a:srgbClr val="EAF6F7"/>
          </a:solidFill>
          <a:ln/>
        </p:spPr>
      </p:sp>
      <p:sp>
        <p:nvSpPr>
          <p:cNvPr id="14" name="Text 11"/>
          <p:cNvSpPr txBox="1"/>
          <p:nvPr/>
        </p:nvSpPr>
        <p:spPr>
          <a:xfrm>
            <a:off x="2697480" y="3017520"/>
            <a:ext cx="2103120" cy="73152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13</a:t>
            </a:r>
            <a:endParaRPr lang="en-US" sz="4000" dirty="0"/>
          </a:p>
        </p:txBody>
      </p:sp>
      <p:sp>
        <p:nvSpPr>
          <p:cNvPr id="15" name="Text 12"/>
          <p:cNvSpPr txBox="1"/>
          <p:nvPr/>
        </p:nvSpPr>
        <p:spPr>
          <a:xfrm>
            <a:off x="2834640" y="3749040"/>
            <a:ext cx="1828800" cy="548640"/>
          </a:xfrm>
          <a:prstGeom prst="rect">
            <a:avLst/>
          </a:prstGeom>
          <a:noFill/>
          <a:ln/>
        </p:spPr>
        <p:txBody>
          <a:bodyPr wrap="square" lIns="0" tIns="0" rIns="0" bIns="0" rtlCol="0" anchor="t"/>
          <a:lstStyle/>
          <a:p>
            <a:pPr algn="ctr" indent="0" marL="0">
              <a:buNone/>
            </a:pPr>
            <a:r>
              <a:rPr lang="en-US" sz="1200" dirty="0">
                <a:solidFill>
                  <a:schemeClr val="tx1"/>
                </a:solidFill>
              </a:rPr>
              <a:t>interactive dashboard pages</a:t>
            </a:r>
            <a:endParaRPr lang="en-US" sz="1200" dirty="0"/>
          </a:p>
        </p:txBody>
      </p:sp>
      <p:sp>
        <p:nvSpPr>
          <p:cNvPr id="16" name="Benefit 1 circle"/>
          <p:cNvSpPr/>
          <p:nvPr/>
        </p:nvSpPr>
        <p:spPr>
          <a:xfrm>
            <a:off x="5120640" y="1143000"/>
            <a:ext cx="411480" cy="411480"/>
          </a:xfrm>
          <a:prstGeom prst="ellipse">
            <a:avLst/>
          </a:prstGeom>
          <a:solidFill>
            <a:srgbClr val="0E8C99"/>
          </a:solidFill>
          <a:ln/>
        </p:spPr>
      </p:sp>
      <p:pic>
        <p:nvPicPr>
          <p:cNvPr id="17" name="Benefit 1 icon" descr="Benefit 1">    </p:cNvPr>
          <p:cNvPicPr>
            <a:picLocks noChangeAspect="1"/>
          </p:cNvPicPr>
          <p:nvPr/>
        </p:nvPicPr>
        <p:blipFill>
          <a:blip r:embed="rId1"/>
          <a:stretch>
            <a:fillRect/>
          </a:stretch>
        </p:blipFill>
        <p:spPr>
          <a:xfrm>
            <a:off x="5223510" y="1245870"/>
            <a:ext cx="205740" cy="205740"/>
          </a:xfrm>
          <a:prstGeom prst="rect">
            <a:avLst/>
          </a:prstGeom>
        </p:spPr>
      </p:pic>
      <p:sp>
        <p:nvSpPr>
          <p:cNvPr id="18" name="Text 14"/>
          <p:cNvSpPr txBox="1"/>
          <p:nvPr/>
        </p:nvSpPr>
        <p:spPr>
          <a:xfrm>
            <a:off x="5669280" y="1124712"/>
            <a:ext cx="3017520" cy="457200"/>
          </a:xfrm>
          <a:prstGeom prst="rect">
            <a:avLst/>
          </a:prstGeom>
          <a:noFill/>
          <a:ln/>
        </p:spPr>
        <p:txBody>
          <a:bodyPr wrap="square" lIns="0" tIns="0" rIns="0" bIns="0" rtlCol="0" anchor="ctr"/>
          <a:lstStyle/>
          <a:p>
            <a:pPr indent="0" marL="0">
              <a:buNone/>
            </a:pPr>
            <a:r>
              <a:rPr lang="en-US" sz="1400" dirty="0">
                <a:solidFill>
                  <a:schemeClr val="tx1"/>
                </a:solidFill>
              </a:rPr>
              <a:t>Better data quality</a:t>
            </a:r>
            <a:endParaRPr lang="en-US" sz="1400" dirty="0"/>
          </a:p>
        </p:txBody>
      </p:sp>
      <p:sp>
        <p:nvSpPr>
          <p:cNvPr id="19" name="Benefit 2 circle"/>
          <p:cNvSpPr/>
          <p:nvPr/>
        </p:nvSpPr>
        <p:spPr>
          <a:xfrm>
            <a:off x="5120640" y="1728216"/>
            <a:ext cx="411480" cy="411480"/>
          </a:xfrm>
          <a:prstGeom prst="ellipse">
            <a:avLst/>
          </a:prstGeom>
          <a:solidFill>
            <a:srgbClr val="0E8C99"/>
          </a:solidFill>
          <a:ln/>
        </p:spPr>
      </p:sp>
      <p:pic>
        <p:nvPicPr>
          <p:cNvPr id="20" name="Benefit 2 icon" descr="Benefit 2">    </p:cNvPr>
          <p:cNvPicPr>
            <a:picLocks noChangeAspect="1"/>
          </p:cNvPicPr>
          <p:nvPr/>
        </p:nvPicPr>
        <p:blipFill>
          <a:blip r:embed="rId2"/>
          <a:stretch>
            <a:fillRect/>
          </a:stretch>
        </p:blipFill>
        <p:spPr>
          <a:xfrm>
            <a:off x="5223510" y="1831086"/>
            <a:ext cx="205740" cy="205740"/>
          </a:xfrm>
          <a:prstGeom prst="rect">
            <a:avLst/>
          </a:prstGeom>
        </p:spPr>
      </p:pic>
      <p:sp>
        <p:nvSpPr>
          <p:cNvPr id="21" name="Text 16"/>
          <p:cNvSpPr txBox="1"/>
          <p:nvPr/>
        </p:nvSpPr>
        <p:spPr>
          <a:xfrm>
            <a:off x="5669280" y="1709928"/>
            <a:ext cx="3017520" cy="457200"/>
          </a:xfrm>
          <a:prstGeom prst="rect">
            <a:avLst/>
          </a:prstGeom>
          <a:noFill/>
          <a:ln/>
        </p:spPr>
        <p:txBody>
          <a:bodyPr wrap="square" lIns="0" tIns="0" rIns="0" bIns="0" rtlCol="0" anchor="ctr"/>
          <a:lstStyle/>
          <a:p>
            <a:pPr indent="0" marL="0">
              <a:buNone/>
            </a:pPr>
            <a:r>
              <a:rPr lang="en-US" sz="1400" dirty="0">
                <a:solidFill>
                  <a:schemeClr val="tx1"/>
                </a:solidFill>
              </a:rPr>
              <a:t>Organized hospital information</a:t>
            </a:r>
            <a:endParaRPr lang="en-US" sz="1400" dirty="0"/>
          </a:p>
        </p:txBody>
      </p:sp>
      <p:sp>
        <p:nvSpPr>
          <p:cNvPr id="22" name="Benefit 3 circle"/>
          <p:cNvSpPr/>
          <p:nvPr/>
        </p:nvSpPr>
        <p:spPr>
          <a:xfrm>
            <a:off x="5120640" y="2313432"/>
            <a:ext cx="411480" cy="411480"/>
          </a:xfrm>
          <a:prstGeom prst="ellipse">
            <a:avLst/>
          </a:prstGeom>
          <a:solidFill>
            <a:srgbClr val="0E8C99"/>
          </a:solidFill>
          <a:ln/>
        </p:spPr>
      </p:sp>
      <p:pic>
        <p:nvPicPr>
          <p:cNvPr id="23" name="Benefit 3 icon" descr="Benefit 3">    </p:cNvPr>
          <p:cNvPicPr>
            <a:picLocks noChangeAspect="1"/>
          </p:cNvPicPr>
          <p:nvPr/>
        </p:nvPicPr>
        <p:blipFill>
          <a:blip r:embed="rId3"/>
          <a:stretch>
            <a:fillRect/>
          </a:stretch>
        </p:blipFill>
        <p:spPr>
          <a:xfrm>
            <a:off x="5223510" y="2416302"/>
            <a:ext cx="205740" cy="205740"/>
          </a:xfrm>
          <a:prstGeom prst="rect">
            <a:avLst/>
          </a:prstGeom>
        </p:spPr>
      </p:pic>
      <p:sp>
        <p:nvSpPr>
          <p:cNvPr id="24" name="Text 18"/>
          <p:cNvSpPr txBox="1"/>
          <p:nvPr/>
        </p:nvSpPr>
        <p:spPr>
          <a:xfrm>
            <a:off x="5669280" y="2295144"/>
            <a:ext cx="3017520" cy="457200"/>
          </a:xfrm>
          <a:prstGeom prst="rect">
            <a:avLst/>
          </a:prstGeom>
          <a:noFill/>
          <a:ln/>
        </p:spPr>
        <p:txBody>
          <a:bodyPr wrap="square" lIns="0" tIns="0" rIns="0" bIns="0" rtlCol="0" anchor="ctr"/>
          <a:lstStyle/>
          <a:p>
            <a:pPr indent="0" marL="0">
              <a:buNone/>
            </a:pPr>
            <a:r>
              <a:rPr lang="en-US" sz="1400" dirty="0">
                <a:solidFill>
                  <a:schemeClr val="tx1"/>
                </a:solidFill>
              </a:rPr>
              <a:t>Easier analysis</a:t>
            </a:r>
            <a:endParaRPr lang="en-US" sz="1400" dirty="0"/>
          </a:p>
        </p:txBody>
      </p:sp>
      <p:sp>
        <p:nvSpPr>
          <p:cNvPr id="25" name="Benefit 4 circle"/>
          <p:cNvSpPr/>
          <p:nvPr/>
        </p:nvSpPr>
        <p:spPr>
          <a:xfrm>
            <a:off x="5120640" y="2898648"/>
            <a:ext cx="411480" cy="411480"/>
          </a:xfrm>
          <a:prstGeom prst="ellipse">
            <a:avLst/>
          </a:prstGeom>
          <a:solidFill>
            <a:srgbClr val="0E8C99"/>
          </a:solidFill>
          <a:ln/>
        </p:spPr>
      </p:sp>
      <p:pic>
        <p:nvPicPr>
          <p:cNvPr id="26" name="Benefit 4 icon" descr="Benefit 4">    </p:cNvPr>
          <p:cNvPicPr>
            <a:picLocks noChangeAspect="1"/>
          </p:cNvPicPr>
          <p:nvPr/>
        </p:nvPicPr>
        <p:blipFill>
          <a:blip r:embed="rId4"/>
          <a:stretch>
            <a:fillRect/>
          </a:stretch>
        </p:blipFill>
        <p:spPr>
          <a:xfrm>
            <a:off x="5223510" y="3001518"/>
            <a:ext cx="205740" cy="205740"/>
          </a:xfrm>
          <a:prstGeom prst="rect">
            <a:avLst/>
          </a:prstGeom>
        </p:spPr>
      </p:pic>
      <p:sp>
        <p:nvSpPr>
          <p:cNvPr id="27" name="Text 20"/>
          <p:cNvSpPr txBox="1"/>
          <p:nvPr/>
        </p:nvSpPr>
        <p:spPr>
          <a:xfrm>
            <a:off x="5669280" y="2880360"/>
            <a:ext cx="3017520" cy="457200"/>
          </a:xfrm>
          <a:prstGeom prst="rect">
            <a:avLst/>
          </a:prstGeom>
          <a:noFill/>
          <a:ln/>
        </p:spPr>
        <p:txBody>
          <a:bodyPr wrap="square" lIns="0" tIns="0" rIns="0" bIns="0" rtlCol="0" anchor="ctr"/>
          <a:lstStyle/>
          <a:p>
            <a:pPr indent="0" marL="0">
              <a:buNone/>
            </a:pPr>
            <a:r>
              <a:rPr lang="en-US" sz="1400" dirty="0">
                <a:solidFill>
                  <a:schemeClr val="tx1"/>
                </a:solidFill>
              </a:rPr>
              <a:t>Faster reporting with views and procedures</a:t>
            </a:r>
            <a:endParaRPr lang="en-US" sz="1400" dirty="0"/>
          </a:p>
        </p:txBody>
      </p:sp>
      <p:sp>
        <p:nvSpPr>
          <p:cNvPr id="28" name="Benefit 5 circle"/>
          <p:cNvSpPr/>
          <p:nvPr/>
        </p:nvSpPr>
        <p:spPr>
          <a:xfrm>
            <a:off x="5120640" y="3483864"/>
            <a:ext cx="411480" cy="411480"/>
          </a:xfrm>
          <a:prstGeom prst="ellipse">
            <a:avLst/>
          </a:prstGeom>
          <a:solidFill>
            <a:srgbClr val="0E8C99"/>
          </a:solidFill>
          <a:ln/>
        </p:spPr>
      </p:sp>
      <p:pic>
        <p:nvPicPr>
          <p:cNvPr id="29" name="Benefit 5 icon" descr="Benefit 5">    </p:cNvPr>
          <p:cNvPicPr>
            <a:picLocks noChangeAspect="1"/>
          </p:cNvPicPr>
          <p:nvPr/>
        </p:nvPicPr>
        <p:blipFill>
          <a:blip r:embed="rId5"/>
          <a:stretch>
            <a:fillRect/>
          </a:stretch>
        </p:blipFill>
        <p:spPr>
          <a:xfrm>
            <a:off x="5223510" y="3586734"/>
            <a:ext cx="205740" cy="205740"/>
          </a:xfrm>
          <a:prstGeom prst="rect">
            <a:avLst/>
          </a:prstGeom>
        </p:spPr>
      </p:pic>
      <p:sp>
        <p:nvSpPr>
          <p:cNvPr id="30" name="Text 22"/>
          <p:cNvSpPr txBox="1"/>
          <p:nvPr/>
        </p:nvSpPr>
        <p:spPr>
          <a:xfrm>
            <a:off x="5669280" y="3465576"/>
            <a:ext cx="3017520" cy="457200"/>
          </a:xfrm>
          <a:prstGeom prst="rect">
            <a:avLst/>
          </a:prstGeom>
          <a:noFill/>
          <a:ln/>
        </p:spPr>
        <p:txBody>
          <a:bodyPr wrap="square" lIns="0" tIns="0" rIns="0" bIns="0" rtlCol="0" anchor="ctr"/>
          <a:lstStyle/>
          <a:p>
            <a:pPr indent="0" marL="0">
              <a:buNone/>
            </a:pPr>
            <a:r>
              <a:rPr lang="en-US" sz="1400" dirty="0">
                <a:solidFill>
                  <a:schemeClr val="tx1"/>
                </a:solidFill>
              </a:rPr>
              <a:t>Interactive visualization</a:t>
            </a:r>
            <a:endParaRPr lang="en-US" sz="1400" dirty="0"/>
          </a:p>
        </p:txBody>
      </p:sp>
      <p:sp>
        <p:nvSpPr>
          <p:cNvPr id="31" name="Benefit 6 circle"/>
          <p:cNvSpPr/>
          <p:nvPr/>
        </p:nvSpPr>
        <p:spPr>
          <a:xfrm>
            <a:off x="5120640" y="4069080"/>
            <a:ext cx="411480" cy="411480"/>
          </a:xfrm>
          <a:prstGeom prst="ellipse">
            <a:avLst/>
          </a:prstGeom>
          <a:solidFill>
            <a:srgbClr val="0E8C99"/>
          </a:solidFill>
          <a:ln/>
        </p:spPr>
      </p:sp>
      <p:pic>
        <p:nvPicPr>
          <p:cNvPr id="32" name="Benefit 6 icon" descr="Benefit 6">    </p:cNvPr>
          <p:cNvPicPr>
            <a:picLocks noChangeAspect="1"/>
          </p:cNvPicPr>
          <p:nvPr/>
        </p:nvPicPr>
        <p:blipFill>
          <a:blip r:embed="rId6"/>
          <a:stretch>
            <a:fillRect/>
          </a:stretch>
        </p:blipFill>
        <p:spPr>
          <a:xfrm>
            <a:off x="5223510" y="4171950"/>
            <a:ext cx="205740" cy="205740"/>
          </a:xfrm>
          <a:prstGeom prst="rect">
            <a:avLst/>
          </a:prstGeom>
        </p:spPr>
      </p:pic>
      <p:sp>
        <p:nvSpPr>
          <p:cNvPr id="33" name="Text 24"/>
          <p:cNvSpPr txBox="1"/>
          <p:nvPr/>
        </p:nvSpPr>
        <p:spPr>
          <a:xfrm>
            <a:off x="5669280" y="4050792"/>
            <a:ext cx="3017520" cy="457200"/>
          </a:xfrm>
          <a:prstGeom prst="rect">
            <a:avLst/>
          </a:prstGeom>
          <a:noFill/>
          <a:ln/>
        </p:spPr>
        <p:txBody>
          <a:bodyPr wrap="square" lIns="0" tIns="0" rIns="0" bIns="0" rtlCol="0" anchor="ctr"/>
          <a:lstStyle/>
          <a:p>
            <a:pPr indent="0" marL="0">
              <a:buNone/>
            </a:pPr>
            <a:r>
              <a:rPr lang="en-US" sz="1400" dirty="0">
                <a:solidFill>
                  <a:schemeClr val="tx1"/>
                </a:solidFill>
              </a:rPr>
              <a:t>Easier monitoring of KPIs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Conclusion</a:t>
            </a:r>
            <a:endParaRPr lang="en-US" sz="3000" dirty="0"/>
          </a:p>
        </p:txBody>
      </p:sp>
      <p:sp>
        <p:nvSpPr>
          <p:cNvPr id="4" name="Text 1"/>
          <p:cNvSpPr txBox="1"/>
          <p:nvPr/>
        </p:nvSpPr>
        <p:spPr>
          <a:xfrm>
            <a:off x="457200" y="1051560"/>
            <a:ext cx="8229600" cy="548640"/>
          </a:xfrm>
          <a:prstGeom prst="rect">
            <a:avLst/>
          </a:prstGeom>
          <a:noFill/>
          <a:ln/>
        </p:spPr>
        <p:txBody>
          <a:bodyPr wrap="square" lIns="0" tIns="0" rIns="0" bIns="0" rtlCol="0" anchor="ctr"/>
          <a:lstStyle/>
          <a:p>
            <a:pPr indent="0" marL="0">
              <a:buNone/>
            </a:pPr>
            <a:r>
              <a:rPr lang="en-US" sz="1800" dirty="0">
                <a:solidFill>
                  <a:schemeClr val="accent3"/>
                </a:solidFill>
              </a:rPr>
              <a:t>From 12 dirty CSV files to a clean, organized and analysable hospital data system.</a:t>
            </a:r>
            <a:endParaRPr lang="en-US" sz="1800" dirty="0"/>
          </a:p>
        </p:txBody>
      </p:sp>
      <p:sp>
        <p:nvSpPr>
          <p:cNvPr id="5" name="Pipeline Dirty data"/>
          <p:cNvSpPr/>
          <p:nvPr/>
        </p:nvSpPr>
        <p:spPr>
          <a:xfrm>
            <a:off x="457200" y="1965960"/>
            <a:ext cx="1143000" cy="640080"/>
          </a:xfrm>
          <a:prstGeom prst="roundRect">
            <a:avLst>
              <a:gd name="adj" fmla="val 11429"/>
            </a:avLst>
          </a:prstGeom>
          <a:solidFill>
            <a:srgbClr val="C8553D"/>
          </a:solidFill>
          <a:ln/>
        </p:spPr>
      </p:sp>
      <p:sp>
        <p:nvSpPr>
          <p:cNvPr id="6" name="Text 3"/>
          <p:cNvSpPr txBox="1"/>
          <p:nvPr/>
        </p:nvSpPr>
        <p:spPr>
          <a:xfrm>
            <a:off x="457200" y="1965960"/>
            <a:ext cx="1143000" cy="640080"/>
          </a:xfrm>
          <a:prstGeom prst="rect">
            <a:avLst/>
          </a:prstGeom>
          <a:noFill/>
          <a:ln/>
        </p:spPr>
        <p:txBody>
          <a:bodyPr wrap="square" lIns="0" tIns="0" rIns="0" bIns="0" rtlCol="0" anchor="ctr"/>
          <a:lstStyle/>
          <a:p>
            <a:pPr algn="ctr" indent="0" marL="0">
              <a:buNone/>
            </a:pPr>
            <a:r>
              <a:rPr lang="en-US" sz="1400" b="1" dirty="0">
                <a:solidFill>
                  <a:schemeClr val="bg1"/>
                </a:solidFill>
              </a:rPr>
              <a:t>Dirty data</a:t>
            </a:r>
            <a:endParaRPr lang="en-US" sz="1400" dirty="0"/>
          </a:p>
        </p:txBody>
      </p:sp>
      <p:sp>
        <p:nvSpPr>
          <p:cNvPr id="7" name="Pipeline arrow 1"/>
          <p:cNvSpPr/>
          <p:nvPr/>
        </p:nvSpPr>
        <p:spPr>
          <a:xfrm>
            <a:off x="1627632" y="2286000"/>
            <a:ext cx="219456" cy="0"/>
          </a:xfrm>
          <a:prstGeom prst="line">
            <a:avLst/>
          </a:prstGeom>
          <a:noFill/>
          <a:ln w="25400">
            <a:solidFill>
              <a:srgbClr val="5FBFC8"/>
            </a:solidFill>
            <a:prstDash val="solid"/>
            <a:tailEnd type="triangle"/>
          </a:ln>
        </p:spPr>
      </p:sp>
      <p:sp>
        <p:nvSpPr>
          <p:cNvPr id="8" name="Pipeline Cleaning"/>
          <p:cNvSpPr/>
          <p:nvPr/>
        </p:nvSpPr>
        <p:spPr>
          <a:xfrm>
            <a:off x="1874520" y="1965960"/>
            <a:ext cx="1143000" cy="640080"/>
          </a:xfrm>
          <a:prstGeom prst="roundRect">
            <a:avLst>
              <a:gd name="adj" fmla="val 11429"/>
            </a:avLst>
          </a:prstGeom>
          <a:solidFill>
            <a:srgbClr val="0E8C99"/>
          </a:solidFill>
          <a:ln/>
        </p:spPr>
      </p:sp>
      <p:sp>
        <p:nvSpPr>
          <p:cNvPr id="9" name="Text 6"/>
          <p:cNvSpPr txBox="1"/>
          <p:nvPr/>
        </p:nvSpPr>
        <p:spPr>
          <a:xfrm>
            <a:off x="1874520" y="1965960"/>
            <a:ext cx="1143000" cy="640080"/>
          </a:xfrm>
          <a:prstGeom prst="rect">
            <a:avLst/>
          </a:prstGeom>
          <a:noFill/>
          <a:ln/>
        </p:spPr>
        <p:txBody>
          <a:bodyPr wrap="square" lIns="0" tIns="0" rIns="0" bIns="0" rtlCol="0" anchor="ctr"/>
          <a:lstStyle/>
          <a:p>
            <a:pPr algn="ctr" indent="0" marL="0">
              <a:buNone/>
            </a:pPr>
            <a:r>
              <a:rPr lang="en-US" sz="1400" b="1" dirty="0">
                <a:solidFill>
                  <a:schemeClr val="bg1"/>
                </a:solidFill>
              </a:rPr>
              <a:t>Cleaning</a:t>
            </a:r>
            <a:endParaRPr lang="en-US" sz="1400" dirty="0"/>
          </a:p>
        </p:txBody>
      </p:sp>
      <p:sp>
        <p:nvSpPr>
          <p:cNvPr id="10" name="Pipeline arrow 2"/>
          <p:cNvSpPr/>
          <p:nvPr/>
        </p:nvSpPr>
        <p:spPr>
          <a:xfrm>
            <a:off x="3044952" y="2286000"/>
            <a:ext cx="219456" cy="0"/>
          </a:xfrm>
          <a:prstGeom prst="line">
            <a:avLst/>
          </a:prstGeom>
          <a:noFill/>
          <a:ln w="25400">
            <a:solidFill>
              <a:srgbClr val="5FBFC8"/>
            </a:solidFill>
            <a:prstDash val="solid"/>
            <a:tailEnd type="triangle"/>
          </a:ln>
        </p:spPr>
      </p:sp>
      <p:sp>
        <p:nvSpPr>
          <p:cNvPr id="11" name="Pipeline EDA"/>
          <p:cNvSpPr/>
          <p:nvPr/>
        </p:nvSpPr>
        <p:spPr>
          <a:xfrm>
            <a:off x="3291840" y="1965960"/>
            <a:ext cx="1143000" cy="640080"/>
          </a:xfrm>
          <a:prstGeom prst="roundRect">
            <a:avLst>
              <a:gd name="adj" fmla="val 11429"/>
            </a:avLst>
          </a:prstGeom>
          <a:solidFill>
            <a:srgbClr val="0E8C99"/>
          </a:solidFill>
          <a:ln/>
        </p:spPr>
      </p:sp>
      <p:sp>
        <p:nvSpPr>
          <p:cNvPr id="12" name="Text 9"/>
          <p:cNvSpPr txBox="1"/>
          <p:nvPr/>
        </p:nvSpPr>
        <p:spPr>
          <a:xfrm>
            <a:off x="3291840" y="1965960"/>
            <a:ext cx="1143000" cy="640080"/>
          </a:xfrm>
          <a:prstGeom prst="rect">
            <a:avLst/>
          </a:prstGeom>
          <a:noFill/>
          <a:ln/>
        </p:spPr>
        <p:txBody>
          <a:bodyPr wrap="square" lIns="0" tIns="0" rIns="0" bIns="0" rtlCol="0" anchor="ctr"/>
          <a:lstStyle/>
          <a:p>
            <a:pPr algn="ctr" indent="0" marL="0">
              <a:buNone/>
            </a:pPr>
            <a:r>
              <a:rPr lang="en-US" sz="1400" b="1" dirty="0">
                <a:solidFill>
                  <a:schemeClr val="bg1"/>
                </a:solidFill>
              </a:rPr>
              <a:t>EDA</a:t>
            </a:r>
            <a:endParaRPr lang="en-US" sz="1400" dirty="0"/>
          </a:p>
        </p:txBody>
      </p:sp>
      <p:sp>
        <p:nvSpPr>
          <p:cNvPr id="13" name="Pipeline arrow 3"/>
          <p:cNvSpPr/>
          <p:nvPr/>
        </p:nvSpPr>
        <p:spPr>
          <a:xfrm>
            <a:off x="4462272" y="2286000"/>
            <a:ext cx="219456" cy="0"/>
          </a:xfrm>
          <a:prstGeom prst="line">
            <a:avLst/>
          </a:prstGeom>
          <a:noFill/>
          <a:ln w="25400">
            <a:solidFill>
              <a:srgbClr val="5FBFC8"/>
            </a:solidFill>
            <a:prstDash val="solid"/>
            <a:tailEnd type="triangle"/>
          </a:ln>
        </p:spPr>
      </p:sp>
      <p:sp>
        <p:nvSpPr>
          <p:cNvPr id="14" name="Pipeline SQL"/>
          <p:cNvSpPr/>
          <p:nvPr/>
        </p:nvSpPr>
        <p:spPr>
          <a:xfrm>
            <a:off x="4709160" y="1965960"/>
            <a:ext cx="1143000" cy="640080"/>
          </a:xfrm>
          <a:prstGeom prst="roundRect">
            <a:avLst>
              <a:gd name="adj" fmla="val 11429"/>
            </a:avLst>
          </a:prstGeom>
          <a:solidFill>
            <a:srgbClr val="0E8C99"/>
          </a:solidFill>
          <a:ln/>
        </p:spPr>
      </p:sp>
      <p:sp>
        <p:nvSpPr>
          <p:cNvPr id="15" name="Text 12"/>
          <p:cNvSpPr txBox="1"/>
          <p:nvPr/>
        </p:nvSpPr>
        <p:spPr>
          <a:xfrm>
            <a:off x="4709160" y="1965960"/>
            <a:ext cx="1143000" cy="640080"/>
          </a:xfrm>
          <a:prstGeom prst="rect">
            <a:avLst/>
          </a:prstGeom>
          <a:noFill/>
          <a:ln/>
        </p:spPr>
        <p:txBody>
          <a:bodyPr wrap="square" lIns="0" tIns="0" rIns="0" bIns="0" rtlCol="0" anchor="ctr"/>
          <a:lstStyle/>
          <a:p>
            <a:pPr algn="ctr" indent="0" marL="0">
              <a:buNone/>
            </a:pPr>
            <a:r>
              <a:rPr lang="en-US" sz="1400" b="1" dirty="0">
                <a:solidFill>
                  <a:schemeClr val="bg1"/>
                </a:solidFill>
              </a:rPr>
              <a:t>SQL</a:t>
            </a:r>
            <a:endParaRPr lang="en-US" sz="1400" dirty="0"/>
          </a:p>
        </p:txBody>
      </p:sp>
      <p:sp>
        <p:nvSpPr>
          <p:cNvPr id="16" name="Pipeline arrow 4"/>
          <p:cNvSpPr/>
          <p:nvPr/>
        </p:nvSpPr>
        <p:spPr>
          <a:xfrm>
            <a:off x="5879592" y="2286000"/>
            <a:ext cx="219456" cy="0"/>
          </a:xfrm>
          <a:prstGeom prst="line">
            <a:avLst/>
          </a:prstGeom>
          <a:noFill/>
          <a:ln w="25400">
            <a:solidFill>
              <a:srgbClr val="5FBFC8"/>
            </a:solidFill>
            <a:prstDash val="solid"/>
            <a:tailEnd type="triangle"/>
          </a:ln>
        </p:spPr>
      </p:sp>
      <p:sp>
        <p:nvSpPr>
          <p:cNvPr id="17" name="Pipeline Dashboard"/>
          <p:cNvSpPr/>
          <p:nvPr/>
        </p:nvSpPr>
        <p:spPr>
          <a:xfrm>
            <a:off x="6126480" y="1965960"/>
            <a:ext cx="1143000" cy="640080"/>
          </a:xfrm>
          <a:prstGeom prst="roundRect">
            <a:avLst>
              <a:gd name="adj" fmla="val 11429"/>
            </a:avLst>
          </a:prstGeom>
          <a:solidFill>
            <a:srgbClr val="0E8C99"/>
          </a:solidFill>
          <a:ln/>
        </p:spPr>
      </p:sp>
      <p:sp>
        <p:nvSpPr>
          <p:cNvPr id="18" name="Text 15"/>
          <p:cNvSpPr txBox="1"/>
          <p:nvPr/>
        </p:nvSpPr>
        <p:spPr>
          <a:xfrm>
            <a:off x="6126480" y="1965960"/>
            <a:ext cx="1143000" cy="640080"/>
          </a:xfrm>
          <a:prstGeom prst="rect">
            <a:avLst/>
          </a:prstGeom>
          <a:noFill/>
          <a:ln/>
        </p:spPr>
        <p:txBody>
          <a:bodyPr wrap="square" lIns="0" tIns="0" rIns="0" bIns="0" rtlCol="0" anchor="ctr"/>
          <a:lstStyle/>
          <a:p>
            <a:pPr algn="ctr" indent="0" marL="0">
              <a:buNone/>
            </a:pPr>
            <a:r>
              <a:rPr lang="en-US" sz="1400" b="1" dirty="0">
                <a:solidFill>
                  <a:schemeClr val="bg1"/>
                </a:solidFill>
              </a:rPr>
              <a:t>Dashboard</a:t>
            </a:r>
            <a:endParaRPr lang="en-US" sz="1400" dirty="0"/>
          </a:p>
        </p:txBody>
      </p:sp>
      <p:sp>
        <p:nvSpPr>
          <p:cNvPr id="19" name="Pipeline arrow 5"/>
          <p:cNvSpPr/>
          <p:nvPr/>
        </p:nvSpPr>
        <p:spPr>
          <a:xfrm>
            <a:off x="7296912" y="2286000"/>
            <a:ext cx="219456" cy="0"/>
          </a:xfrm>
          <a:prstGeom prst="line">
            <a:avLst/>
          </a:prstGeom>
          <a:noFill/>
          <a:ln w="25400">
            <a:solidFill>
              <a:srgbClr val="5FBFC8"/>
            </a:solidFill>
            <a:prstDash val="solid"/>
            <a:tailEnd type="triangle"/>
          </a:ln>
        </p:spPr>
      </p:sp>
      <p:sp>
        <p:nvSpPr>
          <p:cNvPr id="20" name="Pipeline Analytics"/>
          <p:cNvSpPr/>
          <p:nvPr/>
        </p:nvSpPr>
        <p:spPr>
          <a:xfrm>
            <a:off x="7543800" y="1965960"/>
            <a:ext cx="1143000" cy="640080"/>
          </a:xfrm>
          <a:prstGeom prst="roundRect">
            <a:avLst>
              <a:gd name="adj" fmla="val 11429"/>
            </a:avLst>
          </a:prstGeom>
          <a:solidFill>
            <a:srgbClr val="0E8C99"/>
          </a:solidFill>
          <a:ln/>
        </p:spPr>
      </p:sp>
      <p:sp>
        <p:nvSpPr>
          <p:cNvPr id="21" name="Text 18"/>
          <p:cNvSpPr txBox="1"/>
          <p:nvPr/>
        </p:nvSpPr>
        <p:spPr>
          <a:xfrm>
            <a:off x="7543800" y="1965960"/>
            <a:ext cx="1143000" cy="640080"/>
          </a:xfrm>
          <a:prstGeom prst="rect">
            <a:avLst/>
          </a:prstGeom>
          <a:noFill/>
          <a:ln/>
        </p:spPr>
        <p:txBody>
          <a:bodyPr wrap="square" lIns="0" tIns="0" rIns="0" bIns="0" rtlCol="0" anchor="ctr"/>
          <a:lstStyle/>
          <a:p>
            <a:pPr algn="ctr" indent="0" marL="0">
              <a:buNone/>
            </a:pPr>
            <a:r>
              <a:rPr lang="en-US" sz="1400" b="1" dirty="0">
                <a:solidFill>
                  <a:schemeClr val="bg1"/>
                </a:solidFill>
              </a:rPr>
              <a:t>Analytics</a:t>
            </a:r>
            <a:endParaRPr lang="en-US" sz="1400" dirty="0"/>
          </a:p>
        </p:txBody>
      </p:sp>
      <p:sp>
        <p:nvSpPr>
          <p:cNvPr id="22" name="Text 19"/>
          <p:cNvSpPr txBox="1"/>
          <p:nvPr/>
        </p:nvSpPr>
        <p:spPr>
          <a:xfrm>
            <a:off x="457200" y="3108960"/>
            <a:ext cx="8229600" cy="914400"/>
          </a:xfrm>
          <a:prstGeom prst="rect">
            <a:avLst/>
          </a:prstGeom>
          <a:noFill/>
          <a:ln/>
        </p:spPr>
        <p:txBody>
          <a:bodyPr wrap="square" lIns="0" tIns="0" rIns="0" bIns="0" rtlCol="0" anchor="ctr"/>
          <a:lstStyle/>
          <a:p>
            <a:pPr algn="ctr"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23" name="Text 20"/>
          <p:cNvSpPr txBox="1"/>
          <p:nvPr/>
        </p:nvSpPr>
        <p:spPr>
          <a:xfrm>
            <a:off x="457200" y="4023360"/>
            <a:ext cx="8229600" cy="457200"/>
          </a:xfrm>
          <a:prstGeom prst="rect">
            <a:avLst/>
          </a:prstGeom>
          <a:noFill/>
          <a:ln/>
        </p:spPr>
        <p:txBody>
          <a:bodyPr wrap="square" lIns="0" tIns="0" rIns="0" bIns="0" rtlCol="0" anchor="ctr"/>
          <a:lstStyle/>
          <a:p>
            <a:pPr algn="ctr" indent="0" marL="0">
              <a:buNone/>
            </a:pPr>
            <a:r>
              <a:rPr lang="en-US" sz="1800" dirty="0">
                <a:solidFill>
                  <a:schemeClr val="accent3"/>
                </a:solidFill>
              </a:rPr>
              <a:t>Questions are welcome</a:t>
            </a:r>
            <a:endParaRPr lang="en-US" sz="1800" dirty="0"/>
          </a:p>
        </p:txBody>
      </p:sp>
    </p:spTree>
  </p:cSld>
  <p:clrMapOvr>
    <a:masterClrMapping/>
  </p:clrMapOvr>
</p:sld>
</file>

<file path=ppt/theme/theme1.xml><?xml version="1.0" encoding="utf-8"?>
<a:theme xmlns:a="http://schemas.openxmlformats.org/drawingml/2006/main" name="Hospital Teal">
  <a:themeElements>
    <a:clrScheme name="Hospital Teal">
      <a:dk1>
        <a:srgbClr val="12263A"/>
      </a:dk1>
      <a:lt1>
        <a:srgbClr val="FFFFFF"/>
      </a:lt1>
      <a:dk2>
        <a:srgbClr val="0B4F6C"/>
      </a:dk2>
      <a:lt2>
        <a:srgbClr val="EAF6F7"/>
      </a:lt2>
      <a:accent1>
        <a:srgbClr val="0E8C99"/>
      </a:accent1>
      <a:accent2>
        <a:srgbClr val="0B4F6C"/>
      </a:accent2>
      <a:accent3>
        <a:srgbClr val="5FBFC8"/>
      </a:accent3>
      <a:accent4>
        <a:srgbClr val="2F7FB8"/>
      </a:accent4>
      <a:accent5>
        <a:srgbClr val="C8553D"/>
      </a:accent5>
      <a:accent6>
        <a:srgbClr val="6B7C8A"/>
      </a:accent6>
      <a:hlink>
        <a:srgbClr val="2F7FB8"/>
      </a:hlink>
      <a:folHlink>
        <a:srgbClr val="6B7C8A"/>
      </a:folHlink>
    </a:clrScheme>
    <a:fontScheme name="Hospital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Management &amp; Analytics System</dc:title>
  <dc:subject>PptxGenJS Presentation</dc:subject>
  <dc:creator>Mohamed</dc:creator>
  <cp:lastModifiedBy>Mohamed</cp:lastModifiedBy>
  <cp:revision>1</cp:revision>
  <dcterms:created xsi:type="dcterms:W3CDTF">2026-10-03T17:00:34Z</dcterms:created>
  <dcterms:modified xsi:type="dcterms:W3CDTF">2026-10-03T17:00:34Z</dcterms:modified>
</cp:coreProperties>
</file>