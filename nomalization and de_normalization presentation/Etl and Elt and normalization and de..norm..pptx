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486400" cy="548640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148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FOUNDATIONS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vs ELT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Normalization </a:t>
            </a:r>
            <a:pPr indent="0" marL="0">
              <a:buNone/>
            </a:pPr>
            <a:r>
              <a:rPr lang="en-US" sz="3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</a:t>
            </a:r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Denormalization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062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moves, transforms, and gets structured for scale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521208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57607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25880" y="5463540"/>
            <a:ext cx="5029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828800" y="521208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82880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57607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31720" y="5463540"/>
            <a:ext cx="5029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2834640" y="521208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83464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606040" y="57607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37560" y="5463540"/>
            <a:ext cx="5029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840480" y="521208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84048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611880" y="57607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6217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Data Engineering Lecture Series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19072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7373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488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Extract, Transform, Load — the classic pipeline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3492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92240" y="1719072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269480" y="17373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21488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Extract, Load, Transform — the modern cloud approach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36976"/>
            <a:ext cx="53492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3401568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41985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vs ELT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831336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comparison &amp; when to use each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236976"/>
            <a:ext cx="53492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92240" y="3401568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269480" y="341985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Normalization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3831336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data to remove redundancy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919472"/>
            <a:ext cx="53492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77240" y="5084064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51023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Denormalization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551383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redundancy for speed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4919472"/>
            <a:ext cx="53492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492240" y="5084064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7269480" y="51023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Systems &amp; Takeaways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269480" y="551383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comes together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Big Questions in Data Systems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data-driven system eventually has to answer two questions: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1B2150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28600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28600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 MOVE data?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10896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lives in many places — apps, sensors, files, third-party APIs. To analyze it, we must extract it, reshape it, and load it into a central system (a Data Warehouse). This is the job of ETL &amp; ELT.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96596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1B2150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0" y="2286000"/>
            <a:ext cx="594360" cy="5943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28600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 STRUCTURE data?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10896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data is stored in tables, how those tables are designed affects speed, consistency, and storage cost. Normalization and Denormalization are two opposite strategies for structuring tables.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ETL?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stands for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Extract, Transform, Load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data pipeline where raw data is cleaned and reshaped </a:t>
            </a:r>
            <a:pPr indent="0" marL="0">
              <a:lnSpc>
                <a:spcPct val="130000"/>
              </a:lnSpc>
              <a:buNone/>
            </a:pPr>
            <a:r>
              <a:rPr lang="en-US" sz="150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is stored in the destination system.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42316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679192"/>
            <a:ext cx="3291840" cy="2468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EXTRACT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0896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raw data from source systems: databases, APIs, CSV files, logs.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858768" y="324612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160520" y="242316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60520" y="242316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4160520" y="2679192"/>
            <a:ext cx="3291840" cy="2468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160520" y="24231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TRANSFORM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310896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validate, filter, and reshape data into the target format — done on a separate processing engine.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470648" y="324612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772400" y="242316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0" y="242316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22C55E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0" y="2679192"/>
            <a:ext cx="3291840" cy="24688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0" y="24231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LOAD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001000" y="310896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finished, transformation-ready data into the data warehouse.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983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happens on a dedicated staging server — before data ever reaches the warehouse.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— Step by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874520" cy="1051560"/>
          </a:xfrm>
          <a:prstGeom prst="roundRect">
            <a:avLst>
              <a:gd name="adj" fmla="val 7826"/>
            </a:avLst>
          </a:prstGeom>
          <a:solidFill>
            <a:srgbClr val="141A3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3852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395728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API / DB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697480" y="205740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990088" y="1828800"/>
            <a:ext cx="1874520" cy="1051560"/>
          </a:xfrm>
          <a:prstGeom prst="roundRect">
            <a:avLst>
              <a:gd name="adj" fmla="val 7826"/>
            </a:avLst>
          </a:prstGeom>
          <a:solidFill>
            <a:srgbClr val="7C3AE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90088" y="193852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2395728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raw data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864608" y="205740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57216" y="1828800"/>
            <a:ext cx="1874520" cy="1051560"/>
          </a:xfrm>
          <a:prstGeom prst="roundRect">
            <a:avLst>
              <a:gd name="adj" fmla="val 7826"/>
            </a:avLst>
          </a:prstGeom>
          <a:solidFill>
            <a:srgbClr val="3B82F6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57216" y="193852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230368" y="2395728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reshape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031736" y="205740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24344" y="1828800"/>
            <a:ext cx="1874520" cy="1051560"/>
          </a:xfrm>
          <a:prstGeom prst="roundRect">
            <a:avLst>
              <a:gd name="adj" fmla="val 7826"/>
            </a:avLst>
          </a:prstGeom>
          <a:solidFill>
            <a:srgbClr val="22C55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24344" y="193852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397496" y="2395728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final data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198864" y="205740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491472" y="1828800"/>
            <a:ext cx="1874520" cy="1051560"/>
          </a:xfrm>
          <a:prstGeom prst="roundRect">
            <a:avLst>
              <a:gd name="adj" fmla="val 7826"/>
            </a:avLst>
          </a:prstGeom>
          <a:solidFill>
            <a:srgbClr val="141A3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491472" y="193852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Warehouse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564624" y="2395728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BI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333756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3291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each data source and pull raw records on a schedule.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3867912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382219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raw data into a temporary staging area for processing.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398264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4398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435254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business rules: clean nulls, convert types, join, aggregate, filter.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4928616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48640" y="4928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488289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transformed data against quality rules.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5458968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48640" y="545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54132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only the final, ready-to-use data into the warehouse tables.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in Action: Retail Sales Reporting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 company wants a clean, unified sales report every night.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05156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1920240" cy="868680"/>
          </a:xfrm>
          <a:prstGeom prst="roundRect">
            <a:avLst>
              <a:gd name="adj" fmla="val 9474"/>
            </a:avLst>
          </a:prstGeom>
          <a:solidFill>
            <a:srgbClr val="7C3AED"/>
          </a:solidFill>
          <a:ln/>
        </p:spPr>
      </p:sp>
      <p:sp>
        <p:nvSpPr>
          <p:cNvPr id="7" name="Shape 5"/>
          <p:cNvSpPr/>
          <p:nvPr/>
        </p:nvSpPr>
        <p:spPr>
          <a:xfrm>
            <a:off x="1508760" y="1874520"/>
            <a:ext cx="960120" cy="868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18745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daily order data from the POS database and a CSV export from the online store.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105156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880360"/>
            <a:ext cx="1920240" cy="868680"/>
          </a:xfrm>
          <a:prstGeom prst="roundRect">
            <a:avLst>
              <a:gd name="adj" fmla="val 9474"/>
            </a:avLst>
          </a:pr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1508760" y="2880360"/>
            <a:ext cx="960120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8803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28803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currencies to USD, remove test orders, merge duplicate customer IDs, compute daily totals.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05156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886200"/>
            <a:ext cx="1920240" cy="868680"/>
          </a:xfrm>
          <a:prstGeom prst="roundRect">
            <a:avLst>
              <a:gd name="adj" fmla="val 9474"/>
            </a:avLst>
          </a:prstGeom>
          <a:solidFill>
            <a:srgbClr val="22C55E"/>
          </a:solidFill>
          <a:ln/>
        </p:spPr>
      </p:sp>
      <p:sp>
        <p:nvSpPr>
          <p:cNvPr id="17" name="Shape 15"/>
          <p:cNvSpPr/>
          <p:nvPr/>
        </p:nvSpPr>
        <p:spPr>
          <a:xfrm>
            <a:off x="1508760" y="3886200"/>
            <a:ext cx="960120" cy="8686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8862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743200" y="3886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the clean, aggregated sales table into the company's Data Warehouse.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9651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2578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consistent data in the warehouse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storage cost (only final data kept)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governance &amp; compliance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251960" y="489204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34840" y="49651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Disadvantages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434840" y="52578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— transformation blocks loading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— schema changes are costly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separate processing server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955280" y="489204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38160" y="49651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138160" y="52578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warehouses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compliance (finance, health)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Small-to-medium, structured data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ELT?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stands for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Extract, Load, Transform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raw data is loaded into the warehouse first, then transformed </a:t>
            </a:r>
            <a:pPr indent="0" marL="0">
              <a:lnSpc>
                <a:spcPct val="130000"/>
              </a:lnSpc>
              <a:buNone/>
            </a:pPr>
            <a:r>
              <a:rPr lang="en-US" sz="15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warehouse using its own compute power.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1B215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42316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679192"/>
            <a:ext cx="3291840" cy="2468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EXTRACT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0896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raw data from source systems: databases, APIs, CSV files, logs.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858768" y="324612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160520" y="242316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1B2150"/>
          </a:solidFill>
          <a:ln/>
        </p:spPr>
      </p:sp>
      <p:sp>
        <p:nvSpPr>
          <p:cNvPr id="12" name="Shape 10"/>
          <p:cNvSpPr/>
          <p:nvPr/>
        </p:nvSpPr>
        <p:spPr>
          <a:xfrm>
            <a:off x="4160520" y="242316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22C55E"/>
          </a:solidFill>
          <a:ln/>
        </p:spPr>
      </p:sp>
      <p:sp>
        <p:nvSpPr>
          <p:cNvPr id="13" name="Shape 11"/>
          <p:cNvSpPr/>
          <p:nvPr/>
        </p:nvSpPr>
        <p:spPr>
          <a:xfrm>
            <a:off x="4160520" y="2679192"/>
            <a:ext cx="3291840" cy="24688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160520" y="24231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LOAD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310896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raw, untransformed data directly into the cloud data warehouse.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470648" y="324612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772400" y="242316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1B2150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0" y="242316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3B82F6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0" y="2679192"/>
            <a:ext cx="3291840" cy="2468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0" y="24231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TRANSFORM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001000" y="310896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SQL transformations inside the warehouse, using its scalable compute engine.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983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possible by modern cloud warehouses (Snowflake, BigQuery, Redshift) with massive elastic compute.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ELT — Step by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874520" cy="1051560"/>
          </a:xfrm>
          <a:prstGeom prst="roundRect">
            <a:avLst>
              <a:gd name="adj" fmla="val 7826"/>
            </a:avLst>
          </a:prstGeom>
          <a:solidFill>
            <a:srgbClr val="9CA3A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3852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395728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API / DB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697480" y="205740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990088" y="1828800"/>
            <a:ext cx="1874520" cy="1051560"/>
          </a:xfrm>
          <a:prstGeom prst="roundRect">
            <a:avLst>
              <a:gd name="adj" fmla="val 7826"/>
            </a:avLst>
          </a:prstGeom>
          <a:solidFill>
            <a:srgbClr val="7C3AE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90088" y="193852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2395728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raw data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864608" y="205740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57216" y="1828800"/>
            <a:ext cx="1874520" cy="1051560"/>
          </a:xfrm>
          <a:prstGeom prst="roundRect">
            <a:avLst>
              <a:gd name="adj" fmla="val 7826"/>
            </a:avLst>
          </a:prstGeom>
          <a:solidFill>
            <a:srgbClr val="22C55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157216" y="193852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230368" y="2395728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in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031736" y="205740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24344" y="1828800"/>
            <a:ext cx="1874520" cy="1051560"/>
          </a:xfrm>
          <a:prstGeom prst="roundRect">
            <a:avLst>
              <a:gd name="adj" fmla="val 7826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24344" y="193852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397496" y="2395728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inside DW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198864" y="205740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491472" y="1828800"/>
            <a:ext cx="1874520" cy="1051560"/>
          </a:xfrm>
          <a:prstGeom prst="roundRect">
            <a:avLst>
              <a:gd name="adj" fmla="val 7826"/>
            </a:avLst>
          </a:prstGeom>
          <a:solidFill>
            <a:srgbClr val="9CA3A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91472" y="193852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Warehouse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564624" y="2395728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BI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333756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3291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each data source and extract raw records.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3867912"/>
            <a:ext cx="365760" cy="3657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382219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raw data directly into the cloud warehouse — no waiting for cleanup.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398264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4398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435254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now queryable immediately, even before transformation.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4928616"/>
            <a:ext cx="365760" cy="3657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48640" y="4928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488289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SQL / dbt transformation jobs inside the warehouse to build clean models.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5458968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48640" y="545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54132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transformed views can be built from the same raw copy, for different teams.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ELT in Action: Streaming App Analytics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streaming platform wants to analyze billions of raw clickstream events flexibly.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0515600" cy="868680"/>
          </a:xfrm>
          <a:prstGeom prst="roundRect">
            <a:avLst>
              <a:gd name="adj" fmla="val 9474"/>
            </a:avLst>
          </a:prstGeom>
          <a:solidFill>
            <a:srgbClr val="1B215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74520"/>
            <a:ext cx="1920240" cy="868680"/>
          </a:xfrm>
          <a:prstGeom prst="roundRect">
            <a:avLst>
              <a:gd name="adj" fmla="val 9474"/>
            </a:avLst>
          </a:prstGeom>
          <a:solidFill>
            <a:srgbClr val="7C3AED"/>
          </a:solidFill>
          <a:ln/>
        </p:spPr>
      </p:sp>
      <p:sp>
        <p:nvSpPr>
          <p:cNvPr id="7" name="Shape 5"/>
          <p:cNvSpPr/>
          <p:nvPr/>
        </p:nvSpPr>
        <p:spPr>
          <a:xfrm>
            <a:off x="1508760" y="1874520"/>
            <a:ext cx="960120" cy="868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18745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raw event logs (clicks, plays, pauses) from app servers and third-party APIs.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10515600" cy="868680"/>
          </a:xfrm>
          <a:prstGeom prst="roundRect">
            <a:avLst>
              <a:gd name="adj" fmla="val 9474"/>
            </a:avLst>
          </a:prstGeom>
          <a:solidFill>
            <a:srgbClr val="1B2150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880360"/>
            <a:ext cx="1920240" cy="868680"/>
          </a:xfrm>
          <a:prstGeom prst="roundRect">
            <a:avLst>
              <a:gd name="adj" fmla="val 9474"/>
            </a:avLst>
          </a:prstGeom>
          <a:solidFill>
            <a:srgbClr val="22C55E"/>
          </a:solidFill>
          <a:ln/>
        </p:spPr>
      </p:sp>
      <p:sp>
        <p:nvSpPr>
          <p:cNvPr id="12" name="Shape 10"/>
          <p:cNvSpPr/>
          <p:nvPr/>
        </p:nvSpPr>
        <p:spPr>
          <a:xfrm>
            <a:off x="1508760" y="2880360"/>
            <a:ext cx="960120" cy="8686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8803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28803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 the raw JSON events directly into a cloud warehouse like BigQuery or Snowflake.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0515600" cy="868680"/>
          </a:xfrm>
          <a:prstGeom prst="roundRect">
            <a:avLst>
              <a:gd name="adj" fmla="val 9474"/>
            </a:avLst>
          </a:prstGeom>
          <a:solidFill>
            <a:srgbClr val="1B2150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886200"/>
            <a:ext cx="1920240" cy="868680"/>
          </a:xfrm>
          <a:prstGeom prst="roundRect">
            <a:avLst>
              <a:gd name="adj" fmla="val 9474"/>
            </a:avLst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1508760" y="3886200"/>
            <a:ext cx="960120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8862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743200" y="3886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analysts run SQL transformations inside the warehouse to build custom dashboards on demand.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1B2150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9651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2578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loading — raw data lands immediately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scalable with cloud compute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— re-transform anytime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251960" y="489204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1B2150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34840" y="49651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Disadvantages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434840" y="52578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increases storage cost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powerful warehouse compute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is harder on raw data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955280" y="489204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1B2150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38160" y="49651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138160" y="52578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data warehouses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/ high-velocity streams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evolving analytics needs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vs ELT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EDE9F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ETL: 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→ Extract → Transform → Load → Warehouse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263640" y="141732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4173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ELT: 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→ Extract → Load → Transform → Warehouse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23160"/>
          <a:ext cx="11064240" cy="4160520"/>
        </p:xfrm>
        <a:graphic>
          <a:graphicData uri="http://schemas.openxmlformats.org/drawingml/2006/table">
            <a:tbl>
              <a:tblPr/>
              <a:tblGrid>
                <a:gridCol w="3749040"/>
                <a:gridCol w="3657600"/>
                <a:gridCol w="3657600"/>
              </a:tblGrid>
              <a:tr h="5200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Criteria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ETL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ELT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Process order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</a:rPr>
                        <a:t>Transform before Load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</a:rPr>
                        <a:t>Load before Transform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Transformation location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</a:rPr>
                        <a:t>Separate staging server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</a:rPr>
                        <a:t>Inside the data warehouse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Storage requirement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</a:rPr>
                        <a:t>Lower (only clean data)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</a:rPr>
                        <a:t>Higher (raw + transformed)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Scalability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</a:rPr>
                        <a:t>Limited by staging server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</a:rPr>
                        <a:t>Scales with cloud warehouse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Speed to load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</a:rPr>
                        <a:t>Slower (waits for transform)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</a:rPr>
                        <a:t>Faster (loads raw data first)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Cloud compatibility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</a:rPr>
                        <a:t>Works, but not optimized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</a:rPr>
                        <a:t>Built for the cloud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Best use case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</a:rPr>
                        <a:t>Compliance-heavy, structured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</a:rPr>
                        <a:t>Big data, flexible analytics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Normalization?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is the process of organizing database tables to reduce redundancy and improve data integrity, by splitting data into related, smaller tables.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1B215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5603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Normalization Matters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063240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30175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redundancy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35584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storing the same fact (e.g. a customer's address) in multiple rows.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4114800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0690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integrity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40740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updates happen in one place, keeping data consistent.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5166360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12064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Cleaner design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545896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table represents one clear real-world concept.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233172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1B215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37960" y="25603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Anomalies (the problem)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37960" y="3063240"/>
            <a:ext cx="384048" cy="38404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3796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30175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anomaly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335584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add a new product without also having a customer order for it.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37960" y="4114800"/>
            <a:ext cx="384048" cy="38404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3796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086600" y="40690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anomaly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086600" y="440740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a customer's phone number means updating it in many rows.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37960" y="5166360"/>
            <a:ext cx="384048" cy="38404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37960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086600" y="512064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 anomaly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086600" y="545896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the last order for a customer accidentally deletes their info too.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 Forms: 1NF → 2NF → 3NF → BCNF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47672"/>
            <a:ext cx="2606040" cy="4297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58191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1NF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5603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values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10896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column holds a single, indivisible value. No repeating groups or lists inside a cell.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163824" y="324612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83280" y="150876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50876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3383280" y="1947672"/>
            <a:ext cx="2606040" cy="4297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383280" y="158191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2NF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25603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partial dependency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310896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in 1NF, and every non-key column depends on the WHOLE primary key (not just part of it).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998464" y="324612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7920" y="150876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50876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0891B2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1947672"/>
            <a:ext cx="2606040" cy="4297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0" y="158191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3NF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25603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transitive dependency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310896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in 2NF, and non-key columns depend only on the key — not on other non-key columns.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833104" y="324612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052560" y="150876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052560" y="150876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22C55E"/>
          </a:solidFill>
          <a:ln/>
        </p:spPr>
      </p:sp>
      <p:sp>
        <p:nvSpPr>
          <p:cNvPr id="27" name="Shape 25"/>
          <p:cNvSpPr/>
          <p:nvPr/>
        </p:nvSpPr>
        <p:spPr>
          <a:xfrm>
            <a:off x="9052560" y="1947672"/>
            <a:ext cx="2606040" cy="4297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052560" y="158191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BCNF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9189720" y="25603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Stricter 3NF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189720" y="310896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determinant must be a candidate key. Handles rare edge cases 3NF misses.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Normalizing an Orders Table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one unnormalized table (redundant, hard to maintain)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0515600" cy="960120"/>
        </p:xfrm>
        <a:graphic>
          <a:graphicData uri="http://schemas.openxmlformats.org/drawingml/2006/table">
            <a:tbl>
              <a:tblPr/>
              <a:tblGrid>
                <a:gridCol w="1554480"/>
                <a:gridCol w="2103120"/>
                <a:gridCol w="2103120"/>
                <a:gridCol w="2377440"/>
                <a:gridCol w="23774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OrderID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Customer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CustPhone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Product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Price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</a:rPr>
                        <a:t>101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</a:rPr>
                        <a:t>Amina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</a:rPr>
                        <a:t>0100-111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</a:rPr>
                        <a:t>Laptop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</a:rPr>
                        <a:t>800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</a:rPr>
                        <a:t>102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</a:rPr>
                        <a:t>Amina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</a:rPr>
                        <a:t>0100-111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</a:rPr>
                        <a:t>Mouse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2788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Amina's phone number is duplicated for every order → update anomaly risk.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461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normalized into three related tables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657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</a:t>
            </a:r>
            <a:endParaRPr lang="en-US" sz="125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3429000" cy="118872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CustID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Phone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Amina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0100-111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0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251960" y="3657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</a:t>
            </a:r>
            <a:endParaRPr lang="en-US" sz="1250" dirty="0"/>
          </a:p>
        </p:txBody>
      </p:sp>
      <p:graphicFrame>
        <p:nvGraphicFramePr>
          <p:cNvPr id="4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51960" y="3977640"/>
          <a:ext cx="3429000" cy="118872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ProdID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Price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P1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Laptop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P2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Mouse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0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7955280" y="3657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</a:t>
            </a:r>
            <a:endParaRPr lang="en-US" sz="1250" dirty="0"/>
          </a:p>
        </p:txBody>
      </p:sp>
      <p:graphicFrame>
        <p:nvGraphicFramePr>
          <p:cNvPr id="5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0" y="3977640"/>
          <a:ext cx="3429000" cy="118872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OrderID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CustID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ProdID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P1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102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P2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0"/>
                    </a:solidFill>
                  </a:tcPr>
                </a:tc>
              </a:tr>
            </a:tbl>
          </a:graphicData>
        </a:graphic>
      </p:graphicFrame>
      <p:sp>
        <p:nvSpPr>
          <p:cNvPr id="14" name="Text 8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Denormalization?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Denormalization intentionally merges related tables back together — adding controlled redundancy to make reads faster.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492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42316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use it?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data needs many JOINs to answer a query. For read-heavy analytics (dashboards, reports), JOINs slow things down.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2286000"/>
            <a:ext cx="53492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242316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7432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Pre-combine related tables (e.g. Orders + Customers + Products) into one wide table, duplicating some fields on purpose.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0FD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41148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48056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faster reads — fewer/no JOINs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queries for reporting/BI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OLAP &amp; dashboards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51960" y="397764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EF2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34840" y="41148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Disadvantages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434840" y="448056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redundancy increases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must touch multiple copies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storage usage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5280" y="397764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EFF6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38160" y="41148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448056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/ analytics (OLAP)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Read-heavy, write-light systems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Performance-critical dashboards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Denormalizing for a Sales Dashboard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normalized tables (require JOINs to report on sales)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3429000" cy="777240"/>
        </p:xfrm>
        <a:graphic>
          <a:graphicData uri="http://schemas.openxmlformats.org/drawingml/2006/table">
            <a:tbl>
              <a:tblPr/>
              <a:tblGrid>
                <a:gridCol w="1714500"/>
                <a:gridCol w="171450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CustID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Amina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251960" y="169164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</a:t>
            </a:r>
            <a:endParaRPr lang="en-US" sz="12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51960" y="1965960"/>
          <a:ext cx="3429000" cy="77724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ProdID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Price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P1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Laptop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0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7955280" y="169164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</a:t>
            </a:r>
            <a:endParaRPr lang="en-US" sz="1200" dirty="0"/>
          </a:p>
        </p:txBody>
      </p:sp>
      <p:graphicFrame>
        <p:nvGraphicFramePr>
          <p:cNvPr id="4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0" y="1965960"/>
          <a:ext cx="3429000" cy="77724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OrderID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CustID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ProdID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P1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0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48640" y="28803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merged &amp; flattened  ↓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32918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one wide denormalized table (fast to query, no JOINs)</a:t>
            </a:r>
            <a:endParaRPr lang="en-US" sz="1250" dirty="0"/>
          </a:p>
        </p:txBody>
      </p:sp>
      <p:graphicFrame>
        <p:nvGraphicFramePr>
          <p:cNvPr id="6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11880"/>
          <a:ext cx="10515600" cy="77724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3200400"/>
                <a:gridCol w="182880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OrderID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CustomerName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ProductName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Price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101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Amina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Laptop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800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0"/>
                    </a:solidFill>
                  </a:tcPr>
                </a:tc>
              </a:tr>
            </a:tbl>
          </a:graphicData>
        </a:graphic>
      </p:graphicFrame>
      <p:sp>
        <p:nvSpPr>
          <p:cNvPr id="14" name="Text 8"/>
          <p:cNvSpPr txBox="1"/>
          <p:nvPr/>
        </p:nvSpPr>
        <p:spPr>
          <a:xfrm>
            <a:off x="548640" y="4617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query, zero JOINs — perfect for a live dashboard, at the cost of storing the customer &amp; product names redundantly.</a:t>
            </a:r>
            <a:endParaRPr lang="en-US" sz="1250" dirty="0"/>
          </a:p>
        </p:txBody>
      </p:sp>
      <p:sp>
        <p:nvSpPr>
          <p:cNvPr id="15" name="Text 9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Normalization vs Denormalization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EDE9F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Normalization: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tables → Less redundancy → More JOINs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63640" y="141732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D1FAE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4173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Denormalization: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tables → More redundancy → Faster reads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23160"/>
          <a:ext cx="11064240" cy="4160520"/>
        </p:xfrm>
        <a:graphic>
          <a:graphicData uri="http://schemas.openxmlformats.org/drawingml/2006/table">
            <a:tbl>
              <a:tblPr/>
              <a:tblGrid>
                <a:gridCol w="3291840"/>
                <a:gridCol w="3886200"/>
                <a:gridCol w="3886200"/>
              </a:tblGrid>
              <a:tr h="5200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Criteria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Normalization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Denormalization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Data redundancy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</a:rPr>
                        <a:t>Minimal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</a:rPr>
                        <a:t>High (by design)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Performance (reads)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</a:rPr>
                        <a:t>Slower (needs JOINs)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</a:rPr>
                        <a:t>Faster (fewer/no JOINs)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Performance (writes)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</a:rPr>
                        <a:t>Faster &amp; simpler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</a:rPr>
                        <a:t>Slower — updates multiple copies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Storage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</a:rPr>
                        <a:t>Efficient / lower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</a:rPr>
                        <a:t>Higher (duplicate data)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Data integrity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</a:rPr>
                        <a:t>Strong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</a:rPr>
                        <a:t>Weaker — risk of inconsistency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Query complexity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</a:rPr>
                        <a:t>Higher (more JOINs)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</a:rPr>
                        <a:t>Lower (flat, wide tables)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Typical use case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</a:rPr>
                        <a:t>OLTP — transactional systems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</a:rPr>
                        <a:t>OLAP — analytics &amp; reporting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ETL/ELT + Normalization in Real Systems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data platforms combine BOTH pipelines and BOTH schema strategies — at different layers.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0149840" cy="914400"/>
          </a:xfrm>
          <a:prstGeom prst="roundRect">
            <a:avLst>
              <a:gd name="adj" fmla="val 9000"/>
            </a:avLst>
          </a:prstGeom>
          <a:solidFill>
            <a:srgbClr val="1B2150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286000"/>
            <a:ext cx="548640" cy="548640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2128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/ Landing Layer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212848"/>
            <a:ext cx="5577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loaded via ELT, kept close to source format.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0149840" cy="914400"/>
          </a:xfrm>
          <a:prstGeom prst="roundRect">
            <a:avLst>
              <a:gd name="adj" fmla="val 9000"/>
            </a:avLst>
          </a:prstGeom>
          <a:solidFill>
            <a:srgbClr val="1B2150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3364992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Staging (Normalized)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3291840"/>
            <a:ext cx="5577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&amp; normalized tables enforce integrity (OLTP-style).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261104"/>
            <a:ext cx="10149840" cy="914400"/>
          </a:xfrm>
          <a:prstGeom prst="roundRect">
            <a:avLst>
              <a:gd name="adj" fmla="val 9000"/>
            </a:avLst>
          </a:prstGeom>
          <a:solidFill>
            <a:srgbClr val="1B2150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" y="4443984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4439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3708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 (ETL/ELT jobs)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4370832"/>
            <a:ext cx="5577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applied — joins, aggregations, quality checks.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340096"/>
            <a:ext cx="10149840" cy="914400"/>
          </a:xfrm>
          <a:prstGeom prst="roundRect">
            <a:avLst>
              <a:gd name="adj" fmla="val 9000"/>
            </a:avLst>
          </a:prstGeom>
          <a:solidFill>
            <a:srgbClr val="1B2150"/>
          </a:solidFill>
          <a:ln/>
        </p:spPr>
      </p:sp>
      <p:sp>
        <p:nvSpPr>
          <p:cNvPr id="21" name="Shape 19"/>
          <p:cNvSpPr/>
          <p:nvPr/>
        </p:nvSpPr>
        <p:spPr>
          <a:xfrm>
            <a:off x="868680" y="5522976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55229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54498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(Denormalized)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937760" y="5449824"/>
            <a:ext cx="5577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Wide, denormalized tables power fast dashboards (OLAP-style).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5029200" cy="502920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&amp; Decision Guide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1B2150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ETL when...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needs cleaning &amp; compliance BEFORE storage; on-prem or structured, moderate-volume systems.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1B2150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17830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ELT when...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19456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 scalable cloud warehouse and want raw data available immediately for flexible analysis.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1B2150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8862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Normalize when...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29768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strong data integrity and frequent writes/updates — typical of transactional (OLTP) systems.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370332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1B2150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38862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Denormalize when...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429768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fast reads for reporting and dashboards — typical of analytical (OLAP) systems.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5321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spectrum: choose the pipeline and schema shape that fits your workload — not the other way around.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2026-09-06T17:04:17Z</dcterms:created>
  <dcterms:modified xsi:type="dcterms:W3CDTF">2026-09-06T17:04:17Z</dcterms:modified>
</cp:coreProperties>
</file>